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Webcash products become tools inside Claude, ChatGPT and other assistants, behind one control layer the group operates.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at group level, not product level. The cost of doing nothing is integrations built product by product, vendor by vendor, without common identity or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idea on one slide: customers stay where they work, the group runs one control layer, products are registered rather than rebuilt.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idea in one task a finance team does every month. Note the fourth row: paying does not change,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a product team does once. Right: what happens on every single call. The right side is the security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technical slide for engineers. One process, six layers. FastMCP and Starlette in Python; the state store is a file today and a database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identity slide answers 'where do the credentials live'. Customer side: one OAuth sign-in against the gateway. Product side: four ways the gateway gets in, chosen per product at registration.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first question a finance-group reviewer asks: can the AI move money? No. It looks up, it prepares, and execution goes through the same approval line as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Packaging is a product decision, not an engineering one: the same registry can be sliced for a customer segment or offered per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cases at package level. The example questions are the kind of thing a finance or admin team asks every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products first, then partners, then customers' systems. The strategic asset is the control layer everything inherits.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of the proposal, not a tour of the prototype. The prototype is mentioned once, as the check on the three design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platform work, package rollout, and the research questions the pilot makes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three-line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6309360" y="-1280160"/>
            <a:ext cx="4206240" cy="4206240"/>
          </a:xfrm>
          <a:prstGeom prst="ellipse">
            <a:avLst/>
          </a:prstGeom>
          <a:solidFill>
            <a:srgbClr val="0F766E">
              <a:alpha val="22000"/>
            </a:srgbClr>
          </a:solidFill>
          <a:ln w="12700">
            <a:solidFill>
              <a:srgbClr val="0F766E">
                <a:alpha val="22000"/>
              </a:srgbClr>
            </a:solidFill>
            <a:prstDash val="solid"/>
          </a:ln>
        </p:spPr>
      </p:sp>
      <p:sp>
        <p:nvSpPr>
          <p:cNvPr id="3" name="Shape 1"/>
          <p:cNvSpPr/>
          <p:nvPr/>
        </p:nvSpPr>
        <p:spPr>
          <a:xfrm>
            <a:off x="7315200" y="2468880"/>
            <a:ext cx="2926080" cy="2926080"/>
          </a:xfrm>
          <a:prstGeom prst="ellipse">
            <a:avLst/>
          </a:prstGeom>
          <a:solidFill>
            <a:srgbClr val="0F766E">
              <a:alpha val="14000"/>
            </a:srgbClr>
          </a:solidFill>
          <a:ln w="12700">
            <a:solidFill>
              <a:srgbClr val="0F766E">
                <a:alpha val="14000"/>
              </a:srgbClr>
            </a:solidFill>
            <a:prstDash val="solid"/>
          </a:ln>
        </p:spPr>
      </p:sp>
      <p:sp>
        <p:nvSpPr>
          <p:cNvPr id="4" name="Text 2"/>
          <p:cNvSpPr txBox="1"/>
          <p:nvPr/>
        </p:nvSpPr>
        <p:spPr>
          <a:xfrm>
            <a:off x="548640" y="1371600"/>
            <a:ext cx="640080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MCP-based AI Gateway</a:t>
            </a:r>
            <a:endParaRPr lang="en-US" sz="3400" dirty="0"/>
          </a:p>
        </p:txBody>
      </p:sp>
      <p:sp>
        <p:nvSpPr>
          <p:cNvPr id="5" name="Text 3"/>
          <p:cNvSpPr txBox="1"/>
          <p:nvPr/>
        </p:nvSpPr>
        <p:spPr>
          <a:xfrm>
            <a:off x="548640" y="2057400"/>
            <a:ext cx="6400800" cy="640080"/>
          </a:xfrm>
          <a:prstGeom prst="rect">
            <a:avLst/>
          </a:prstGeom>
          <a:noFill/>
          <a:ln/>
        </p:spPr>
        <p:txBody>
          <a:bodyPr wrap="square" lIns="0" tIns="0" rIns="0" bIns="0" rtlCol="0" anchor="ctr"/>
          <a:lstStyle/>
          <a:p>
            <a:pPr indent="0" marL="0">
              <a:buNone/>
            </a:pPr>
            <a:r>
              <a:rPr lang="en-US" sz="1600" dirty="0">
                <a:solidFill>
                  <a:srgbClr val="CDE7E2"/>
                </a:solidFill>
                <a:latin typeface="Calibri" pitchFamily="34" charset="0"/>
                <a:ea typeface="Calibri" pitchFamily="34" charset="-122"/>
                <a:cs typeface="Calibri" pitchFamily="34" charset="-120"/>
              </a:rPr>
              <a:t>Webcash Group products, inside the AI assistants customers already use</a:t>
            </a:r>
            <a:endParaRPr lang="en-US" sz="1600" dirty="0"/>
          </a:p>
        </p:txBody>
      </p:sp>
      <p:sp>
        <p:nvSpPr>
          <p:cNvPr id="6" name="Text 4"/>
          <p:cNvSpPr txBox="1"/>
          <p:nvPr/>
        </p:nvSpPr>
        <p:spPr>
          <a:xfrm>
            <a:off x="548640" y="2880360"/>
            <a:ext cx="6400800" cy="274320"/>
          </a:xfrm>
          <a:prstGeom prst="rect">
            <a:avLst/>
          </a:prstGeom>
          <a:noFill/>
          <a:ln/>
        </p:spPr>
        <p:txBody>
          <a:bodyPr wrap="square" lIns="0" tIns="0" rIns="0" bIns="0" rtlCol="0" anchor="ctr"/>
          <a:lstStyle/>
          <a:p>
            <a:pPr indent="0" marL="0">
              <a:buNone/>
            </a:pPr>
            <a:r>
              <a:rPr lang="en-US" sz="1100" dirty="0">
                <a:solidFill>
                  <a:srgbClr val="9DC3BC"/>
                </a:solidFill>
                <a:latin typeface="Calibri" pitchFamily="34" charset="0"/>
                <a:ea typeface="Calibri" pitchFamily="34" charset="-122"/>
                <a:cs typeface="Calibri" pitchFamily="34" charset="-120"/>
              </a:rPr>
              <a:t>Concept, architecture, control model, and the proposed work</a:t>
            </a:r>
            <a:endParaRPr lang="en-US" sz="1100" dirty="0"/>
          </a:p>
        </p:txBody>
      </p:sp>
      <p:sp>
        <p:nvSpPr>
          <p:cNvPr id="7" name="Text 5"/>
          <p:cNvSpPr txBox="1"/>
          <p:nvPr/>
        </p:nvSpPr>
        <p:spPr>
          <a:xfrm>
            <a:off x="548640" y="3931920"/>
            <a:ext cx="6400800" cy="548640"/>
          </a:xfrm>
          <a:prstGeom prst="rect">
            <a:avLst/>
          </a:prstGeom>
          <a:noFill/>
          <a:ln/>
        </p:spPr>
        <p:txBody>
          <a:bodyPr wrap="square" lIns="0" tIns="0" rIns="0" bIns="0" rtlCol="0" anchor="ctr"/>
          <a:lstStyle/>
          <a:p>
            <a:pPr indent="0" marL="0">
              <a:buNone/>
            </a:pPr>
            <a:r>
              <a:rPr lang="en-US" sz="1000" dirty="0">
                <a:solidFill>
                  <a:srgbClr val="CDE7E2"/>
                </a:solidFill>
                <a:latin typeface="Calibri" pitchFamily="34" charset="0"/>
                <a:ea typeface="Calibri" pitchFamily="34" charset="-122"/>
                <a:cs typeface="Calibri" pitchFamily="34" charset="-120"/>
              </a:rPr>
              <a:t>Webcash Group  ×  AI Convergence Lab, Chungbuk National University</a:t>
            </a:r>
            <a:endParaRPr lang="en-US" sz="1000" dirty="0"/>
          </a:p>
          <a:p>
            <a:pPr indent="0" marL="0">
              <a:buNone/>
            </a:pPr>
            <a:r>
              <a:rPr lang="en-US" sz="1000" dirty="0">
                <a:solidFill>
                  <a:srgbClr val="CDE7E2"/>
                </a:solidFill>
                <a:latin typeface="Calibri" pitchFamily="34" charset="0"/>
                <a:ea typeface="Calibri" pitchFamily="34" charset="-122"/>
                <a:cs typeface="Calibri" pitchFamily="34" charset="-120"/>
              </a:rPr>
              <a:t>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WHY NOW</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Customers are already working inside AI assistants</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The question is not whether Webcash products will be used from Claude or ChatGPT, but whether that happens with the group's controls or around them.</a:t>
            </a:r>
            <a:endParaRPr lang="en-US" sz="1100" dirty="0"/>
          </a:p>
        </p:txBody>
      </p:sp>
      <p:sp>
        <p:nvSpPr>
          <p:cNvPr id="5" name="Shape 3"/>
          <p:cNvSpPr/>
          <p:nvPr/>
        </p:nvSpPr>
        <p:spPr>
          <a:xfrm>
            <a:off x="411480" y="1371600"/>
            <a:ext cx="2651760" cy="2926080"/>
          </a:xfrm>
          <a:prstGeom prst="roundRect">
            <a:avLst>
              <a:gd name="adj" fmla="val 2069"/>
            </a:avLst>
          </a:prstGeom>
          <a:solidFill>
            <a:srgbClr val="FFFFFF"/>
          </a:solidFill>
          <a:ln w="9525">
            <a:solidFill>
              <a:srgbClr val="D9E0EA"/>
            </a:solidFill>
            <a:prstDash val="solid"/>
          </a:ln>
        </p:spPr>
      </p:sp>
      <p:sp>
        <p:nvSpPr>
          <p:cNvPr id="6" name="Shape 4"/>
          <p:cNvSpPr/>
          <p:nvPr/>
        </p:nvSpPr>
        <p:spPr>
          <a:xfrm>
            <a:off x="640080" y="1600200"/>
            <a:ext cx="457200" cy="457200"/>
          </a:xfrm>
          <a:prstGeom prst="ellipse">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754380" y="1714500"/>
            <a:ext cx="228600" cy="228600"/>
          </a:xfrm>
          <a:prstGeom prst="rect">
            <a:avLst/>
          </a:prstGeom>
        </p:spPr>
      </p:pic>
      <p:sp>
        <p:nvSpPr>
          <p:cNvPr id="8" name="Text 5"/>
          <p:cNvSpPr txBox="1"/>
          <p:nvPr/>
        </p:nvSpPr>
        <p:spPr>
          <a:xfrm>
            <a:off x="640080" y="2194560"/>
            <a:ext cx="2194560" cy="320040"/>
          </a:xfrm>
          <a:prstGeom prst="rect">
            <a:avLst/>
          </a:prstGeom>
          <a:noFill/>
          <a:ln/>
        </p:spPr>
        <p:txBody>
          <a:bodyPr wrap="square" lIns="0" tIns="0" rIns="0" bIns="0" rtlCol="0" anchor="ctr"/>
          <a:lstStyle/>
          <a:p>
            <a:pPr indent="0" marL="0">
              <a:buNone/>
            </a:pPr>
            <a:r>
              <a:rPr lang="en-US" sz="1400" b="1" dirty="0">
                <a:solidFill>
                  <a:srgbClr val="1C2433"/>
                </a:solidFill>
                <a:latin typeface="Calibri" pitchFamily="34" charset="0"/>
                <a:ea typeface="Calibri" pitchFamily="34" charset="-122"/>
                <a:cs typeface="Calibri" pitchFamily="34" charset="-120"/>
              </a:rPr>
              <a:t>Integration sprawl</a:t>
            </a:r>
            <a:endParaRPr lang="en-US" sz="1400" dirty="0"/>
          </a:p>
        </p:txBody>
      </p:sp>
      <p:sp>
        <p:nvSpPr>
          <p:cNvPr id="9" name="Text 6"/>
          <p:cNvSpPr txBox="1"/>
          <p:nvPr/>
        </p:nvSpPr>
        <p:spPr>
          <a:xfrm>
            <a:off x="640080" y="2560320"/>
            <a:ext cx="2194560" cy="164592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Every product would need its own AI integration, per AI vendor. Every product and assistant pair becomes a separate project, each with its own authentication and its own drift.</a:t>
            </a:r>
            <a:endParaRPr lang="en-US" sz="950" dirty="0"/>
          </a:p>
        </p:txBody>
      </p:sp>
      <p:sp>
        <p:nvSpPr>
          <p:cNvPr id="10" name="Shape 7"/>
          <p:cNvSpPr/>
          <p:nvPr/>
        </p:nvSpPr>
        <p:spPr>
          <a:xfrm>
            <a:off x="3246120" y="1371600"/>
            <a:ext cx="2651760" cy="2926080"/>
          </a:xfrm>
          <a:prstGeom prst="roundRect">
            <a:avLst>
              <a:gd name="adj" fmla="val 2069"/>
            </a:avLst>
          </a:prstGeom>
          <a:solidFill>
            <a:srgbClr val="FFFFFF"/>
          </a:solidFill>
          <a:ln w="9525">
            <a:solidFill>
              <a:srgbClr val="D9E0EA"/>
            </a:solidFill>
            <a:prstDash val="solid"/>
          </a:ln>
        </p:spPr>
      </p:sp>
      <p:sp>
        <p:nvSpPr>
          <p:cNvPr id="11" name="Shape 8"/>
          <p:cNvSpPr/>
          <p:nvPr/>
        </p:nvSpPr>
        <p:spPr>
          <a:xfrm>
            <a:off x="3474720" y="1600200"/>
            <a:ext cx="457200" cy="457200"/>
          </a:xfrm>
          <a:prstGeom prst="ellipse">
            <a:avLst/>
          </a:prstGeom>
          <a:solidFill>
            <a:srgbClr val="B91C1C"/>
          </a:solidFill>
          <a:ln w="12700">
            <a:solidFill>
              <a:srgbClr val="B91C1C"/>
            </a:solidFill>
            <a:prstDash val="solid"/>
          </a:ln>
        </p:spPr>
      </p:sp>
      <p:pic>
        <p:nvPicPr>
          <p:cNvPr id="12" name="Image 1" descr="preencoded.png">    </p:cNvPr>
          <p:cNvPicPr>
            <a:picLocks noChangeAspect="1"/>
          </p:cNvPicPr>
          <p:nvPr/>
        </p:nvPicPr>
        <p:blipFill>
          <a:blip r:embed="rId2"/>
          <a:stretch>
            <a:fillRect/>
          </a:stretch>
        </p:blipFill>
        <p:spPr>
          <a:xfrm>
            <a:off x="3589020" y="1714500"/>
            <a:ext cx="228600" cy="228600"/>
          </a:xfrm>
          <a:prstGeom prst="rect">
            <a:avLst/>
          </a:prstGeom>
        </p:spPr>
      </p:pic>
      <p:sp>
        <p:nvSpPr>
          <p:cNvPr id="13" name="Text 9"/>
          <p:cNvSpPr txBox="1"/>
          <p:nvPr/>
        </p:nvSpPr>
        <p:spPr>
          <a:xfrm>
            <a:off x="3474720" y="2194560"/>
            <a:ext cx="2194560" cy="320040"/>
          </a:xfrm>
          <a:prstGeom prst="rect">
            <a:avLst/>
          </a:prstGeom>
          <a:noFill/>
          <a:ln/>
        </p:spPr>
        <p:txBody>
          <a:bodyPr wrap="square" lIns="0" tIns="0" rIns="0" bIns="0" rtlCol="0" anchor="ctr"/>
          <a:lstStyle/>
          <a:p>
            <a:pPr indent="0" marL="0">
              <a:buNone/>
            </a:pPr>
            <a:r>
              <a:rPr lang="en-US" sz="1400" b="1" dirty="0">
                <a:solidFill>
                  <a:srgbClr val="1C2433"/>
                </a:solidFill>
                <a:latin typeface="Calibri" pitchFamily="34" charset="0"/>
                <a:ea typeface="Calibri" pitchFamily="34" charset="-122"/>
                <a:cs typeface="Calibri" pitchFamily="34" charset="-120"/>
              </a:rPr>
              <a:t>No identity, no scope</a:t>
            </a:r>
            <a:endParaRPr lang="en-US" sz="1400" dirty="0"/>
          </a:p>
        </p:txBody>
      </p:sp>
      <p:sp>
        <p:nvSpPr>
          <p:cNvPr id="14" name="Text 10"/>
          <p:cNvSpPr txBox="1"/>
          <p:nvPr/>
        </p:nvSpPr>
        <p:spPr>
          <a:xfrm>
            <a:off x="3474720" y="2560320"/>
            <a:ext cx="2194560" cy="164592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An assistant does not know which customer is asking, which organization they belong to, or what they may see. Today's workaround is pasting tokens into chat settings.</a:t>
            </a:r>
            <a:endParaRPr lang="en-US" sz="950" dirty="0"/>
          </a:p>
        </p:txBody>
      </p:sp>
      <p:sp>
        <p:nvSpPr>
          <p:cNvPr id="15" name="Shape 11"/>
          <p:cNvSpPr/>
          <p:nvPr/>
        </p:nvSpPr>
        <p:spPr>
          <a:xfrm>
            <a:off x="6080760" y="1371600"/>
            <a:ext cx="2651760" cy="2926080"/>
          </a:xfrm>
          <a:prstGeom prst="roundRect">
            <a:avLst>
              <a:gd name="adj" fmla="val 2069"/>
            </a:avLst>
          </a:prstGeom>
          <a:solidFill>
            <a:srgbClr val="FFFFFF"/>
          </a:solidFill>
          <a:ln w="9525">
            <a:solidFill>
              <a:srgbClr val="D9E0EA"/>
            </a:solidFill>
            <a:prstDash val="solid"/>
          </a:ln>
        </p:spPr>
      </p:sp>
      <p:sp>
        <p:nvSpPr>
          <p:cNvPr id="16" name="Shape 12"/>
          <p:cNvSpPr/>
          <p:nvPr/>
        </p:nvSpPr>
        <p:spPr>
          <a:xfrm>
            <a:off x="6309360" y="1600200"/>
            <a:ext cx="457200" cy="457200"/>
          </a:xfrm>
          <a:prstGeom prst="ellipse">
            <a:avLst/>
          </a:prstGeom>
          <a:solidFill>
            <a:srgbClr val="14213D"/>
          </a:solidFill>
          <a:ln w="12700">
            <a:solidFill>
              <a:srgbClr val="14213D"/>
            </a:solidFill>
            <a:prstDash val="solid"/>
          </a:ln>
        </p:spPr>
      </p:sp>
      <p:pic>
        <p:nvPicPr>
          <p:cNvPr id="17" name="Image 2" descr="preencoded.png">    </p:cNvPr>
          <p:cNvPicPr>
            <a:picLocks noChangeAspect="1"/>
          </p:cNvPicPr>
          <p:nvPr/>
        </p:nvPicPr>
        <p:blipFill>
          <a:blip r:embed="rId3"/>
          <a:stretch>
            <a:fillRect/>
          </a:stretch>
        </p:blipFill>
        <p:spPr>
          <a:xfrm>
            <a:off x="6423660" y="1714500"/>
            <a:ext cx="228600" cy="228600"/>
          </a:xfrm>
          <a:prstGeom prst="rect">
            <a:avLst/>
          </a:prstGeom>
        </p:spPr>
      </p:pic>
      <p:sp>
        <p:nvSpPr>
          <p:cNvPr id="18" name="Text 13"/>
          <p:cNvSpPr txBox="1"/>
          <p:nvPr/>
        </p:nvSpPr>
        <p:spPr>
          <a:xfrm>
            <a:off x="6309360" y="2194560"/>
            <a:ext cx="2194560" cy="320040"/>
          </a:xfrm>
          <a:prstGeom prst="rect">
            <a:avLst/>
          </a:prstGeom>
          <a:noFill/>
          <a:ln/>
        </p:spPr>
        <p:txBody>
          <a:bodyPr wrap="square" lIns="0" tIns="0" rIns="0" bIns="0" rtlCol="0" anchor="ctr"/>
          <a:lstStyle/>
          <a:p>
            <a:pPr indent="0" marL="0">
              <a:buNone/>
            </a:pPr>
            <a:r>
              <a:rPr lang="en-US" sz="1400" b="1" dirty="0">
                <a:solidFill>
                  <a:srgbClr val="1C2433"/>
                </a:solidFill>
                <a:latin typeface="Calibri" pitchFamily="34" charset="0"/>
                <a:ea typeface="Calibri" pitchFamily="34" charset="-122"/>
                <a:cs typeface="Calibri" pitchFamily="34" charset="-120"/>
              </a:rPr>
              <a:t>No control, no record</a:t>
            </a:r>
            <a:endParaRPr lang="en-US" sz="1400" dirty="0"/>
          </a:p>
        </p:txBody>
      </p:sp>
      <p:sp>
        <p:nvSpPr>
          <p:cNvPr id="19" name="Text 14"/>
          <p:cNvSpPr txBox="1"/>
          <p:nvPr/>
        </p:nvSpPr>
        <p:spPr>
          <a:xfrm>
            <a:off x="6309360" y="2560320"/>
            <a:ext cx="2194560" cy="164592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Nothing decides which actions an assistant may take or whether a change needs confirmation, and nothing keeps a record a finance auditor would accept.</a:t>
            </a:r>
            <a:endParaRPr lang="en-US" sz="950" dirty="0"/>
          </a:p>
        </p:txBody>
      </p:sp>
      <p:sp>
        <p:nvSpPr>
          <p:cNvPr id="20" name="Text 15"/>
          <p:cNvSpPr txBox="1"/>
          <p:nvPr/>
        </p:nvSpPr>
        <p:spPr>
          <a:xfrm>
            <a:off x="411480" y="4434840"/>
            <a:ext cx="8321040" cy="274320"/>
          </a:xfrm>
          <a:prstGeom prst="rect">
            <a:avLst/>
          </a:prstGeom>
          <a:noFill/>
          <a:ln/>
        </p:spPr>
        <p:txBody>
          <a:bodyPr wrap="square" lIns="0" tIns="0" rIns="0" bIns="0" rtlCol="0" anchor="ctr"/>
          <a:lstStyle/>
          <a:p>
            <a:pPr indent="0" marL="0">
              <a:buNone/>
            </a:pPr>
            <a:r>
              <a:rPr lang="en-US" sz="1000" b="1" i="1" dirty="0">
                <a:solidFill>
                  <a:srgbClr val="0F766E"/>
                </a:solidFill>
                <a:latin typeface="Calibri" pitchFamily="34" charset="0"/>
                <a:ea typeface="Calibri" pitchFamily="34" charset="-122"/>
                <a:cs typeface="Calibri" pitchFamily="34" charset="-120"/>
              </a:rPr>
              <a:t>A group-level answer: one control layer between every assistant and every product.</a:t>
            </a:r>
            <a:endParaRPr lang="en-US" sz="1000" dirty="0"/>
          </a:p>
        </p:txBody>
      </p:sp>
      <p:sp>
        <p:nvSpPr>
          <p:cNvPr id="21" name="Text 16"/>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22" name="Text 17"/>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CONCEPT</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The idea: one control layer between assistants and products</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Every Webcash Group product becomes a set of tools inside the assistant. The group decides who may do what, and records it.</a:t>
            </a:r>
            <a:endParaRPr lang="en-US" sz="1100" dirty="0"/>
          </a:p>
        </p:txBody>
      </p:sp>
      <p:sp>
        <p:nvSpPr>
          <p:cNvPr id="5" name="Shape 3"/>
          <p:cNvSpPr/>
          <p:nvPr/>
        </p:nvSpPr>
        <p:spPr>
          <a:xfrm>
            <a:off x="411480" y="1325880"/>
            <a:ext cx="2011680" cy="2697480"/>
          </a:xfrm>
          <a:prstGeom prst="roundRect">
            <a:avLst>
              <a:gd name="adj" fmla="val 2727"/>
            </a:avLst>
          </a:prstGeom>
          <a:solidFill>
            <a:srgbClr val="F5F7FA"/>
          </a:solidFill>
          <a:ln w="9525">
            <a:solidFill>
              <a:srgbClr val="D9E0EA"/>
            </a:solidFill>
            <a:prstDash val="solid"/>
          </a:ln>
        </p:spPr>
      </p:sp>
      <p:sp>
        <p:nvSpPr>
          <p:cNvPr id="6" name="Text 4"/>
          <p:cNvSpPr txBox="1"/>
          <p:nvPr/>
        </p:nvSpPr>
        <p:spPr>
          <a:xfrm>
            <a:off x="594360" y="1463040"/>
            <a:ext cx="173736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AI TOUCHPOINT</a:t>
            </a:r>
            <a:endParaRPr lang="en-US" sz="800" dirty="0"/>
          </a:p>
        </p:txBody>
      </p:sp>
      <p:sp>
        <p:nvSpPr>
          <p:cNvPr id="7" name="Text 5"/>
          <p:cNvSpPr txBox="1"/>
          <p:nvPr/>
        </p:nvSpPr>
        <p:spPr>
          <a:xfrm>
            <a:off x="594360" y="1673352"/>
            <a:ext cx="1737360" cy="274320"/>
          </a:xfrm>
          <a:prstGeom prst="rect">
            <a:avLst/>
          </a:prstGeom>
          <a:noFill/>
          <a:ln/>
        </p:spPr>
        <p:txBody>
          <a:bodyPr wrap="square" lIns="0" tIns="0" rIns="0" bIns="0" rtlCol="0" anchor="ctr"/>
          <a:lstStyle/>
          <a:p>
            <a:pPr indent="0" marL="0">
              <a:buNone/>
            </a:pPr>
            <a:r>
              <a:rPr lang="en-US" sz="1100" b="1" dirty="0">
                <a:solidFill>
                  <a:srgbClr val="1C2433"/>
                </a:solidFill>
                <a:latin typeface="Calibri" pitchFamily="34" charset="0"/>
                <a:ea typeface="Calibri" pitchFamily="34" charset="-122"/>
                <a:cs typeface="Calibri" pitchFamily="34" charset="-120"/>
              </a:rPr>
              <a:t>Where the customer works</a:t>
            </a:r>
            <a:endParaRPr lang="en-US" sz="1100" dirty="0"/>
          </a:p>
        </p:txBody>
      </p:sp>
      <p:sp>
        <p:nvSpPr>
          <p:cNvPr id="8" name="Shape 6"/>
          <p:cNvSpPr/>
          <p:nvPr/>
        </p:nvSpPr>
        <p:spPr>
          <a:xfrm>
            <a:off x="594360" y="2039112"/>
            <a:ext cx="1691640" cy="347472"/>
          </a:xfrm>
          <a:prstGeom prst="roundRect">
            <a:avLst>
              <a:gd name="adj" fmla="val 15789"/>
            </a:avLst>
          </a:prstGeom>
          <a:solidFill>
            <a:srgbClr val="FFFFFF"/>
          </a:solidFill>
          <a:ln w="9525">
            <a:solidFill>
              <a:srgbClr val="D9E0EA"/>
            </a:solidFill>
            <a:prstDash val="solid"/>
          </a:ln>
        </p:spPr>
      </p:sp>
      <p:sp>
        <p:nvSpPr>
          <p:cNvPr id="9" name="Text 7"/>
          <p:cNvSpPr txBox="1"/>
          <p:nvPr/>
        </p:nvSpPr>
        <p:spPr>
          <a:xfrm>
            <a:off x="594360" y="2039112"/>
            <a:ext cx="1691640" cy="347472"/>
          </a:xfrm>
          <a:prstGeom prst="rect">
            <a:avLst/>
          </a:prstGeom>
          <a:noFill/>
          <a:ln/>
        </p:spPr>
        <p:txBody>
          <a:bodyPr wrap="square" lIns="0" tIns="0" rIns="0" bIns="0" rtlCol="0" anchor="ctr"/>
          <a:lstStyle/>
          <a:p>
            <a:pPr algn="ctr" indent="0" marL="0">
              <a:buNone/>
            </a:pPr>
            <a:r>
              <a:rPr lang="en-US" sz="900" dirty="0">
                <a:solidFill>
                  <a:srgbClr val="1C2433"/>
                </a:solidFill>
                <a:latin typeface="Calibri" pitchFamily="34" charset="0"/>
                <a:ea typeface="Calibri" pitchFamily="34" charset="-122"/>
                <a:cs typeface="Calibri" pitchFamily="34" charset="-120"/>
              </a:rPr>
              <a:t>Claude · ChatGPT</a:t>
            </a:r>
            <a:endParaRPr lang="en-US" sz="900" dirty="0"/>
          </a:p>
        </p:txBody>
      </p:sp>
      <p:sp>
        <p:nvSpPr>
          <p:cNvPr id="10" name="Shape 8"/>
          <p:cNvSpPr/>
          <p:nvPr/>
        </p:nvSpPr>
        <p:spPr>
          <a:xfrm>
            <a:off x="594360" y="2450592"/>
            <a:ext cx="1691640" cy="347472"/>
          </a:xfrm>
          <a:prstGeom prst="roundRect">
            <a:avLst>
              <a:gd name="adj" fmla="val 15789"/>
            </a:avLst>
          </a:prstGeom>
          <a:solidFill>
            <a:srgbClr val="FFFFFF"/>
          </a:solidFill>
          <a:ln w="9525">
            <a:solidFill>
              <a:srgbClr val="D9E0EA"/>
            </a:solidFill>
            <a:prstDash val="solid"/>
          </a:ln>
        </p:spPr>
      </p:sp>
      <p:sp>
        <p:nvSpPr>
          <p:cNvPr id="11" name="Text 9"/>
          <p:cNvSpPr txBox="1"/>
          <p:nvPr/>
        </p:nvSpPr>
        <p:spPr>
          <a:xfrm>
            <a:off x="594360" y="2450592"/>
            <a:ext cx="1691640" cy="347472"/>
          </a:xfrm>
          <a:prstGeom prst="rect">
            <a:avLst/>
          </a:prstGeom>
          <a:noFill/>
          <a:ln/>
        </p:spPr>
        <p:txBody>
          <a:bodyPr wrap="square" lIns="0" tIns="0" rIns="0" bIns="0" rtlCol="0" anchor="ctr"/>
          <a:lstStyle/>
          <a:p>
            <a:pPr algn="ctr" indent="0" marL="0">
              <a:buNone/>
            </a:pPr>
            <a:r>
              <a:rPr lang="en-US" sz="900" dirty="0">
                <a:solidFill>
                  <a:srgbClr val="1C2433"/>
                </a:solidFill>
                <a:latin typeface="Calibri" pitchFamily="34" charset="0"/>
                <a:ea typeface="Calibri" pitchFamily="34" charset="-122"/>
                <a:cs typeface="Calibri" pitchFamily="34" charset="-120"/>
              </a:rPr>
              <a:t>Copilot · Agentforce</a:t>
            </a:r>
            <a:endParaRPr lang="en-US" sz="900" dirty="0"/>
          </a:p>
        </p:txBody>
      </p:sp>
      <p:sp>
        <p:nvSpPr>
          <p:cNvPr id="12" name="Shape 10"/>
          <p:cNvSpPr/>
          <p:nvPr/>
        </p:nvSpPr>
        <p:spPr>
          <a:xfrm>
            <a:off x="594360" y="2862072"/>
            <a:ext cx="1691640" cy="347472"/>
          </a:xfrm>
          <a:prstGeom prst="roundRect">
            <a:avLst>
              <a:gd name="adj" fmla="val 15789"/>
            </a:avLst>
          </a:prstGeom>
          <a:solidFill>
            <a:srgbClr val="FFFFFF"/>
          </a:solidFill>
          <a:ln w="9525">
            <a:solidFill>
              <a:srgbClr val="D9E0EA"/>
            </a:solidFill>
            <a:prstDash val="solid"/>
          </a:ln>
        </p:spPr>
      </p:sp>
      <p:sp>
        <p:nvSpPr>
          <p:cNvPr id="13" name="Text 11"/>
          <p:cNvSpPr txBox="1"/>
          <p:nvPr/>
        </p:nvSpPr>
        <p:spPr>
          <a:xfrm>
            <a:off x="594360" y="2862072"/>
            <a:ext cx="1691640" cy="347472"/>
          </a:xfrm>
          <a:prstGeom prst="rect">
            <a:avLst/>
          </a:prstGeom>
          <a:noFill/>
          <a:ln/>
        </p:spPr>
        <p:txBody>
          <a:bodyPr wrap="square" lIns="0" tIns="0" rIns="0" bIns="0" rtlCol="0" anchor="ctr"/>
          <a:lstStyle/>
          <a:p>
            <a:pPr algn="ctr" indent="0" marL="0">
              <a:buNone/>
            </a:pPr>
            <a:r>
              <a:rPr lang="en-US" sz="900" dirty="0">
                <a:solidFill>
                  <a:srgbClr val="1C2433"/>
                </a:solidFill>
                <a:latin typeface="Calibri" pitchFamily="34" charset="0"/>
                <a:ea typeface="Calibri" pitchFamily="34" charset="-122"/>
                <a:cs typeface="Calibri" pitchFamily="34" charset="-120"/>
              </a:rPr>
              <a:t>In-house or local LLM</a:t>
            </a:r>
            <a:endParaRPr lang="en-US" sz="900" dirty="0"/>
          </a:p>
        </p:txBody>
      </p:sp>
      <p:sp>
        <p:nvSpPr>
          <p:cNvPr id="14" name="Shape 12"/>
          <p:cNvSpPr/>
          <p:nvPr/>
        </p:nvSpPr>
        <p:spPr>
          <a:xfrm>
            <a:off x="594360" y="3273552"/>
            <a:ext cx="1691640" cy="347472"/>
          </a:xfrm>
          <a:prstGeom prst="roundRect">
            <a:avLst>
              <a:gd name="adj" fmla="val 15789"/>
            </a:avLst>
          </a:prstGeom>
          <a:solidFill>
            <a:srgbClr val="FFFFFF"/>
          </a:solidFill>
          <a:ln w="9525">
            <a:solidFill>
              <a:srgbClr val="D9E0EA"/>
            </a:solidFill>
            <a:prstDash val="solid"/>
          </a:ln>
        </p:spPr>
      </p:sp>
      <p:sp>
        <p:nvSpPr>
          <p:cNvPr id="15" name="Text 13"/>
          <p:cNvSpPr txBox="1"/>
          <p:nvPr/>
        </p:nvSpPr>
        <p:spPr>
          <a:xfrm>
            <a:off x="594360" y="3273552"/>
            <a:ext cx="1691640" cy="347472"/>
          </a:xfrm>
          <a:prstGeom prst="rect">
            <a:avLst/>
          </a:prstGeom>
          <a:noFill/>
          <a:ln/>
        </p:spPr>
        <p:txBody>
          <a:bodyPr wrap="square" lIns="0" tIns="0" rIns="0" bIns="0" rtlCol="0" anchor="ctr"/>
          <a:lstStyle/>
          <a:p>
            <a:pPr algn="ctr" indent="0" marL="0">
              <a:buNone/>
            </a:pPr>
            <a:r>
              <a:rPr lang="en-US" sz="900" dirty="0">
                <a:solidFill>
                  <a:srgbClr val="1C2433"/>
                </a:solidFill>
                <a:latin typeface="Calibri" pitchFamily="34" charset="0"/>
                <a:ea typeface="Calibri" pitchFamily="34" charset="-122"/>
                <a:cs typeface="Calibri" pitchFamily="34" charset="-120"/>
              </a:rPr>
              <a:t>Any MCP-capable client</a:t>
            </a:r>
            <a:endParaRPr lang="en-US" sz="900" dirty="0"/>
          </a:p>
        </p:txBody>
      </p:sp>
      <p:sp>
        <p:nvSpPr>
          <p:cNvPr id="16" name="Text 14"/>
          <p:cNvSpPr txBox="1"/>
          <p:nvPr/>
        </p:nvSpPr>
        <p:spPr>
          <a:xfrm>
            <a:off x="594360" y="3703320"/>
            <a:ext cx="1737360" cy="292608"/>
          </a:xfrm>
          <a:prstGeom prst="rect">
            <a:avLst/>
          </a:prstGeom>
          <a:noFill/>
          <a:ln/>
        </p:spPr>
        <p:txBody>
          <a:bodyPr wrap="square" lIns="0" tIns="0" rIns="0" bIns="0" rtlCol="0" anchor="ctr"/>
          <a:lstStyle/>
          <a:p>
            <a:pPr indent="0" marL="0">
              <a:buNone/>
            </a:pPr>
            <a:r>
              <a:rPr lang="en-US" sz="750" i="1" dirty="0">
                <a:solidFill>
                  <a:srgbClr val="7A8593"/>
                </a:solidFill>
                <a:latin typeface="Calibri" pitchFamily="34" charset="0"/>
                <a:ea typeface="Calibri" pitchFamily="34" charset="-122"/>
                <a:cs typeface="Calibri" pitchFamily="34" charset="-120"/>
              </a:rPr>
              <a:t>The customer asks in plain language. Nothing installed, nothing pasted.</a:t>
            </a:r>
            <a:endParaRPr lang="en-US" sz="750" dirty="0"/>
          </a:p>
        </p:txBody>
      </p:sp>
      <p:sp>
        <p:nvSpPr>
          <p:cNvPr id="17" name="Shape 15"/>
          <p:cNvSpPr/>
          <p:nvPr/>
        </p:nvSpPr>
        <p:spPr>
          <a:xfrm>
            <a:off x="2743200" y="1325880"/>
            <a:ext cx="3657600" cy="2697480"/>
          </a:xfrm>
          <a:prstGeom prst="roundRect">
            <a:avLst>
              <a:gd name="adj" fmla="val 2034"/>
            </a:avLst>
          </a:prstGeom>
          <a:solidFill>
            <a:srgbClr val="FFFFFF"/>
          </a:solidFill>
          <a:ln w="9525">
            <a:solidFill>
              <a:srgbClr val="0F766E"/>
            </a:solidFill>
            <a:prstDash val="solid"/>
          </a:ln>
        </p:spPr>
      </p:sp>
      <p:sp>
        <p:nvSpPr>
          <p:cNvPr id="18" name="Text 16"/>
          <p:cNvSpPr txBox="1"/>
          <p:nvPr/>
        </p:nvSpPr>
        <p:spPr>
          <a:xfrm>
            <a:off x="2926080" y="1463040"/>
            <a:ext cx="329184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GROUP CONTROL LAYER</a:t>
            </a:r>
            <a:endParaRPr lang="en-US" sz="800" dirty="0"/>
          </a:p>
        </p:txBody>
      </p:sp>
      <p:sp>
        <p:nvSpPr>
          <p:cNvPr id="19" name="Text 17"/>
          <p:cNvSpPr txBox="1"/>
          <p:nvPr/>
        </p:nvSpPr>
        <p:spPr>
          <a:xfrm>
            <a:off x="2926080" y="1673352"/>
            <a:ext cx="3291840" cy="274320"/>
          </a:xfrm>
          <a:prstGeom prst="rect">
            <a:avLst/>
          </a:prstGeom>
          <a:noFill/>
          <a:ln/>
        </p:spPr>
        <p:txBody>
          <a:bodyPr wrap="square" lIns="0" tIns="0" rIns="0" bIns="0" rtlCol="0" anchor="ctr"/>
          <a:lstStyle/>
          <a:p>
            <a:pPr indent="0" marL="0">
              <a:buNone/>
            </a:pPr>
            <a:r>
              <a:rPr lang="en-US" sz="1200" b="1" dirty="0">
                <a:solidFill>
                  <a:srgbClr val="1C2433"/>
                </a:solidFill>
                <a:latin typeface="Calibri" pitchFamily="34" charset="0"/>
                <a:ea typeface="Calibri" pitchFamily="34" charset="-122"/>
                <a:cs typeface="Calibri" pitchFamily="34" charset="-120"/>
              </a:rPr>
              <a:t>MCP Registry + AI Gateway</a:t>
            </a:r>
            <a:endParaRPr lang="en-US" sz="1200" dirty="0"/>
          </a:p>
        </p:txBody>
      </p:sp>
      <p:sp>
        <p:nvSpPr>
          <p:cNvPr id="20" name="Shape 18"/>
          <p:cNvSpPr/>
          <p:nvPr/>
        </p:nvSpPr>
        <p:spPr>
          <a:xfrm>
            <a:off x="2926080" y="2039112"/>
            <a:ext cx="3291840" cy="420624"/>
          </a:xfrm>
          <a:prstGeom prst="rect">
            <a:avLst/>
          </a:prstGeom>
          <a:solidFill>
            <a:srgbClr val="F5F7FA"/>
          </a:solidFill>
          <a:ln w="12700">
            <a:solidFill>
              <a:srgbClr val="F5F7FA"/>
            </a:solidFill>
            <a:prstDash val="solid"/>
          </a:ln>
        </p:spPr>
      </p:sp>
      <p:sp>
        <p:nvSpPr>
          <p:cNvPr id="21" name="Text 19"/>
          <p:cNvSpPr txBox="1"/>
          <p:nvPr/>
        </p:nvSpPr>
        <p:spPr>
          <a:xfrm>
            <a:off x="3017520" y="2039112"/>
            <a:ext cx="1051560" cy="420624"/>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Registry</a:t>
            </a:r>
            <a:endParaRPr lang="en-US" sz="950" dirty="0"/>
          </a:p>
        </p:txBody>
      </p:sp>
      <p:sp>
        <p:nvSpPr>
          <p:cNvPr id="22" name="Text 20"/>
          <p:cNvSpPr txBox="1"/>
          <p:nvPr/>
        </p:nvSpPr>
        <p:spPr>
          <a:xfrm>
            <a:off x="4069080" y="2039112"/>
            <a:ext cx="2103120" cy="420624"/>
          </a:xfrm>
          <a:prstGeom prst="rect">
            <a:avLst/>
          </a:prstGeom>
          <a:noFill/>
          <a:ln/>
        </p:spPr>
        <p:txBody>
          <a:bodyPr wrap="square" lIns="0" tIns="0" rIns="0" bIns="0" rtlCol="0" anchor="ctr"/>
          <a:lstStyle/>
          <a:p>
            <a:pPr indent="0" marL="0">
              <a:buNone/>
            </a:pPr>
            <a:r>
              <a:rPr lang="en-US" sz="720" dirty="0">
                <a:solidFill>
                  <a:srgbClr val="4A5568"/>
                </a:solidFill>
                <a:latin typeface="Calibri" pitchFamily="34" charset="0"/>
                <a:ea typeface="Calibri" pitchFamily="34" charset="-122"/>
                <a:cs typeface="Calibri" pitchFamily="34" charset="-120"/>
              </a:rPr>
              <a:t>Product APIs registered once; tools generated from their specs. Descriptions, risk level, activation per customer.</a:t>
            </a:r>
            <a:endParaRPr lang="en-US" sz="720" dirty="0"/>
          </a:p>
        </p:txBody>
      </p:sp>
      <p:sp>
        <p:nvSpPr>
          <p:cNvPr id="23" name="Shape 21"/>
          <p:cNvSpPr/>
          <p:nvPr/>
        </p:nvSpPr>
        <p:spPr>
          <a:xfrm>
            <a:off x="2926080" y="2523744"/>
            <a:ext cx="3291840" cy="420624"/>
          </a:xfrm>
          <a:prstGeom prst="rect">
            <a:avLst/>
          </a:prstGeom>
          <a:solidFill>
            <a:srgbClr val="E6F4F1"/>
          </a:solidFill>
          <a:ln w="12700">
            <a:solidFill>
              <a:srgbClr val="F5F7FA"/>
            </a:solidFill>
            <a:prstDash val="solid"/>
          </a:ln>
        </p:spPr>
      </p:sp>
      <p:sp>
        <p:nvSpPr>
          <p:cNvPr id="24" name="Text 22"/>
          <p:cNvSpPr txBox="1"/>
          <p:nvPr/>
        </p:nvSpPr>
        <p:spPr>
          <a:xfrm>
            <a:off x="3017520" y="2523744"/>
            <a:ext cx="1051560" cy="420624"/>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Identity</a:t>
            </a:r>
            <a:endParaRPr lang="en-US" sz="950" dirty="0"/>
          </a:p>
        </p:txBody>
      </p:sp>
      <p:sp>
        <p:nvSpPr>
          <p:cNvPr id="25" name="Text 23"/>
          <p:cNvSpPr txBox="1"/>
          <p:nvPr/>
        </p:nvSpPr>
        <p:spPr>
          <a:xfrm>
            <a:off x="4069080" y="2523744"/>
            <a:ext cx="2103120" cy="420624"/>
          </a:xfrm>
          <a:prstGeom prst="rect">
            <a:avLst/>
          </a:prstGeom>
          <a:noFill/>
          <a:ln/>
        </p:spPr>
        <p:txBody>
          <a:bodyPr wrap="square" lIns="0" tIns="0" rIns="0" bIns="0" rtlCol="0" anchor="ctr"/>
          <a:lstStyle/>
          <a:p>
            <a:pPr indent="0" marL="0">
              <a:buNone/>
            </a:pPr>
            <a:r>
              <a:rPr lang="en-US" sz="720" dirty="0">
                <a:solidFill>
                  <a:srgbClr val="4A5568"/>
                </a:solidFill>
                <a:latin typeface="Calibri" pitchFamily="34" charset="0"/>
                <a:ea typeface="Calibri" pitchFamily="34" charset="-122"/>
                <a:cs typeface="Calibri" pitchFamily="34" charset="-120"/>
              </a:rPr>
              <a:t>The customer signs in once, through the gateway. Every call carries who they are and their organization.</a:t>
            </a:r>
            <a:endParaRPr lang="en-US" sz="720" dirty="0"/>
          </a:p>
        </p:txBody>
      </p:sp>
      <p:sp>
        <p:nvSpPr>
          <p:cNvPr id="26" name="Shape 24"/>
          <p:cNvSpPr/>
          <p:nvPr/>
        </p:nvSpPr>
        <p:spPr>
          <a:xfrm>
            <a:off x="2926080" y="3008376"/>
            <a:ext cx="3291840" cy="420624"/>
          </a:xfrm>
          <a:prstGeom prst="rect">
            <a:avLst/>
          </a:prstGeom>
          <a:solidFill>
            <a:srgbClr val="F5F7FA"/>
          </a:solidFill>
          <a:ln w="12700">
            <a:solidFill>
              <a:srgbClr val="F5F7FA"/>
            </a:solidFill>
            <a:prstDash val="solid"/>
          </a:ln>
        </p:spPr>
      </p:sp>
      <p:sp>
        <p:nvSpPr>
          <p:cNvPr id="27" name="Text 25"/>
          <p:cNvSpPr txBox="1"/>
          <p:nvPr/>
        </p:nvSpPr>
        <p:spPr>
          <a:xfrm>
            <a:off x="3017520" y="3008376"/>
            <a:ext cx="1051560" cy="420624"/>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Policy</a:t>
            </a:r>
            <a:endParaRPr lang="en-US" sz="950" dirty="0"/>
          </a:p>
        </p:txBody>
      </p:sp>
      <p:sp>
        <p:nvSpPr>
          <p:cNvPr id="28" name="Text 26"/>
          <p:cNvSpPr txBox="1"/>
          <p:nvPr/>
        </p:nvSpPr>
        <p:spPr>
          <a:xfrm>
            <a:off x="4069080" y="3008376"/>
            <a:ext cx="2103120" cy="420624"/>
          </a:xfrm>
          <a:prstGeom prst="rect">
            <a:avLst/>
          </a:prstGeom>
          <a:noFill/>
          <a:ln/>
        </p:spPr>
        <p:txBody>
          <a:bodyPr wrap="square" lIns="0" tIns="0" rIns="0" bIns="0" rtlCol="0" anchor="ctr"/>
          <a:lstStyle/>
          <a:p>
            <a:pPr indent="0" marL="0">
              <a:buNone/>
            </a:pPr>
            <a:r>
              <a:rPr lang="en-US" sz="720" dirty="0">
                <a:solidFill>
                  <a:srgbClr val="4A5568"/>
                </a:solidFill>
                <a:latin typeface="Calibri" pitchFamily="34" charset="0"/>
                <a:ea typeface="Calibri" pitchFamily="34" charset="-122"/>
                <a:cs typeface="Calibri" pitchFamily="34" charset="-120"/>
              </a:rPr>
              <a:t>Which tools, for whom, at which risk level. Lookups by default; changes only with confirmation; payments inside existing approval lines.</a:t>
            </a:r>
            <a:endParaRPr lang="en-US" sz="720" dirty="0"/>
          </a:p>
        </p:txBody>
      </p:sp>
      <p:sp>
        <p:nvSpPr>
          <p:cNvPr id="29" name="Shape 27"/>
          <p:cNvSpPr/>
          <p:nvPr/>
        </p:nvSpPr>
        <p:spPr>
          <a:xfrm>
            <a:off x="2926080" y="3493008"/>
            <a:ext cx="3291840" cy="420624"/>
          </a:xfrm>
          <a:prstGeom prst="rect">
            <a:avLst/>
          </a:prstGeom>
          <a:solidFill>
            <a:srgbClr val="F5F7FA"/>
          </a:solidFill>
          <a:ln w="12700">
            <a:solidFill>
              <a:srgbClr val="F5F7FA"/>
            </a:solidFill>
            <a:prstDash val="solid"/>
          </a:ln>
        </p:spPr>
      </p:sp>
      <p:sp>
        <p:nvSpPr>
          <p:cNvPr id="30" name="Text 28"/>
          <p:cNvSpPr txBox="1"/>
          <p:nvPr/>
        </p:nvSpPr>
        <p:spPr>
          <a:xfrm>
            <a:off x="3017520" y="3493008"/>
            <a:ext cx="1051560" cy="420624"/>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Credentials &amp; audit</a:t>
            </a:r>
            <a:endParaRPr lang="en-US" sz="950" dirty="0"/>
          </a:p>
        </p:txBody>
      </p:sp>
      <p:sp>
        <p:nvSpPr>
          <p:cNvPr id="31" name="Text 29"/>
          <p:cNvSpPr txBox="1"/>
          <p:nvPr/>
        </p:nvSpPr>
        <p:spPr>
          <a:xfrm>
            <a:off x="4069080" y="3493008"/>
            <a:ext cx="2103120" cy="420624"/>
          </a:xfrm>
          <a:prstGeom prst="rect">
            <a:avLst/>
          </a:prstGeom>
          <a:noFill/>
          <a:ln/>
        </p:spPr>
        <p:txBody>
          <a:bodyPr wrap="square" lIns="0" tIns="0" rIns="0" bIns="0" rtlCol="0" anchor="ctr"/>
          <a:lstStyle/>
          <a:p>
            <a:pPr indent="0" marL="0">
              <a:buNone/>
            </a:pPr>
            <a:r>
              <a:rPr lang="en-US" sz="720" dirty="0">
                <a:solidFill>
                  <a:srgbClr val="4A5568"/>
                </a:solidFill>
                <a:latin typeface="Calibri" pitchFamily="34" charset="0"/>
                <a:ea typeface="Calibri" pitchFamily="34" charset="-122"/>
                <a:cs typeface="Calibri" pitchFamily="34" charset="-120"/>
              </a:rPr>
              <a:t>The gateway holds each product's credential for that customer. Every call and refusal is recorded.</a:t>
            </a:r>
            <a:endParaRPr lang="en-US" sz="720" dirty="0"/>
          </a:p>
        </p:txBody>
      </p:sp>
      <p:sp>
        <p:nvSpPr>
          <p:cNvPr id="32" name="Shape 30"/>
          <p:cNvSpPr/>
          <p:nvPr/>
        </p:nvSpPr>
        <p:spPr>
          <a:xfrm>
            <a:off x="6720840" y="1325880"/>
            <a:ext cx="2011680" cy="2697480"/>
          </a:xfrm>
          <a:prstGeom prst="roundRect">
            <a:avLst>
              <a:gd name="adj" fmla="val 2727"/>
            </a:avLst>
          </a:prstGeom>
          <a:solidFill>
            <a:srgbClr val="F5F7FA"/>
          </a:solidFill>
          <a:ln w="9525">
            <a:solidFill>
              <a:srgbClr val="D9E0EA"/>
            </a:solidFill>
            <a:prstDash val="solid"/>
          </a:ln>
        </p:spPr>
      </p:sp>
      <p:sp>
        <p:nvSpPr>
          <p:cNvPr id="33" name="Text 31"/>
          <p:cNvSpPr txBox="1"/>
          <p:nvPr/>
        </p:nvSpPr>
        <p:spPr>
          <a:xfrm>
            <a:off x="6903720" y="1463040"/>
            <a:ext cx="173736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GROUP PRODUCT APIS</a:t>
            </a:r>
            <a:endParaRPr lang="en-US" sz="800" dirty="0"/>
          </a:p>
        </p:txBody>
      </p:sp>
      <p:sp>
        <p:nvSpPr>
          <p:cNvPr id="34" name="Text 32"/>
          <p:cNvSpPr txBox="1"/>
          <p:nvPr/>
        </p:nvSpPr>
        <p:spPr>
          <a:xfrm>
            <a:off x="6903720" y="1673352"/>
            <a:ext cx="1737360" cy="274320"/>
          </a:xfrm>
          <a:prstGeom prst="rect">
            <a:avLst/>
          </a:prstGeom>
          <a:noFill/>
          <a:ln/>
        </p:spPr>
        <p:txBody>
          <a:bodyPr wrap="square" lIns="0" tIns="0" rIns="0" bIns="0" rtlCol="0" anchor="ctr"/>
          <a:lstStyle/>
          <a:p>
            <a:pPr indent="0" marL="0">
              <a:buNone/>
            </a:pPr>
            <a:r>
              <a:rPr lang="en-US" sz="1100" b="1" dirty="0">
                <a:solidFill>
                  <a:srgbClr val="1C2433"/>
                </a:solidFill>
                <a:latin typeface="Calibri" pitchFamily="34" charset="0"/>
                <a:ea typeface="Calibri" pitchFamily="34" charset="-122"/>
                <a:cs typeface="Calibri" pitchFamily="34" charset="-120"/>
              </a:rPr>
              <a:t>Domain packages</a:t>
            </a:r>
            <a:endParaRPr lang="en-US" sz="1100" dirty="0"/>
          </a:p>
        </p:txBody>
      </p:sp>
      <p:sp>
        <p:nvSpPr>
          <p:cNvPr id="35" name="Shape 33"/>
          <p:cNvSpPr/>
          <p:nvPr/>
        </p:nvSpPr>
        <p:spPr>
          <a:xfrm>
            <a:off x="6903720" y="2039112"/>
            <a:ext cx="1691640" cy="365760"/>
          </a:xfrm>
          <a:prstGeom prst="roundRect">
            <a:avLst>
              <a:gd name="adj" fmla="val 15000"/>
            </a:avLst>
          </a:prstGeom>
          <a:solidFill>
            <a:srgbClr val="FFFFFF"/>
          </a:solidFill>
          <a:ln w="9525">
            <a:solidFill>
              <a:srgbClr val="D9E0EA"/>
            </a:solidFill>
            <a:prstDash val="solid"/>
          </a:ln>
        </p:spPr>
      </p:sp>
      <p:sp>
        <p:nvSpPr>
          <p:cNvPr id="36" name="Text 34"/>
          <p:cNvSpPr txBox="1"/>
          <p:nvPr/>
        </p:nvSpPr>
        <p:spPr>
          <a:xfrm>
            <a:off x="6976872" y="2057400"/>
            <a:ext cx="1572768" cy="182880"/>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Expense &amp; Collaboration</a:t>
            </a:r>
            <a:endParaRPr lang="en-US" sz="800" dirty="0"/>
          </a:p>
        </p:txBody>
      </p:sp>
      <p:sp>
        <p:nvSpPr>
          <p:cNvPr id="37" name="Text 35"/>
          <p:cNvSpPr txBox="1"/>
          <p:nvPr/>
        </p:nvSpPr>
        <p:spPr>
          <a:xfrm>
            <a:off x="6976872" y="2221992"/>
            <a:ext cx="1572768" cy="164592"/>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Bizplay · COOCON · FLOW</a:t>
            </a:r>
            <a:endParaRPr lang="en-US" sz="680" dirty="0"/>
          </a:p>
        </p:txBody>
      </p:sp>
      <p:sp>
        <p:nvSpPr>
          <p:cNvPr id="38" name="Shape 36"/>
          <p:cNvSpPr/>
          <p:nvPr/>
        </p:nvSpPr>
        <p:spPr>
          <a:xfrm>
            <a:off x="6903720" y="2450592"/>
            <a:ext cx="1691640" cy="365760"/>
          </a:xfrm>
          <a:prstGeom prst="roundRect">
            <a:avLst>
              <a:gd name="adj" fmla="val 15000"/>
            </a:avLst>
          </a:prstGeom>
          <a:solidFill>
            <a:srgbClr val="FFFFFF"/>
          </a:solidFill>
          <a:ln w="9525">
            <a:solidFill>
              <a:srgbClr val="D9E0EA"/>
            </a:solidFill>
            <a:prstDash val="solid"/>
          </a:ln>
        </p:spPr>
      </p:sp>
      <p:sp>
        <p:nvSpPr>
          <p:cNvPr id="39" name="Text 37"/>
          <p:cNvSpPr txBox="1"/>
          <p:nvPr/>
        </p:nvSpPr>
        <p:spPr>
          <a:xfrm>
            <a:off x="6976872" y="2468880"/>
            <a:ext cx="1572768" cy="182880"/>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SME Management</a:t>
            </a:r>
            <a:endParaRPr lang="en-US" sz="800" dirty="0"/>
          </a:p>
        </p:txBody>
      </p:sp>
      <p:sp>
        <p:nvSpPr>
          <p:cNvPr id="40" name="Text 38"/>
          <p:cNvSpPr txBox="1"/>
          <p:nvPr/>
        </p:nvSpPr>
        <p:spPr>
          <a:xfrm>
            <a:off x="6976872" y="2633472"/>
            <a:ext cx="1572768" cy="164592"/>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Gyeongrinara · COOCON</a:t>
            </a:r>
            <a:endParaRPr lang="en-US" sz="680" dirty="0"/>
          </a:p>
        </p:txBody>
      </p:sp>
      <p:sp>
        <p:nvSpPr>
          <p:cNvPr id="41" name="Shape 39"/>
          <p:cNvSpPr/>
          <p:nvPr/>
        </p:nvSpPr>
        <p:spPr>
          <a:xfrm>
            <a:off x="6903720" y="2862072"/>
            <a:ext cx="1691640" cy="365760"/>
          </a:xfrm>
          <a:prstGeom prst="roundRect">
            <a:avLst>
              <a:gd name="adj" fmla="val 15000"/>
            </a:avLst>
          </a:prstGeom>
          <a:solidFill>
            <a:srgbClr val="FFFFFF"/>
          </a:solidFill>
          <a:ln w="9525">
            <a:solidFill>
              <a:srgbClr val="D9E0EA"/>
            </a:solidFill>
            <a:prstDash val="solid"/>
          </a:ln>
        </p:spPr>
      </p:sp>
      <p:sp>
        <p:nvSpPr>
          <p:cNvPr id="42" name="Text 40"/>
          <p:cNvSpPr txBox="1"/>
          <p:nvPr/>
        </p:nvSpPr>
        <p:spPr>
          <a:xfrm>
            <a:off x="6976872" y="2880360"/>
            <a:ext cx="1572768" cy="182880"/>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Corporate Treasury</a:t>
            </a:r>
            <a:endParaRPr lang="en-US" sz="800" dirty="0"/>
          </a:p>
        </p:txBody>
      </p:sp>
      <p:sp>
        <p:nvSpPr>
          <p:cNvPr id="43" name="Text 41"/>
          <p:cNvSpPr txBox="1"/>
          <p:nvPr/>
        </p:nvSpPr>
        <p:spPr>
          <a:xfrm>
            <a:off x="6976872" y="3044952"/>
            <a:ext cx="1572768" cy="164592"/>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Branch Q · InhouseBank Q · Dashboard</a:t>
            </a:r>
            <a:endParaRPr lang="en-US" sz="680" dirty="0"/>
          </a:p>
        </p:txBody>
      </p:sp>
      <p:sp>
        <p:nvSpPr>
          <p:cNvPr id="44" name="Shape 42"/>
          <p:cNvSpPr/>
          <p:nvPr/>
        </p:nvSpPr>
        <p:spPr>
          <a:xfrm>
            <a:off x="6903720" y="3273552"/>
            <a:ext cx="1691640" cy="365760"/>
          </a:xfrm>
          <a:prstGeom prst="roundRect">
            <a:avLst>
              <a:gd name="adj" fmla="val 15000"/>
            </a:avLst>
          </a:prstGeom>
          <a:solidFill>
            <a:srgbClr val="FFFFFF"/>
          </a:solidFill>
          <a:ln w="9525">
            <a:solidFill>
              <a:srgbClr val="D9E0EA"/>
            </a:solidFill>
            <a:prstDash val="solid"/>
          </a:ln>
        </p:spPr>
      </p:sp>
      <p:sp>
        <p:nvSpPr>
          <p:cNvPr id="45" name="Text 43"/>
          <p:cNvSpPr txBox="1"/>
          <p:nvPr/>
        </p:nvSpPr>
        <p:spPr>
          <a:xfrm>
            <a:off x="6976872" y="3291840"/>
            <a:ext cx="1572768" cy="182880"/>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Research Administration</a:t>
            </a:r>
            <a:endParaRPr lang="en-US" sz="800" dirty="0"/>
          </a:p>
        </p:txBody>
      </p:sp>
      <p:sp>
        <p:nvSpPr>
          <p:cNvPr id="46" name="Text 44"/>
          <p:cNvSpPr txBox="1"/>
          <p:nvPr/>
        </p:nvSpPr>
        <p:spPr>
          <a:xfrm>
            <a:off x="6976872" y="3456432"/>
            <a:ext cx="1572768" cy="164592"/>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rERP Q · RCMS</a:t>
            </a:r>
            <a:endParaRPr lang="en-US" sz="680" dirty="0"/>
          </a:p>
        </p:txBody>
      </p:sp>
      <p:sp>
        <p:nvSpPr>
          <p:cNvPr id="47" name="Text 45"/>
          <p:cNvSpPr txBox="1"/>
          <p:nvPr/>
        </p:nvSpPr>
        <p:spPr>
          <a:xfrm>
            <a:off x="6903720" y="3703320"/>
            <a:ext cx="1737360" cy="292608"/>
          </a:xfrm>
          <a:prstGeom prst="rect">
            <a:avLst/>
          </a:prstGeom>
          <a:noFill/>
          <a:ln/>
        </p:spPr>
        <p:txBody>
          <a:bodyPr wrap="square" lIns="0" tIns="0" rIns="0" bIns="0" rtlCol="0" anchor="ctr"/>
          <a:lstStyle/>
          <a:p>
            <a:pPr indent="0" marL="0">
              <a:buNone/>
            </a:pPr>
            <a:r>
              <a:rPr lang="en-US" sz="750" i="1" dirty="0">
                <a:solidFill>
                  <a:srgbClr val="7A8593"/>
                </a:solidFill>
                <a:latin typeface="Calibri" pitchFamily="34" charset="0"/>
                <a:ea typeface="Calibri" pitchFamily="34" charset="-122"/>
                <a:cs typeface="Calibri" pitchFamily="34" charset="-120"/>
              </a:rPr>
              <a:t>Products are not changed. A spec in the registry is the whole integration.</a:t>
            </a:r>
            <a:endParaRPr lang="en-US" sz="750" dirty="0"/>
          </a:p>
        </p:txBody>
      </p:sp>
      <p:sp>
        <p:nvSpPr>
          <p:cNvPr id="48" name="Shape 46"/>
          <p:cNvSpPr/>
          <p:nvPr/>
        </p:nvSpPr>
        <p:spPr>
          <a:xfrm>
            <a:off x="2450592" y="2542032"/>
            <a:ext cx="292608" cy="237744"/>
          </a:xfrm>
          <a:prstGeom prst="rightArrow">
            <a:avLst/>
          </a:prstGeom>
          <a:solidFill>
            <a:srgbClr val="0F766E"/>
          </a:solidFill>
          <a:ln w="12700">
            <a:solidFill>
              <a:srgbClr val="0F766E"/>
            </a:solidFill>
            <a:prstDash val="solid"/>
          </a:ln>
        </p:spPr>
      </p:sp>
      <p:sp>
        <p:nvSpPr>
          <p:cNvPr id="49" name="Shape 47"/>
          <p:cNvSpPr/>
          <p:nvPr/>
        </p:nvSpPr>
        <p:spPr>
          <a:xfrm>
            <a:off x="6428232" y="2542032"/>
            <a:ext cx="292608" cy="237744"/>
          </a:xfrm>
          <a:prstGeom prst="rightArrow">
            <a:avLst/>
          </a:prstGeom>
          <a:solidFill>
            <a:srgbClr val="0F766E"/>
          </a:solidFill>
          <a:ln w="12700">
            <a:solidFill>
              <a:srgbClr val="0F766E"/>
            </a:solidFill>
            <a:prstDash val="solid"/>
          </a:ln>
        </p:spPr>
      </p:sp>
      <p:sp>
        <p:nvSpPr>
          <p:cNvPr id="50" name="Shape 48"/>
          <p:cNvSpPr/>
          <p:nvPr/>
        </p:nvSpPr>
        <p:spPr>
          <a:xfrm>
            <a:off x="411480" y="4160520"/>
            <a:ext cx="8321040" cy="502920"/>
          </a:xfrm>
          <a:prstGeom prst="roundRect">
            <a:avLst>
              <a:gd name="adj" fmla="val 10909"/>
            </a:avLst>
          </a:prstGeom>
          <a:solidFill>
            <a:srgbClr val="FFFFFF"/>
          </a:solidFill>
          <a:ln w="9525">
            <a:solidFill>
              <a:srgbClr val="D9E0EA"/>
            </a:solidFill>
            <a:prstDash val="solid"/>
          </a:ln>
        </p:spPr>
      </p:sp>
      <p:sp>
        <p:nvSpPr>
          <p:cNvPr id="51" name="Shape 49"/>
          <p:cNvSpPr/>
          <p:nvPr/>
        </p:nvSpPr>
        <p:spPr>
          <a:xfrm>
            <a:off x="566928" y="4334256"/>
            <a:ext cx="155448" cy="155448"/>
          </a:xfrm>
          <a:prstGeom prst="ellipse">
            <a:avLst/>
          </a:prstGeom>
          <a:solidFill>
            <a:srgbClr val="0F766E"/>
          </a:solidFill>
          <a:ln w="12700">
            <a:solidFill>
              <a:srgbClr val="0F766E"/>
            </a:solidFill>
            <a:prstDash val="solid"/>
          </a:ln>
        </p:spPr>
      </p:sp>
      <p:sp>
        <p:nvSpPr>
          <p:cNvPr id="52" name="Text 50"/>
          <p:cNvSpPr txBox="1"/>
          <p:nvPr/>
        </p:nvSpPr>
        <p:spPr>
          <a:xfrm>
            <a:off x="813816" y="4206240"/>
            <a:ext cx="1005840" cy="411480"/>
          </a:xfrm>
          <a:prstGeom prst="rect">
            <a:avLst/>
          </a:prstGeom>
          <a:noFill/>
          <a:ln/>
        </p:spPr>
        <p:txBody>
          <a:bodyPr wrap="square" lIns="0" tIns="0" rIns="0" bIns="0" rtlCol="0" anchor="ctr"/>
          <a:lstStyle/>
          <a:p>
            <a:pPr indent="0" marL="0">
              <a:buNone/>
            </a:pPr>
            <a:r>
              <a:rPr lang="en-US" sz="900" b="1" dirty="0">
                <a:solidFill>
                  <a:srgbClr val="1C2433"/>
                </a:solidFill>
                <a:latin typeface="Calibri" pitchFamily="34" charset="0"/>
                <a:ea typeface="Calibri" pitchFamily="34" charset="-122"/>
                <a:cs typeface="Calibri" pitchFamily="34" charset="-120"/>
              </a:rPr>
              <a:t>One place to work</a:t>
            </a:r>
            <a:endParaRPr lang="en-US" sz="900" dirty="0"/>
          </a:p>
        </p:txBody>
      </p:sp>
      <p:sp>
        <p:nvSpPr>
          <p:cNvPr id="53" name="Text 51"/>
          <p:cNvSpPr txBox="1"/>
          <p:nvPr/>
        </p:nvSpPr>
        <p:spPr>
          <a:xfrm>
            <a:off x="1819656" y="4206240"/>
            <a:ext cx="1444752" cy="411480"/>
          </a:xfrm>
          <a:prstGeom prst="rect">
            <a:avLst/>
          </a:prstGeom>
          <a:noFill/>
          <a:ln/>
        </p:spPr>
        <p:txBody>
          <a:bodyPr wrap="square" lIns="0" tIns="0" rIns="0" bIns="0" rtlCol="0" anchor="ctr"/>
          <a:lstStyle/>
          <a:p>
            <a:pPr indent="0" marL="0">
              <a:buNone/>
            </a:pPr>
            <a:r>
              <a:rPr lang="en-US" sz="700" dirty="0">
                <a:solidFill>
                  <a:srgbClr val="4A5568"/>
                </a:solidFill>
                <a:latin typeface="Calibri" pitchFamily="34" charset="0"/>
                <a:ea typeface="Calibri" pitchFamily="34" charset="-122"/>
                <a:cs typeface="Calibri" pitchFamily="34" charset="-120"/>
              </a:rPr>
              <a:t>tasks that span products finish in one assistant</a:t>
            </a:r>
            <a:endParaRPr lang="en-US" sz="700" dirty="0"/>
          </a:p>
        </p:txBody>
      </p:sp>
      <p:sp>
        <p:nvSpPr>
          <p:cNvPr id="54" name="Shape 52"/>
          <p:cNvSpPr/>
          <p:nvPr/>
        </p:nvSpPr>
        <p:spPr>
          <a:xfrm>
            <a:off x="3328416" y="4334256"/>
            <a:ext cx="155448" cy="155448"/>
          </a:xfrm>
          <a:prstGeom prst="ellipse">
            <a:avLst/>
          </a:prstGeom>
          <a:solidFill>
            <a:srgbClr val="14213D"/>
          </a:solidFill>
          <a:ln w="12700">
            <a:solidFill>
              <a:srgbClr val="14213D"/>
            </a:solidFill>
            <a:prstDash val="solid"/>
          </a:ln>
        </p:spPr>
      </p:sp>
      <p:sp>
        <p:nvSpPr>
          <p:cNvPr id="55" name="Text 53"/>
          <p:cNvSpPr txBox="1"/>
          <p:nvPr/>
        </p:nvSpPr>
        <p:spPr>
          <a:xfrm>
            <a:off x="3575304" y="4206240"/>
            <a:ext cx="1005840" cy="411480"/>
          </a:xfrm>
          <a:prstGeom prst="rect">
            <a:avLst/>
          </a:prstGeom>
          <a:noFill/>
          <a:ln/>
        </p:spPr>
        <p:txBody>
          <a:bodyPr wrap="square" lIns="0" tIns="0" rIns="0" bIns="0" rtlCol="0" anchor="ctr"/>
          <a:lstStyle/>
          <a:p>
            <a:pPr indent="0" marL="0">
              <a:buNone/>
            </a:pPr>
            <a:r>
              <a:rPr lang="en-US" sz="900" b="1" dirty="0">
                <a:solidFill>
                  <a:srgbClr val="1C2433"/>
                </a:solidFill>
                <a:latin typeface="Calibri" pitchFamily="34" charset="0"/>
                <a:ea typeface="Calibri" pitchFamily="34" charset="-122"/>
                <a:cs typeface="Calibri" pitchFamily="34" charset="-120"/>
              </a:rPr>
              <a:t>One place to control</a:t>
            </a:r>
            <a:endParaRPr lang="en-US" sz="900" dirty="0"/>
          </a:p>
        </p:txBody>
      </p:sp>
      <p:sp>
        <p:nvSpPr>
          <p:cNvPr id="56" name="Text 54"/>
          <p:cNvSpPr txBox="1"/>
          <p:nvPr/>
        </p:nvSpPr>
        <p:spPr>
          <a:xfrm>
            <a:off x="4581144" y="4206240"/>
            <a:ext cx="1444752" cy="411480"/>
          </a:xfrm>
          <a:prstGeom prst="rect">
            <a:avLst/>
          </a:prstGeom>
          <a:noFill/>
          <a:ln/>
        </p:spPr>
        <p:txBody>
          <a:bodyPr wrap="square" lIns="0" tIns="0" rIns="0" bIns="0" rtlCol="0" anchor="ctr"/>
          <a:lstStyle/>
          <a:p>
            <a:pPr indent="0" marL="0">
              <a:buNone/>
            </a:pPr>
            <a:r>
              <a:rPr lang="en-US" sz="700" dirty="0">
                <a:solidFill>
                  <a:srgbClr val="4A5568"/>
                </a:solidFill>
                <a:latin typeface="Calibri" pitchFamily="34" charset="0"/>
                <a:ea typeface="Calibri" pitchFamily="34" charset="-122"/>
                <a:cs typeface="Calibri" pitchFamily="34" charset="-120"/>
              </a:rPr>
              <a:t>group-wide policy and audit, not per product per vendor</a:t>
            </a:r>
            <a:endParaRPr lang="en-US" sz="700" dirty="0"/>
          </a:p>
        </p:txBody>
      </p:sp>
      <p:sp>
        <p:nvSpPr>
          <p:cNvPr id="57" name="Shape 55"/>
          <p:cNvSpPr/>
          <p:nvPr/>
        </p:nvSpPr>
        <p:spPr>
          <a:xfrm>
            <a:off x="6089904" y="4334256"/>
            <a:ext cx="155448" cy="155448"/>
          </a:xfrm>
          <a:prstGeom prst="ellipse">
            <a:avLst/>
          </a:prstGeom>
          <a:solidFill>
            <a:srgbClr val="B45309"/>
          </a:solidFill>
          <a:ln w="12700">
            <a:solidFill>
              <a:srgbClr val="B45309"/>
            </a:solidFill>
            <a:prstDash val="solid"/>
          </a:ln>
        </p:spPr>
      </p:sp>
      <p:sp>
        <p:nvSpPr>
          <p:cNvPr id="58" name="Text 56"/>
          <p:cNvSpPr txBox="1"/>
          <p:nvPr/>
        </p:nvSpPr>
        <p:spPr>
          <a:xfrm>
            <a:off x="6336792" y="4206240"/>
            <a:ext cx="1005840" cy="411480"/>
          </a:xfrm>
          <a:prstGeom prst="rect">
            <a:avLst/>
          </a:prstGeom>
          <a:noFill/>
          <a:ln/>
        </p:spPr>
        <p:txBody>
          <a:bodyPr wrap="square" lIns="0" tIns="0" rIns="0" bIns="0" rtlCol="0" anchor="ctr"/>
          <a:lstStyle/>
          <a:p>
            <a:pPr indent="0" marL="0">
              <a:buNone/>
            </a:pPr>
            <a:r>
              <a:rPr lang="en-US" sz="900" b="1" dirty="0">
                <a:solidFill>
                  <a:srgbClr val="1C2433"/>
                </a:solidFill>
                <a:latin typeface="Calibri" pitchFamily="34" charset="0"/>
                <a:ea typeface="Calibri" pitchFamily="34" charset="-122"/>
                <a:cs typeface="Calibri" pitchFamily="34" charset="-120"/>
              </a:rPr>
              <a:t>Low marginal cost</a:t>
            </a:r>
            <a:endParaRPr lang="en-US" sz="900" dirty="0"/>
          </a:p>
        </p:txBody>
      </p:sp>
      <p:sp>
        <p:nvSpPr>
          <p:cNvPr id="59" name="Text 57"/>
          <p:cNvSpPr txBox="1"/>
          <p:nvPr/>
        </p:nvSpPr>
        <p:spPr>
          <a:xfrm>
            <a:off x="7342632" y="4206240"/>
            <a:ext cx="1444752" cy="411480"/>
          </a:xfrm>
          <a:prstGeom prst="rect">
            <a:avLst/>
          </a:prstGeom>
          <a:noFill/>
          <a:ln/>
        </p:spPr>
        <p:txBody>
          <a:bodyPr wrap="square" lIns="0" tIns="0" rIns="0" bIns="0" rtlCol="0" anchor="ctr"/>
          <a:lstStyle/>
          <a:p>
            <a:pPr indent="0" marL="0">
              <a:buNone/>
            </a:pPr>
            <a:r>
              <a:rPr lang="en-US" sz="700" dirty="0">
                <a:solidFill>
                  <a:srgbClr val="4A5568"/>
                </a:solidFill>
                <a:latin typeface="Calibri" pitchFamily="34" charset="0"/>
                <a:ea typeface="Calibri" pitchFamily="34" charset="-122"/>
                <a:cs typeface="Calibri" pitchFamily="34" charset="-120"/>
              </a:rPr>
              <a:t>adding a product or partner is a registration</a:t>
            </a:r>
            <a:endParaRPr lang="en-US" sz="700" dirty="0"/>
          </a:p>
        </p:txBody>
      </p:sp>
      <p:sp>
        <p:nvSpPr>
          <p:cNvPr id="60" name="Text 58"/>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61" name="Text 59"/>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CUSTOMER VIEW</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What changes for the customer</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The same monthly task, before and after. Nothing about the products themselves changes.</a:t>
            </a:r>
            <a:endParaRPr lang="en-US" sz="1100" dirty="0"/>
          </a:p>
        </p:txBody>
      </p:sp>
      <p:sp>
        <p:nvSpPr>
          <p:cNvPr id="5" name="Text 3"/>
          <p:cNvSpPr txBox="1"/>
          <p:nvPr/>
        </p:nvSpPr>
        <p:spPr>
          <a:xfrm>
            <a:off x="2103120" y="1325880"/>
            <a:ext cx="3108960" cy="228600"/>
          </a:xfrm>
          <a:prstGeom prst="rect">
            <a:avLst/>
          </a:prstGeom>
          <a:noFill/>
          <a:ln/>
        </p:spPr>
        <p:txBody>
          <a:bodyPr wrap="square" lIns="0" tIns="0" rIns="0" bIns="0" rtlCol="0" anchor="ctr"/>
          <a:lstStyle/>
          <a:p>
            <a:pPr indent="0" marL="0">
              <a:buNone/>
            </a:pPr>
            <a:r>
              <a:rPr lang="en-US" sz="800" b="1" spc="100" kern="0" dirty="0">
                <a:solidFill>
                  <a:srgbClr val="7A8593"/>
                </a:solidFill>
                <a:latin typeface="Calibri" pitchFamily="34" charset="0"/>
                <a:ea typeface="Calibri" pitchFamily="34" charset="-122"/>
                <a:cs typeface="Calibri" pitchFamily="34" charset="-120"/>
              </a:rPr>
              <a:t>BEFORE</a:t>
            </a:r>
            <a:endParaRPr lang="en-US" sz="800" dirty="0"/>
          </a:p>
        </p:txBody>
      </p:sp>
      <p:sp>
        <p:nvSpPr>
          <p:cNvPr id="6" name="Text 4"/>
          <p:cNvSpPr txBox="1"/>
          <p:nvPr/>
        </p:nvSpPr>
        <p:spPr>
          <a:xfrm>
            <a:off x="5440680" y="1325880"/>
            <a:ext cx="3108960" cy="22860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WITH THE GATEWAY</a:t>
            </a:r>
            <a:endParaRPr lang="en-US" sz="800" dirty="0"/>
          </a:p>
        </p:txBody>
      </p:sp>
      <p:sp>
        <p:nvSpPr>
          <p:cNvPr id="7" name="Shape 5"/>
          <p:cNvSpPr/>
          <p:nvPr/>
        </p:nvSpPr>
        <p:spPr>
          <a:xfrm>
            <a:off x="411480" y="1600200"/>
            <a:ext cx="8321040" cy="493776"/>
          </a:xfrm>
          <a:prstGeom prst="rect">
            <a:avLst/>
          </a:prstGeom>
          <a:solidFill>
            <a:srgbClr val="F5F7FA"/>
          </a:solidFill>
          <a:ln w="12700">
            <a:solidFill>
              <a:srgbClr val="F5F7FA"/>
            </a:solidFill>
            <a:prstDash val="solid"/>
          </a:ln>
        </p:spPr>
      </p:sp>
      <p:sp>
        <p:nvSpPr>
          <p:cNvPr id="8" name="Text 6"/>
          <p:cNvSpPr txBox="1"/>
          <p:nvPr/>
        </p:nvSpPr>
        <p:spPr>
          <a:xfrm>
            <a:off x="548640" y="1600200"/>
            <a:ext cx="1463040" cy="493776"/>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Finding out</a:t>
            </a:r>
            <a:endParaRPr lang="en-US" sz="1000" dirty="0"/>
          </a:p>
        </p:txBody>
      </p:sp>
      <p:sp>
        <p:nvSpPr>
          <p:cNvPr id="9" name="Text 7"/>
          <p:cNvSpPr txBox="1"/>
          <p:nvPr/>
        </p:nvSpPr>
        <p:spPr>
          <a:xfrm>
            <a:off x="2103120" y="1600200"/>
            <a:ext cx="3108960" cy="49377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Open Bizplay, then COOCON, then FLOW; copy numbers between screens</a:t>
            </a:r>
            <a:endParaRPr lang="en-US" sz="850" dirty="0"/>
          </a:p>
        </p:txBody>
      </p:sp>
      <p:sp>
        <p:nvSpPr>
          <p:cNvPr id="10" name="Text 8"/>
          <p:cNvSpPr txBox="1"/>
          <p:nvPr/>
        </p:nvSpPr>
        <p:spPr>
          <a:xfrm>
            <a:off x="5440680" y="1600200"/>
            <a:ext cx="3108960" cy="493776"/>
          </a:xfrm>
          <a:prstGeom prst="rect">
            <a:avLst/>
          </a:prstGeom>
          <a:noFill/>
          <a:ln/>
        </p:spPr>
        <p:txBody>
          <a:bodyPr wrap="square" lIns="0" tIns="0" rIns="0" bIns="0" rtlCol="0" anchor="ctr"/>
          <a:lstStyle/>
          <a:p>
            <a:pPr indent="0" marL="0">
              <a:buNone/>
            </a:pPr>
            <a:r>
              <a:rPr lang="en-US" sz="850" dirty="0">
                <a:solidFill>
                  <a:srgbClr val="1C2433"/>
                </a:solidFill>
                <a:latin typeface="Calibri" pitchFamily="34" charset="0"/>
                <a:ea typeface="Calibri" pitchFamily="34" charset="-122"/>
                <a:cs typeface="Calibri" pitchFamily="34" charset="-120"/>
              </a:rPr>
              <a:t>Ask once. The assistant reads all three and answers with evidence</a:t>
            </a:r>
            <a:endParaRPr lang="en-US" sz="850" dirty="0"/>
          </a:p>
        </p:txBody>
      </p:sp>
      <p:sp>
        <p:nvSpPr>
          <p:cNvPr id="11" name="Shape 9"/>
          <p:cNvSpPr/>
          <p:nvPr/>
        </p:nvSpPr>
        <p:spPr>
          <a:xfrm>
            <a:off x="411480" y="2167128"/>
            <a:ext cx="8321040" cy="493776"/>
          </a:xfrm>
          <a:prstGeom prst="rect">
            <a:avLst/>
          </a:prstGeom>
          <a:solidFill>
            <a:srgbClr val="FFFFFF"/>
          </a:solidFill>
          <a:ln w="12700">
            <a:solidFill>
              <a:srgbClr val="F5F7FA"/>
            </a:solidFill>
            <a:prstDash val="solid"/>
          </a:ln>
        </p:spPr>
      </p:sp>
      <p:sp>
        <p:nvSpPr>
          <p:cNvPr id="12" name="Text 10"/>
          <p:cNvSpPr txBox="1"/>
          <p:nvPr/>
        </p:nvSpPr>
        <p:spPr>
          <a:xfrm>
            <a:off x="548640" y="2167128"/>
            <a:ext cx="1463040" cy="493776"/>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Signing in</a:t>
            </a:r>
            <a:endParaRPr lang="en-US" sz="1000" dirty="0"/>
          </a:p>
        </p:txBody>
      </p:sp>
      <p:sp>
        <p:nvSpPr>
          <p:cNvPr id="13" name="Text 11"/>
          <p:cNvSpPr txBox="1"/>
          <p:nvPr/>
        </p:nvSpPr>
        <p:spPr>
          <a:xfrm>
            <a:off x="2103120" y="2167128"/>
            <a:ext cx="3108960" cy="49377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A login per product, a token per integration, credentials in chat settings</a:t>
            </a:r>
            <a:endParaRPr lang="en-US" sz="850" dirty="0"/>
          </a:p>
        </p:txBody>
      </p:sp>
      <p:sp>
        <p:nvSpPr>
          <p:cNvPr id="14" name="Text 12"/>
          <p:cNvSpPr txBox="1"/>
          <p:nvPr/>
        </p:nvSpPr>
        <p:spPr>
          <a:xfrm>
            <a:off x="5440680" y="2167128"/>
            <a:ext cx="3108960" cy="493776"/>
          </a:xfrm>
          <a:prstGeom prst="rect">
            <a:avLst/>
          </a:prstGeom>
          <a:noFill/>
          <a:ln/>
        </p:spPr>
        <p:txBody>
          <a:bodyPr wrap="square" lIns="0" tIns="0" rIns="0" bIns="0" rtlCol="0" anchor="ctr"/>
          <a:lstStyle/>
          <a:p>
            <a:pPr indent="0" marL="0">
              <a:buNone/>
            </a:pPr>
            <a:r>
              <a:rPr lang="en-US" sz="850" dirty="0">
                <a:solidFill>
                  <a:srgbClr val="1C2433"/>
                </a:solidFill>
                <a:latin typeface="Calibri" pitchFamily="34" charset="0"/>
                <a:ea typeface="Calibri" pitchFamily="34" charset="-122"/>
                <a:cs typeface="Calibri" pitchFamily="34" charset="-120"/>
              </a:rPr>
              <a:t>One sign-in with the company account; products never see a shared key</a:t>
            </a:r>
            <a:endParaRPr lang="en-US" sz="850" dirty="0"/>
          </a:p>
        </p:txBody>
      </p:sp>
      <p:sp>
        <p:nvSpPr>
          <p:cNvPr id="15" name="Shape 13"/>
          <p:cNvSpPr/>
          <p:nvPr/>
        </p:nvSpPr>
        <p:spPr>
          <a:xfrm>
            <a:off x="411480" y="2734056"/>
            <a:ext cx="8321040" cy="493776"/>
          </a:xfrm>
          <a:prstGeom prst="rect">
            <a:avLst/>
          </a:prstGeom>
          <a:solidFill>
            <a:srgbClr val="F5F7FA"/>
          </a:solidFill>
          <a:ln w="12700">
            <a:solidFill>
              <a:srgbClr val="F5F7FA"/>
            </a:solidFill>
            <a:prstDash val="solid"/>
          </a:ln>
        </p:spPr>
      </p:sp>
      <p:sp>
        <p:nvSpPr>
          <p:cNvPr id="16" name="Text 14"/>
          <p:cNvSpPr txBox="1"/>
          <p:nvPr/>
        </p:nvSpPr>
        <p:spPr>
          <a:xfrm>
            <a:off x="548640" y="2734056"/>
            <a:ext cx="1463040" cy="493776"/>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Acting</a:t>
            </a:r>
            <a:endParaRPr lang="en-US" sz="1000" dirty="0"/>
          </a:p>
        </p:txBody>
      </p:sp>
      <p:sp>
        <p:nvSpPr>
          <p:cNvPr id="17" name="Text 15"/>
          <p:cNvSpPr txBox="1"/>
          <p:nvPr/>
        </p:nvSpPr>
        <p:spPr>
          <a:xfrm>
            <a:off x="2103120" y="2734056"/>
            <a:ext cx="3108960" cy="49377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Register the action request by hand in FLOW after checking</a:t>
            </a:r>
            <a:endParaRPr lang="en-US" sz="850" dirty="0"/>
          </a:p>
        </p:txBody>
      </p:sp>
      <p:sp>
        <p:nvSpPr>
          <p:cNvPr id="18" name="Text 16"/>
          <p:cNvSpPr txBox="1"/>
          <p:nvPr/>
        </p:nvSpPr>
        <p:spPr>
          <a:xfrm>
            <a:off x="5440680" y="2734056"/>
            <a:ext cx="3108960" cy="493776"/>
          </a:xfrm>
          <a:prstGeom prst="rect">
            <a:avLst/>
          </a:prstGeom>
          <a:noFill/>
          <a:ln/>
        </p:spPr>
        <p:txBody>
          <a:bodyPr wrap="square" lIns="0" tIns="0" rIns="0" bIns="0" rtlCol="0" anchor="ctr"/>
          <a:lstStyle/>
          <a:p>
            <a:pPr indent="0" marL="0">
              <a:buNone/>
            </a:pPr>
            <a:r>
              <a:rPr lang="en-US" sz="850" dirty="0">
                <a:solidFill>
                  <a:srgbClr val="1C2433"/>
                </a:solidFill>
                <a:latin typeface="Calibri" pitchFamily="34" charset="0"/>
                <a:ea typeface="Calibri" pitchFamily="34" charset="-122"/>
                <a:cs typeface="Calibri" pitchFamily="34" charset="-120"/>
              </a:rPr>
              <a:t>The assistant drafts it; the customer confirms; it is registered</a:t>
            </a:r>
            <a:endParaRPr lang="en-US" sz="850" dirty="0"/>
          </a:p>
        </p:txBody>
      </p:sp>
      <p:sp>
        <p:nvSpPr>
          <p:cNvPr id="19" name="Shape 17"/>
          <p:cNvSpPr/>
          <p:nvPr/>
        </p:nvSpPr>
        <p:spPr>
          <a:xfrm>
            <a:off x="411480" y="3300984"/>
            <a:ext cx="8321040" cy="493776"/>
          </a:xfrm>
          <a:prstGeom prst="rect">
            <a:avLst/>
          </a:prstGeom>
          <a:solidFill>
            <a:srgbClr val="FFFFFF"/>
          </a:solidFill>
          <a:ln w="12700">
            <a:solidFill>
              <a:srgbClr val="F5F7FA"/>
            </a:solidFill>
            <a:prstDash val="solid"/>
          </a:ln>
        </p:spPr>
      </p:sp>
      <p:sp>
        <p:nvSpPr>
          <p:cNvPr id="20" name="Text 18"/>
          <p:cNvSpPr txBox="1"/>
          <p:nvPr/>
        </p:nvSpPr>
        <p:spPr>
          <a:xfrm>
            <a:off x="548640" y="3300984"/>
            <a:ext cx="1463040" cy="493776"/>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Paying</a:t>
            </a:r>
            <a:endParaRPr lang="en-US" sz="1000" dirty="0"/>
          </a:p>
        </p:txBody>
      </p:sp>
      <p:sp>
        <p:nvSpPr>
          <p:cNvPr id="21" name="Text 19"/>
          <p:cNvSpPr txBox="1"/>
          <p:nvPr/>
        </p:nvSpPr>
        <p:spPr>
          <a:xfrm>
            <a:off x="2103120" y="3300984"/>
            <a:ext cx="3108960" cy="49377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Same approval line as today</a:t>
            </a:r>
            <a:endParaRPr lang="en-US" sz="850" dirty="0"/>
          </a:p>
        </p:txBody>
      </p:sp>
      <p:sp>
        <p:nvSpPr>
          <p:cNvPr id="22" name="Text 20"/>
          <p:cNvSpPr txBox="1"/>
          <p:nvPr/>
        </p:nvSpPr>
        <p:spPr>
          <a:xfrm>
            <a:off x="5440680" y="3300984"/>
            <a:ext cx="3108960" cy="493776"/>
          </a:xfrm>
          <a:prstGeom prst="rect">
            <a:avLst/>
          </a:prstGeom>
          <a:noFill/>
          <a:ln/>
        </p:spPr>
        <p:txBody>
          <a:bodyPr wrap="square" lIns="0" tIns="0" rIns="0" bIns="0" rtlCol="0" anchor="ctr"/>
          <a:lstStyle/>
          <a:p>
            <a:pPr indent="0" marL="0">
              <a:buNone/>
            </a:pPr>
            <a:r>
              <a:rPr lang="en-US" sz="850" dirty="0">
                <a:solidFill>
                  <a:srgbClr val="1C2433"/>
                </a:solidFill>
                <a:latin typeface="Calibri" pitchFamily="34" charset="0"/>
                <a:ea typeface="Calibri" pitchFamily="34" charset="-122"/>
                <a:cs typeface="Calibri" pitchFamily="34" charset="-120"/>
              </a:rPr>
              <a:t>Same approval line as today. The assistant prepares and reports, never executes</a:t>
            </a:r>
            <a:endParaRPr lang="en-US" sz="850" dirty="0"/>
          </a:p>
        </p:txBody>
      </p:sp>
      <p:sp>
        <p:nvSpPr>
          <p:cNvPr id="23" name="Shape 21"/>
          <p:cNvSpPr/>
          <p:nvPr/>
        </p:nvSpPr>
        <p:spPr>
          <a:xfrm>
            <a:off x="411480" y="3867912"/>
            <a:ext cx="8321040" cy="493776"/>
          </a:xfrm>
          <a:prstGeom prst="rect">
            <a:avLst/>
          </a:prstGeom>
          <a:solidFill>
            <a:srgbClr val="F5F7FA"/>
          </a:solidFill>
          <a:ln w="12700">
            <a:solidFill>
              <a:srgbClr val="F5F7FA"/>
            </a:solidFill>
            <a:prstDash val="solid"/>
          </a:ln>
        </p:spPr>
      </p:sp>
      <p:sp>
        <p:nvSpPr>
          <p:cNvPr id="24" name="Text 22"/>
          <p:cNvSpPr txBox="1"/>
          <p:nvPr/>
        </p:nvSpPr>
        <p:spPr>
          <a:xfrm>
            <a:off x="548640" y="3867912"/>
            <a:ext cx="1463040" cy="493776"/>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Accountability</a:t>
            </a:r>
            <a:endParaRPr lang="en-US" sz="1000" dirty="0"/>
          </a:p>
        </p:txBody>
      </p:sp>
      <p:sp>
        <p:nvSpPr>
          <p:cNvPr id="25" name="Text 23"/>
          <p:cNvSpPr txBox="1"/>
          <p:nvPr/>
        </p:nvSpPr>
        <p:spPr>
          <a:xfrm>
            <a:off x="2103120" y="3867912"/>
            <a:ext cx="3108960" cy="49377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Who looked at what is not recorded</a:t>
            </a:r>
            <a:endParaRPr lang="en-US" sz="850" dirty="0"/>
          </a:p>
        </p:txBody>
      </p:sp>
      <p:sp>
        <p:nvSpPr>
          <p:cNvPr id="26" name="Text 24"/>
          <p:cNvSpPr txBox="1"/>
          <p:nvPr/>
        </p:nvSpPr>
        <p:spPr>
          <a:xfrm>
            <a:off x="5440680" y="3867912"/>
            <a:ext cx="3108960" cy="493776"/>
          </a:xfrm>
          <a:prstGeom prst="rect">
            <a:avLst/>
          </a:prstGeom>
          <a:noFill/>
          <a:ln/>
        </p:spPr>
        <p:txBody>
          <a:bodyPr wrap="square" lIns="0" tIns="0" rIns="0" bIns="0" rtlCol="0" anchor="ctr"/>
          <a:lstStyle/>
          <a:p>
            <a:pPr indent="0" marL="0">
              <a:buNone/>
            </a:pPr>
            <a:r>
              <a:rPr lang="en-US" sz="850" dirty="0">
                <a:solidFill>
                  <a:srgbClr val="1C2433"/>
                </a:solidFill>
                <a:latin typeface="Calibri" pitchFamily="34" charset="0"/>
                <a:ea typeface="Calibri" pitchFamily="34" charset="-122"/>
                <a:cs typeface="Calibri" pitchFamily="34" charset="-120"/>
              </a:rPr>
              <a:t>Every call, refusal and sign-in recorded with the reason</a:t>
            </a:r>
            <a:endParaRPr lang="en-US" sz="850" dirty="0"/>
          </a:p>
        </p:txBody>
      </p:sp>
      <p:sp>
        <p:nvSpPr>
          <p:cNvPr id="27" name="Text 25"/>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28" name="Text 26"/>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MECHANISM</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How it works</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Two loops: a product team registers once; the gateway serves every request after that.</a:t>
            </a:r>
            <a:endParaRPr lang="en-US" sz="1100" dirty="0"/>
          </a:p>
        </p:txBody>
      </p:sp>
      <p:sp>
        <p:nvSpPr>
          <p:cNvPr id="5" name="Shape 3"/>
          <p:cNvSpPr/>
          <p:nvPr/>
        </p:nvSpPr>
        <p:spPr>
          <a:xfrm>
            <a:off x="411480" y="1325880"/>
            <a:ext cx="4023360" cy="3291840"/>
          </a:xfrm>
          <a:prstGeom prst="roundRect">
            <a:avLst>
              <a:gd name="adj" fmla="val 1667"/>
            </a:avLst>
          </a:prstGeom>
          <a:solidFill>
            <a:srgbClr val="FFFFFF"/>
          </a:solidFill>
          <a:ln w="9525">
            <a:solidFill>
              <a:srgbClr val="D9E0EA"/>
            </a:solidFill>
            <a:prstDash val="solid"/>
          </a:ln>
        </p:spPr>
      </p:sp>
      <p:sp>
        <p:nvSpPr>
          <p:cNvPr id="6" name="Text 4"/>
          <p:cNvSpPr txBox="1"/>
          <p:nvPr/>
        </p:nvSpPr>
        <p:spPr>
          <a:xfrm>
            <a:off x="594360" y="1463040"/>
            <a:ext cx="36576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REGISTER A PRODUCT, ONCE</a:t>
            </a:r>
            <a:endParaRPr lang="en-US" sz="800" dirty="0"/>
          </a:p>
        </p:txBody>
      </p:sp>
      <p:sp>
        <p:nvSpPr>
          <p:cNvPr id="7" name="Shape 5"/>
          <p:cNvSpPr/>
          <p:nvPr/>
        </p:nvSpPr>
        <p:spPr>
          <a:xfrm>
            <a:off x="594360" y="1819656"/>
            <a:ext cx="292608" cy="292608"/>
          </a:xfrm>
          <a:prstGeom prst="ellipse">
            <a:avLst/>
          </a:prstGeom>
          <a:solidFill>
            <a:srgbClr val="14213D"/>
          </a:solidFill>
          <a:ln w="12700">
            <a:solidFill>
              <a:srgbClr val="14213D"/>
            </a:solidFill>
            <a:prstDash val="solid"/>
          </a:ln>
        </p:spPr>
      </p:sp>
      <p:sp>
        <p:nvSpPr>
          <p:cNvPr id="8" name="Text 6"/>
          <p:cNvSpPr txBox="1"/>
          <p:nvPr/>
        </p:nvSpPr>
        <p:spPr>
          <a:xfrm>
            <a:off x="594360" y="181965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txBox="1"/>
          <p:nvPr/>
        </p:nvSpPr>
        <p:spPr>
          <a:xfrm>
            <a:off x="1005840" y="1783080"/>
            <a:ext cx="3200400" cy="219456"/>
          </a:xfrm>
          <a:prstGeom prst="rect">
            <a:avLst/>
          </a:prstGeom>
          <a:noFill/>
          <a:ln/>
        </p:spPr>
        <p:txBody>
          <a:bodyPr wrap="square" lIns="0" tIns="0" rIns="0" bIns="0" rtlCol="0" anchor="ctr"/>
          <a:lstStyle/>
          <a:p>
            <a:pPr indent="0" marL="0">
              <a:buNone/>
            </a:pPr>
            <a:r>
              <a:rPr lang="en-US" sz="1000" b="1" dirty="0">
                <a:solidFill>
                  <a:srgbClr val="1C2433"/>
                </a:solidFill>
                <a:latin typeface="Calibri" pitchFamily="34" charset="0"/>
                <a:ea typeface="Calibri" pitchFamily="34" charset="-122"/>
                <a:cs typeface="Calibri" pitchFamily="34" charset="-120"/>
              </a:rPr>
              <a:t>Register</a:t>
            </a:r>
            <a:endParaRPr lang="en-US" sz="1000" dirty="0"/>
          </a:p>
        </p:txBody>
      </p:sp>
      <p:sp>
        <p:nvSpPr>
          <p:cNvPr id="10" name="Text 8"/>
          <p:cNvSpPr txBox="1"/>
          <p:nvPr/>
        </p:nvSpPr>
        <p:spPr>
          <a:xfrm>
            <a:off x="1005840" y="2002536"/>
            <a:ext cx="3200400" cy="420624"/>
          </a:xfrm>
          <a:prstGeom prst="rect">
            <a:avLst/>
          </a:prstGeom>
          <a:noFill/>
          <a:ln/>
        </p:spPr>
        <p:txBody>
          <a:bodyPr wrap="square" lIns="0" tIns="0" rIns="0" bIns="0" rtlCol="0" anchor="ctr"/>
          <a:lstStyle/>
          <a:p>
            <a:pPr indent="0" marL="0">
              <a:buNone/>
            </a:pPr>
            <a:r>
              <a:rPr lang="en-US" sz="780" dirty="0">
                <a:solidFill>
                  <a:srgbClr val="4A5568"/>
                </a:solidFill>
                <a:latin typeface="Calibri" pitchFamily="34" charset="0"/>
                <a:ea typeface="Calibri" pitchFamily="34" charset="-122"/>
                <a:cs typeface="Calibri" pitchFamily="34" charset="-120"/>
              </a:rPr>
              <a:t>Paste the product's OpenAPI spec, or the address of its MCP server. Say how it is protected.</a:t>
            </a:r>
            <a:endParaRPr lang="en-US" sz="780" dirty="0"/>
          </a:p>
        </p:txBody>
      </p:sp>
      <p:sp>
        <p:nvSpPr>
          <p:cNvPr id="11" name="Shape 9"/>
          <p:cNvSpPr/>
          <p:nvPr/>
        </p:nvSpPr>
        <p:spPr>
          <a:xfrm>
            <a:off x="594360" y="2478024"/>
            <a:ext cx="292608" cy="292608"/>
          </a:xfrm>
          <a:prstGeom prst="ellipse">
            <a:avLst/>
          </a:prstGeom>
          <a:solidFill>
            <a:srgbClr val="14213D"/>
          </a:solidFill>
          <a:ln w="12700">
            <a:solidFill>
              <a:srgbClr val="14213D"/>
            </a:solidFill>
            <a:prstDash val="solid"/>
          </a:ln>
        </p:spPr>
      </p:sp>
      <p:sp>
        <p:nvSpPr>
          <p:cNvPr id="12" name="Text 10"/>
          <p:cNvSpPr txBox="1"/>
          <p:nvPr/>
        </p:nvSpPr>
        <p:spPr>
          <a:xfrm>
            <a:off x="594360" y="247802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txBox="1"/>
          <p:nvPr/>
        </p:nvSpPr>
        <p:spPr>
          <a:xfrm>
            <a:off x="1005840" y="2441448"/>
            <a:ext cx="3200400" cy="219456"/>
          </a:xfrm>
          <a:prstGeom prst="rect">
            <a:avLst/>
          </a:prstGeom>
          <a:noFill/>
          <a:ln/>
        </p:spPr>
        <p:txBody>
          <a:bodyPr wrap="square" lIns="0" tIns="0" rIns="0" bIns="0" rtlCol="0" anchor="ctr"/>
          <a:lstStyle/>
          <a:p>
            <a:pPr indent="0" marL="0">
              <a:buNone/>
            </a:pPr>
            <a:r>
              <a:rPr lang="en-US" sz="1000" b="1" dirty="0">
                <a:solidFill>
                  <a:srgbClr val="1C2433"/>
                </a:solidFill>
                <a:latin typeface="Calibri" pitchFamily="34" charset="0"/>
                <a:ea typeface="Calibri" pitchFamily="34" charset="-122"/>
                <a:cs typeface="Calibri" pitchFamily="34" charset="-120"/>
              </a:rPr>
              <a:t>Tools appear</a:t>
            </a:r>
            <a:endParaRPr lang="en-US" sz="1000" dirty="0"/>
          </a:p>
        </p:txBody>
      </p:sp>
      <p:sp>
        <p:nvSpPr>
          <p:cNvPr id="14" name="Text 12"/>
          <p:cNvSpPr txBox="1"/>
          <p:nvPr/>
        </p:nvSpPr>
        <p:spPr>
          <a:xfrm>
            <a:off x="1005840" y="2660904"/>
            <a:ext cx="3200400" cy="420624"/>
          </a:xfrm>
          <a:prstGeom prst="rect">
            <a:avLst/>
          </a:prstGeom>
          <a:noFill/>
          <a:ln/>
        </p:spPr>
        <p:txBody>
          <a:bodyPr wrap="square" lIns="0" tIns="0" rIns="0" bIns="0" rtlCol="0" anchor="ctr"/>
          <a:lstStyle/>
          <a:p>
            <a:pPr indent="0" marL="0">
              <a:buNone/>
            </a:pPr>
            <a:r>
              <a:rPr lang="en-US" sz="780" dirty="0">
                <a:solidFill>
                  <a:srgbClr val="4A5568"/>
                </a:solidFill>
                <a:latin typeface="Calibri" pitchFamily="34" charset="0"/>
                <a:ea typeface="Calibri" pitchFamily="34" charset="-122"/>
                <a:cs typeface="Calibri" pitchFamily="34" charset="-120"/>
              </a:rPr>
              <a:t>One tool per operation, or the server's own list. Lookups start on; anything that changes data starts off.</a:t>
            </a:r>
            <a:endParaRPr lang="en-US" sz="780" dirty="0"/>
          </a:p>
        </p:txBody>
      </p:sp>
      <p:sp>
        <p:nvSpPr>
          <p:cNvPr id="15" name="Shape 13"/>
          <p:cNvSpPr/>
          <p:nvPr/>
        </p:nvSpPr>
        <p:spPr>
          <a:xfrm>
            <a:off x="594360" y="3136392"/>
            <a:ext cx="292608" cy="292608"/>
          </a:xfrm>
          <a:prstGeom prst="ellipse">
            <a:avLst/>
          </a:prstGeom>
          <a:solidFill>
            <a:srgbClr val="14213D"/>
          </a:solidFill>
          <a:ln w="12700">
            <a:solidFill>
              <a:srgbClr val="14213D"/>
            </a:solidFill>
            <a:prstDash val="solid"/>
          </a:ln>
        </p:spPr>
      </p:sp>
      <p:sp>
        <p:nvSpPr>
          <p:cNvPr id="16" name="Text 14"/>
          <p:cNvSpPr txBox="1"/>
          <p:nvPr/>
        </p:nvSpPr>
        <p:spPr>
          <a:xfrm>
            <a:off x="594360" y="31363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5"/>
          <p:cNvSpPr txBox="1"/>
          <p:nvPr/>
        </p:nvSpPr>
        <p:spPr>
          <a:xfrm>
            <a:off x="1005840" y="3099816"/>
            <a:ext cx="3200400" cy="219456"/>
          </a:xfrm>
          <a:prstGeom prst="rect">
            <a:avLst/>
          </a:prstGeom>
          <a:noFill/>
          <a:ln/>
        </p:spPr>
        <p:txBody>
          <a:bodyPr wrap="square" lIns="0" tIns="0" rIns="0" bIns="0" rtlCol="0" anchor="ctr"/>
          <a:lstStyle/>
          <a:p>
            <a:pPr indent="0" marL="0">
              <a:buNone/>
            </a:pPr>
            <a:r>
              <a:rPr lang="en-US" sz="1000" b="1" dirty="0">
                <a:solidFill>
                  <a:srgbClr val="1C2433"/>
                </a:solidFill>
                <a:latin typeface="Calibri" pitchFamily="34" charset="0"/>
                <a:ea typeface="Calibri" pitchFamily="34" charset="-122"/>
                <a:cs typeface="Calibri" pitchFamily="34" charset="-120"/>
              </a:rPr>
              <a:t>Describe and classify</a:t>
            </a:r>
            <a:endParaRPr lang="en-US" sz="1000" dirty="0"/>
          </a:p>
        </p:txBody>
      </p:sp>
      <p:sp>
        <p:nvSpPr>
          <p:cNvPr id="18" name="Text 16"/>
          <p:cNvSpPr txBox="1"/>
          <p:nvPr/>
        </p:nvSpPr>
        <p:spPr>
          <a:xfrm>
            <a:off x="1005840" y="3319272"/>
            <a:ext cx="3200400" cy="420624"/>
          </a:xfrm>
          <a:prstGeom prst="rect">
            <a:avLst/>
          </a:prstGeom>
          <a:noFill/>
          <a:ln/>
        </p:spPr>
        <p:txBody>
          <a:bodyPr wrap="square" lIns="0" tIns="0" rIns="0" bIns="0" rtlCol="0" anchor="ctr"/>
          <a:lstStyle/>
          <a:p>
            <a:pPr indent="0" marL="0">
              <a:buNone/>
            </a:pPr>
            <a:r>
              <a:rPr lang="en-US" sz="780" dirty="0">
                <a:solidFill>
                  <a:srgbClr val="4A5568"/>
                </a:solidFill>
                <a:latin typeface="Calibri" pitchFamily="34" charset="0"/>
                <a:ea typeface="Calibri" pitchFamily="34" charset="-122"/>
                <a:cs typeface="Calibri" pitchFamily="34" charset="-120"/>
              </a:rPr>
              <a:t>Edit what the AI reads about each tool. Mark risk: lookup, draft, execute.</a:t>
            </a:r>
            <a:endParaRPr lang="en-US" sz="780" dirty="0"/>
          </a:p>
        </p:txBody>
      </p:sp>
      <p:sp>
        <p:nvSpPr>
          <p:cNvPr id="19" name="Shape 17"/>
          <p:cNvSpPr/>
          <p:nvPr/>
        </p:nvSpPr>
        <p:spPr>
          <a:xfrm>
            <a:off x="594360" y="3794760"/>
            <a:ext cx="292608" cy="292608"/>
          </a:xfrm>
          <a:prstGeom prst="ellipse">
            <a:avLst/>
          </a:prstGeom>
          <a:solidFill>
            <a:srgbClr val="14213D"/>
          </a:solidFill>
          <a:ln w="12700">
            <a:solidFill>
              <a:srgbClr val="14213D"/>
            </a:solidFill>
            <a:prstDash val="solid"/>
          </a:ln>
        </p:spPr>
      </p:sp>
      <p:sp>
        <p:nvSpPr>
          <p:cNvPr id="20" name="Text 18"/>
          <p:cNvSpPr txBox="1"/>
          <p:nvPr/>
        </p:nvSpPr>
        <p:spPr>
          <a:xfrm>
            <a:off x="594360" y="37947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9"/>
          <p:cNvSpPr txBox="1"/>
          <p:nvPr/>
        </p:nvSpPr>
        <p:spPr>
          <a:xfrm>
            <a:off x="1005840" y="3758184"/>
            <a:ext cx="3200400" cy="219456"/>
          </a:xfrm>
          <a:prstGeom prst="rect">
            <a:avLst/>
          </a:prstGeom>
          <a:noFill/>
          <a:ln/>
        </p:spPr>
        <p:txBody>
          <a:bodyPr wrap="square" lIns="0" tIns="0" rIns="0" bIns="0" rtlCol="0" anchor="ctr"/>
          <a:lstStyle/>
          <a:p>
            <a:pPr indent="0" marL="0">
              <a:buNone/>
            </a:pPr>
            <a:r>
              <a:rPr lang="en-US" sz="1000" b="1" dirty="0">
                <a:solidFill>
                  <a:srgbClr val="1C2433"/>
                </a:solidFill>
                <a:latin typeface="Calibri" pitchFamily="34" charset="0"/>
                <a:ea typeface="Calibri" pitchFamily="34" charset="-122"/>
                <a:cs typeface="Calibri" pitchFamily="34" charset="-120"/>
              </a:rPr>
              <a:t>Activate per customer</a:t>
            </a:r>
            <a:endParaRPr lang="en-US" sz="1000" dirty="0"/>
          </a:p>
        </p:txBody>
      </p:sp>
      <p:sp>
        <p:nvSpPr>
          <p:cNvPr id="22" name="Text 20"/>
          <p:cNvSpPr txBox="1"/>
          <p:nvPr/>
        </p:nvSpPr>
        <p:spPr>
          <a:xfrm>
            <a:off x="1005840" y="3977640"/>
            <a:ext cx="3200400" cy="420624"/>
          </a:xfrm>
          <a:prstGeom prst="rect">
            <a:avLst/>
          </a:prstGeom>
          <a:noFill/>
          <a:ln/>
        </p:spPr>
        <p:txBody>
          <a:bodyPr wrap="square" lIns="0" tIns="0" rIns="0" bIns="0" rtlCol="0" anchor="ctr"/>
          <a:lstStyle/>
          <a:p>
            <a:pPr indent="0" marL="0">
              <a:buNone/>
            </a:pPr>
            <a:r>
              <a:rPr lang="en-US" sz="780" dirty="0">
                <a:solidFill>
                  <a:srgbClr val="4A5568"/>
                </a:solidFill>
                <a:latin typeface="Calibri" pitchFamily="34" charset="0"/>
                <a:ea typeface="Calibri" pitchFamily="34" charset="-122"/>
                <a:cs typeface="Calibri" pitchFamily="34" charset="-120"/>
              </a:rPr>
              <a:t>Which customers and roles see which tools. A gateway address per product line or customer group.</a:t>
            </a:r>
            <a:endParaRPr lang="en-US" sz="780" dirty="0"/>
          </a:p>
        </p:txBody>
      </p:sp>
      <p:sp>
        <p:nvSpPr>
          <p:cNvPr id="23" name="Text 21"/>
          <p:cNvSpPr txBox="1"/>
          <p:nvPr/>
        </p:nvSpPr>
        <p:spPr>
          <a:xfrm>
            <a:off x="594360" y="4343400"/>
            <a:ext cx="3657600" cy="228600"/>
          </a:xfrm>
          <a:prstGeom prst="rect">
            <a:avLst/>
          </a:prstGeom>
          <a:noFill/>
          <a:ln/>
        </p:spPr>
        <p:txBody>
          <a:bodyPr wrap="square" lIns="0" tIns="0" rIns="0" bIns="0" rtlCol="0" anchor="ctr"/>
          <a:lstStyle/>
          <a:p>
            <a:pPr indent="0" marL="0">
              <a:buNone/>
            </a:pPr>
            <a:r>
              <a:rPr lang="en-US" sz="750" i="1" dirty="0">
                <a:solidFill>
                  <a:srgbClr val="7A8593"/>
                </a:solidFill>
                <a:latin typeface="Calibri" pitchFamily="34" charset="0"/>
                <a:ea typeface="Calibri" pitchFamily="34" charset="-122"/>
                <a:cs typeface="Calibri" pitchFamily="34" charset="-120"/>
              </a:rPr>
              <a:t>Takes effect on the next request. No release, no restart.</a:t>
            </a:r>
            <a:endParaRPr lang="en-US" sz="750" dirty="0"/>
          </a:p>
        </p:txBody>
      </p:sp>
      <p:sp>
        <p:nvSpPr>
          <p:cNvPr id="24" name="Shape 22"/>
          <p:cNvSpPr/>
          <p:nvPr/>
        </p:nvSpPr>
        <p:spPr>
          <a:xfrm>
            <a:off x="4709160" y="1325880"/>
            <a:ext cx="4023360" cy="3291840"/>
          </a:xfrm>
          <a:prstGeom prst="roundRect">
            <a:avLst>
              <a:gd name="adj" fmla="val 1667"/>
            </a:avLst>
          </a:prstGeom>
          <a:solidFill>
            <a:srgbClr val="FFFFFF"/>
          </a:solidFill>
          <a:ln w="9525">
            <a:solidFill>
              <a:srgbClr val="0F766E"/>
            </a:solidFill>
            <a:prstDash val="solid"/>
          </a:ln>
        </p:spPr>
      </p:sp>
      <p:sp>
        <p:nvSpPr>
          <p:cNvPr id="25" name="Text 23"/>
          <p:cNvSpPr txBox="1"/>
          <p:nvPr/>
        </p:nvSpPr>
        <p:spPr>
          <a:xfrm>
            <a:off x="4892040" y="1463040"/>
            <a:ext cx="36576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SERVE A REQUEST, EVERY TIME</a:t>
            </a:r>
            <a:endParaRPr lang="en-US" sz="800" dirty="0"/>
          </a:p>
        </p:txBody>
      </p:sp>
      <p:sp>
        <p:nvSpPr>
          <p:cNvPr id="26" name="Shape 24"/>
          <p:cNvSpPr/>
          <p:nvPr/>
        </p:nvSpPr>
        <p:spPr>
          <a:xfrm>
            <a:off x="4892040" y="1810512"/>
            <a:ext cx="274320" cy="274320"/>
          </a:xfrm>
          <a:prstGeom prst="ellipse">
            <a:avLst/>
          </a:prstGeom>
          <a:solidFill>
            <a:srgbClr val="0F766E"/>
          </a:solidFill>
          <a:ln w="12700">
            <a:solidFill>
              <a:srgbClr val="0F766E"/>
            </a:solidFill>
            <a:prstDash val="solid"/>
          </a:ln>
        </p:spPr>
      </p:sp>
      <p:sp>
        <p:nvSpPr>
          <p:cNvPr id="27" name="Text 25"/>
          <p:cNvSpPr txBox="1"/>
          <p:nvPr/>
        </p:nvSpPr>
        <p:spPr>
          <a:xfrm>
            <a:off x="4892040" y="1810512"/>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8" name="Text 26"/>
          <p:cNvSpPr txBox="1"/>
          <p:nvPr/>
        </p:nvSpPr>
        <p:spPr>
          <a:xfrm>
            <a:off x="5285232" y="1783080"/>
            <a:ext cx="3246120" cy="201168"/>
          </a:xfrm>
          <a:prstGeom prst="rect">
            <a:avLst/>
          </a:prstGeom>
          <a:noFill/>
          <a:ln/>
        </p:spPr>
        <p:txBody>
          <a:bodyPr wrap="square" lIns="0" tIns="0" rIns="0" bIns="0" rtlCol="0" anchor="ctr"/>
          <a:lstStyle/>
          <a:p>
            <a:pPr indent="0" marL="0">
              <a:buNone/>
            </a:pPr>
            <a:r>
              <a:rPr lang="en-US" sz="1000" b="1" dirty="0">
                <a:solidFill>
                  <a:srgbClr val="1C2433"/>
                </a:solidFill>
                <a:latin typeface="Calibri" pitchFamily="34" charset="0"/>
                <a:ea typeface="Calibri" pitchFamily="34" charset="-122"/>
                <a:cs typeface="Calibri" pitchFamily="34" charset="-120"/>
              </a:rPr>
              <a:t>Identify</a:t>
            </a:r>
            <a:endParaRPr lang="en-US" sz="1000" dirty="0"/>
          </a:p>
        </p:txBody>
      </p:sp>
      <p:sp>
        <p:nvSpPr>
          <p:cNvPr id="29" name="Text 27"/>
          <p:cNvSpPr txBox="1"/>
          <p:nvPr/>
        </p:nvSpPr>
        <p:spPr>
          <a:xfrm>
            <a:off x="5285232" y="1984248"/>
            <a:ext cx="3246120" cy="310896"/>
          </a:xfrm>
          <a:prstGeom prst="rect">
            <a:avLst/>
          </a:prstGeom>
          <a:noFill/>
          <a:ln/>
        </p:spPr>
        <p:txBody>
          <a:bodyPr wrap="square" lIns="0" tIns="0" rIns="0" bIns="0" rtlCol="0" anchor="ctr"/>
          <a:lstStyle/>
          <a:p>
            <a:pPr indent="0" marL="0">
              <a:buNone/>
            </a:pPr>
            <a:r>
              <a:rPr lang="en-US" sz="780" dirty="0">
                <a:solidFill>
                  <a:srgbClr val="4A5568"/>
                </a:solidFill>
                <a:latin typeface="Calibri" pitchFamily="34" charset="0"/>
                <a:ea typeface="Calibri" pitchFamily="34" charset="-122"/>
                <a:cs typeface="Calibri" pitchFamily="34" charset="-120"/>
              </a:rPr>
              <a:t>The call carries the customer's sign-in. Missing or expired: the assistant is told where to sign in.</a:t>
            </a:r>
            <a:endParaRPr lang="en-US" sz="780" dirty="0"/>
          </a:p>
        </p:txBody>
      </p:sp>
      <p:sp>
        <p:nvSpPr>
          <p:cNvPr id="30" name="Shape 28"/>
          <p:cNvSpPr/>
          <p:nvPr/>
        </p:nvSpPr>
        <p:spPr>
          <a:xfrm>
            <a:off x="4892040" y="2340864"/>
            <a:ext cx="274320" cy="274320"/>
          </a:xfrm>
          <a:prstGeom prst="ellipse">
            <a:avLst/>
          </a:prstGeom>
          <a:solidFill>
            <a:srgbClr val="0F766E"/>
          </a:solidFill>
          <a:ln w="12700">
            <a:solidFill>
              <a:srgbClr val="0F766E"/>
            </a:solidFill>
            <a:prstDash val="solid"/>
          </a:ln>
        </p:spPr>
      </p:sp>
      <p:sp>
        <p:nvSpPr>
          <p:cNvPr id="31" name="Text 29"/>
          <p:cNvSpPr txBox="1"/>
          <p:nvPr/>
        </p:nvSpPr>
        <p:spPr>
          <a:xfrm>
            <a:off x="4892040" y="2340864"/>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32" name="Text 30"/>
          <p:cNvSpPr txBox="1"/>
          <p:nvPr/>
        </p:nvSpPr>
        <p:spPr>
          <a:xfrm>
            <a:off x="5285232" y="2313432"/>
            <a:ext cx="3246120" cy="201168"/>
          </a:xfrm>
          <a:prstGeom prst="rect">
            <a:avLst/>
          </a:prstGeom>
          <a:noFill/>
          <a:ln/>
        </p:spPr>
        <p:txBody>
          <a:bodyPr wrap="square" lIns="0" tIns="0" rIns="0" bIns="0" rtlCol="0" anchor="ctr"/>
          <a:lstStyle/>
          <a:p>
            <a:pPr indent="0" marL="0">
              <a:buNone/>
            </a:pPr>
            <a:r>
              <a:rPr lang="en-US" sz="1000" b="1" dirty="0">
                <a:solidFill>
                  <a:srgbClr val="1C2433"/>
                </a:solidFill>
                <a:latin typeface="Calibri" pitchFamily="34" charset="0"/>
                <a:ea typeface="Calibri" pitchFamily="34" charset="-122"/>
                <a:cs typeface="Calibri" pitchFamily="34" charset="-120"/>
              </a:rPr>
              <a:t>Authorize</a:t>
            </a:r>
            <a:endParaRPr lang="en-US" sz="1000" dirty="0"/>
          </a:p>
        </p:txBody>
      </p:sp>
      <p:sp>
        <p:nvSpPr>
          <p:cNvPr id="33" name="Text 31"/>
          <p:cNvSpPr txBox="1"/>
          <p:nvPr/>
        </p:nvSpPr>
        <p:spPr>
          <a:xfrm>
            <a:off x="5285232" y="2514600"/>
            <a:ext cx="3246120" cy="310896"/>
          </a:xfrm>
          <a:prstGeom prst="rect">
            <a:avLst/>
          </a:prstGeom>
          <a:noFill/>
          <a:ln/>
        </p:spPr>
        <p:txBody>
          <a:bodyPr wrap="square" lIns="0" tIns="0" rIns="0" bIns="0" rtlCol="0" anchor="ctr"/>
          <a:lstStyle/>
          <a:p>
            <a:pPr indent="0" marL="0">
              <a:buNone/>
            </a:pPr>
            <a:r>
              <a:rPr lang="en-US" sz="780" dirty="0">
                <a:solidFill>
                  <a:srgbClr val="4A5568"/>
                </a:solidFill>
                <a:latin typeface="Calibri" pitchFamily="34" charset="0"/>
                <a:ea typeface="Calibri" pitchFamily="34" charset="-122"/>
                <a:cs typeface="Calibri" pitchFamily="34" charset="-120"/>
              </a:rPr>
              <a:t>Allowed on this gateway, this product, this tool? Refused with the reason if not.</a:t>
            </a:r>
            <a:endParaRPr lang="en-US" sz="780" dirty="0"/>
          </a:p>
        </p:txBody>
      </p:sp>
      <p:sp>
        <p:nvSpPr>
          <p:cNvPr id="34" name="Shape 32"/>
          <p:cNvSpPr/>
          <p:nvPr/>
        </p:nvSpPr>
        <p:spPr>
          <a:xfrm>
            <a:off x="4892040" y="2871216"/>
            <a:ext cx="274320" cy="274320"/>
          </a:xfrm>
          <a:prstGeom prst="ellipse">
            <a:avLst/>
          </a:prstGeom>
          <a:solidFill>
            <a:srgbClr val="0F766E"/>
          </a:solidFill>
          <a:ln w="12700">
            <a:solidFill>
              <a:srgbClr val="0F766E"/>
            </a:solidFill>
            <a:prstDash val="solid"/>
          </a:ln>
        </p:spPr>
      </p:sp>
      <p:sp>
        <p:nvSpPr>
          <p:cNvPr id="35" name="Text 33"/>
          <p:cNvSpPr txBox="1"/>
          <p:nvPr/>
        </p:nvSpPr>
        <p:spPr>
          <a:xfrm>
            <a:off x="4892040" y="2871216"/>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36" name="Text 34"/>
          <p:cNvSpPr txBox="1"/>
          <p:nvPr/>
        </p:nvSpPr>
        <p:spPr>
          <a:xfrm>
            <a:off x="5285232" y="2843784"/>
            <a:ext cx="3246120" cy="201168"/>
          </a:xfrm>
          <a:prstGeom prst="rect">
            <a:avLst/>
          </a:prstGeom>
          <a:noFill/>
          <a:ln/>
        </p:spPr>
        <p:txBody>
          <a:bodyPr wrap="square" lIns="0" tIns="0" rIns="0" bIns="0" rtlCol="0" anchor="ctr"/>
          <a:lstStyle/>
          <a:p>
            <a:pPr indent="0" marL="0">
              <a:buNone/>
            </a:pPr>
            <a:r>
              <a:rPr lang="en-US" sz="1000" b="1" dirty="0">
                <a:solidFill>
                  <a:srgbClr val="1C2433"/>
                </a:solidFill>
                <a:latin typeface="Calibri" pitchFamily="34" charset="0"/>
                <a:ea typeface="Calibri" pitchFamily="34" charset="-122"/>
                <a:cs typeface="Calibri" pitchFamily="34" charset="-120"/>
              </a:rPr>
              <a:t>Scope</a:t>
            </a:r>
            <a:endParaRPr lang="en-US" sz="1000" dirty="0"/>
          </a:p>
        </p:txBody>
      </p:sp>
      <p:sp>
        <p:nvSpPr>
          <p:cNvPr id="37" name="Text 35"/>
          <p:cNvSpPr txBox="1"/>
          <p:nvPr/>
        </p:nvSpPr>
        <p:spPr>
          <a:xfrm>
            <a:off x="5285232" y="3044952"/>
            <a:ext cx="3246120" cy="310896"/>
          </a:xfrm>
          <a:prstGeom prst="rect">
            <a:avLst/>
          </a:prstGeom>
          <a:noFill/>
          <a:ln/>
        </p:spPr>
        <p:txBody>
          <a:bodyPr wrap="square" lIns="0" tIns="0" rIns="0" bIns="0" rtlCol="0" anchor="ctr"/>
          <a:lstStyle/>
          <a:p>
            <a:pPr indent="0" marL="0">
              <a:buNone/>
            </a:pPr>
            <a:r>
              <a:rPr lang="en-US" sz="780" dirty="0">
                <a:solidFill>
                  <a:srgbClr val="4A5568"/>
                </a:solidFill>
                <a:latin typeface="Calibri" pitchFamily="34" charset="0"/>
                <a:ea typeface="Calibri" pitchFamily="34" charset="-122"/>
                <a:cs typeface="Calibri" pitchFamily="34" charset="-120"/>
              </a:rPr>
              <a:t>Arguments naming another organization are refused; results for other organizations are removed.</a:t>
            </a:r>
            <a:endParaRPr lang="en-US" sz="780" dirty="0"/>
          </a:p>
        </p:txBody>
      </p:sp>
      <p:sp>
        <p:nvSpPr>
          <p:cNvPr id="38" name="Shape 36"/>
          <p:cNvSpPr/>
          <p:nvPr/>
        </p:nvSpPr>
        <p:spPr>
          <a:xfrm>
            <a:off x="4892040" y="3401568"/>
            <a:ext cx="274320" cy="274320"/>
          </a:xfrm>
          <a:prstGeom prst="ellipse">
            <a:avLst/>
          </a:prstGeom>
          <a:solidFill>
            <a:srgbClr val="0F766E"/>
          </a:solidFill>
          <a:ln w="12700">
            <a:solidFill>
              <a:srgbClr val="0F766E"/>
            </a:solidFill>
            <a:prstDash val="solid"/>
          </a:ln>
        </p:spPr>
      </p:sp>
      <p:sp>
        <p:nvSpPr>
          <p:cNvPr id="39" name="Text 37"/>
          <p:cNvSpPr txBox="1"/>
          <p:nvPr/>
        </p:nvSpPr>
        <p:spPr>
          <a:xfrm>
            <a:off x="4892040" y="3401568"/>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40" name="Text 38"/>
          <p:cNvSpPr txBox="1"/>
          <p:nvPr/>
        </p:nvSpPr>
        <p:spPr>
          <a:xfrm>
            <a:off x="5285232" y="3374136"/>
            <a:ext cx="3246120" cy="201168"/>
          </a:xfrm>
          <a:prstGeom prst="rect">
            <a:avLst/>
          </a:prstGeom>
          <a:noFill/>
          <a:ln/>
        </p:spPr>
        <p:txBody>
          <a:bodyPr wrap="square" lIns="0" tIns="0" rIns="0" bIns="0" rtlCol="0" anchor="ctr"/>
          <a:lstStyle/>
          <a:p>
            <a:pPr indent="0" marL="0">
              <a:buNone/>
            </a:pPr>
            <a:r>
              <a:rPr lang="en-US" sz="1000" b="1" dirty="0">
                <a:solidFill>
                  <a:srgbClr val="1C2433"/>
                </a:solidFill>
                <a:latin typeface="Calibri" pitchFamily="34" charset="0"/>
                <a:ea typeface="Calibri" pitchFamily="34" charset="-122"/>
                <a:cs typeface="Calibri" pitchFamily="34" charset="-120"/>
              </a:rPr>
              <a:t>Broker the credential</a:t>
            </a:r>
            <a:endParaRPr lang="en-US" sz="1000" dirty="0"/>
          </a:p>
        </p:txBody>
      </p:sp>
      <p:sp>
        <p:nvSpPr>
          <p:cNvPr id="41" name="Text 39"/>
          <p:cNvSpPr txBox="1"/>
          <p:nvPr/>
        </p:nvSpPr>
        <p:spPr>
          <a:xfrm>
            <a:off x="5285232" y="3575304"/>
            <a:ext cx="3246120" cy="310896"/>
          </a:xfrm>
          <a:prstGeom prst="rect">
            <a:avLst/>
          </a:prstGeom>
          <a:noFill/>
          <a:ln/>
        </p:spPr>
        <p:txBody>
          <a:bodyPr wrap="square" lIns="0" tIns="0" rIns="0" bIns="0" rtlCol="0" anchor="ctr"/>
          <a:lstStyle/>
          <a:p>
            <a:pPr indent="0" marL="0">
              <a:buNone/>
            </a:pPr>
            <a:r>
              <a:rPr lang="en-US" sz="780" dirty="0">
                <a:solidFill>
                  <a:srgbClr val="4A5568"/>
                </a:solidFill>
                <a:latin typeface="Calibri" pitchFamily="34" charset="0"/>
                <a:ea typeface="Calibri" pitchFamily="34" charset="-122"/>
                <a:cs typeface="Calibri" pitchFamily="34" charset="-120"/>
              </a:rPr>
              <a:t>The product receives its own credential for this customer, never the AI vendor's token.</a:t>
            </a:r>
            <a:endParaRPr lang="en-US" sz="780" dirty="0"/>
          </a:p>
        </p:txBody>
      </p:sp>
      <p:sp>
        <p:nvSpPr>
          <p:cNvPr id="42" name="Shape 40"/>
          <p:cNvSpPr/>
          <p:nvPr/>
        </p:nvSpPr>
        <p:spPr>
          <a:xfrm>
            <a:off x="4892040" y="3931920"/>
            <a:ext cx="274320" cy="274320"/>
          </a:xfrm>
          <a:prstGeom prst="ellipse">
            <a:avLst/>
          </a:prstGeom>
          <a:solidFill>
            <a:srgbClr val="0F766E"/>
          </a:solidFill>
          <a:ln w="12700">
            <a:solidFill>
              <a:srgbClr val="0F766E"/>
            </a:solidFill>
            <a:prstDash val="solid"/>
          </a:ln>
        </p:spPr>
      </p:sp>
      <p:sp>
        <p:nvSpPr>
          <p:cNvPr id="43" name="Text 41"/>
          <p:cNvSpPr txBox="1"/>
          <p:nvPr/>
        </p:nvSpPr>
        <p:spPr>
          <a:xfrm>
            <a:off x="4892040" y="393192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44" name="Text 42"/>
          <p:cNvSpPr txBox="1"/>
          <p:nvPr/>
        </p:nvSpPr>
        <p:spPr>
          <a:xfrm>
            <a:off x="5285232" y="3904488"/>
            <a:ext cx="3246120" cy="201168"/>
          </a:xfrm>
          <a:prstGeom prst="rect">
            <a:avLst/>
          </a:prstGeom>
          <a:noFill/>
          <a:ln/>
        </p:spPr>
        <p:txBody>
          <a:bodyPr wrap="square" lIns="0" tIns="0" rIns="0" bIns="0" rtlCol="0" anchor="ctr"/>
          <a:lstStyle/>
          <a:p>
            <a:pPr indent="0" marL="0">
              <a:buNone/>
            </a:pPr>
            <a:r>
              <a:rPr lang="en-US" sz="1000" b="1" dirty="0">
                <a:solidFill>
                  <a:srgbClr val="1C2433"/>
                </a:solidFill>
                <a:latin typeface="Calibri" pitchFamily="34" charset="0"/>
                <a:ea typeface="Calibri" pitchFamily="34" charset="-122"/>
                <a:cs typeface="Calibri" pitchFamily="34" charset="-120"/>
              </a:rPr>
              <a:t>Record</a:t>
            </a:r>
            <a:endParaRPr lang="en-US" sz="1000" dirty="0"/>
          </a:p>
        </p:txBody>
      </p:sp>
      <p:sp>
        <p:nvSpPr>
          <p:cNvPr id="45" name="Text 43"/>
          <p:cNvSpPr txBox="1"/>
          <p:nvPr/>
        </p:nvSpPr>
        <p:spPr>
          <a:xfrm>
            <a:off x="5285232" y="4105656"/>
            <a:ext cx="3246120" cy="310896"/>
          </a:xfrm>
          <a:prstGeom prst="rect">
            <a:avLst/>
          </a:prstGeom>
          <a:noFill/>
          <a:ln/>
        </p:spPr>
        <p:txBody>
          <a:bodyPr wrap="square" lIns="0" tIns="0" rIns="0" bIns="0" rtlCol="0" anchor="ctr"/>
          <a:lstStyle/>
          <a:p>
            <a:pPr indent="0" marL="0">
              <a:buNone/>
            </a:pPr>
            <a:r>
              <a:rPr lang="en-US" sz="780" dirty="0">
                <a:solidFill>
                  <a:srgbClr val="4A5568"/>
                </a:solidFill>
                <a:latin typeface="Calibri" pitchFamily="34" charset="0"/>
                <a:ea typeface="Calibri" pitchFamily="34" charset="-122"/>
                <a:cs typeface="Calibri" pitchFamily="34" charset="-120"/>
              </a:rPr>
              <a:t>Who, which tool, arguments, outcome, reason. Refusals too.</a:t>
            </a:r>
            <a:endParaRPr lang="en-US" sz="780" dirty="0"/>
          </a:p>
        </p:txBody>
      </p:sp>
      <p:sp>
        <p:nvSpPr>
          <p:cNvPr id="46" name="Text 44"/>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47" name="Text 45"/>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TECHNICAL VIEW</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Architecture</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One gateway process serves every address; products are reached with their own protocols and credentials.</a:t>
            </a:r>
            <a:endParaRPr lang="en-US" sz="1100" dirty="0"/>
          </a:p>
        </p:txBody>
      </p:sp>
      <p:sp>
        <p:nvSpPr>
          <p:cNvPr id="5" name="Shape 3"/>
          <p:cNvSpPr/>
          <p:nvPr/>
        </p:nvSpPr>
        <p:spPr>
          <a:xfrm>
            <a:off x="411480" y="1325880"/>
            <a:ext cx="1600200" cy="3063240"/>
          </a:xfrm>
          <a:prstGeom prst="roundRect">
            <a:avLst>
              <a:gd name="adj" fmla="val 3429"/>
            </a:avLst>
          </a:prstGeom>
          <a:solidFill>
            <a:srgbClr val="F5F7FA"/>
          </a:solidFill>
          <a:ln w="9525">
            <a:solidFill>
              <a:srgbClr val="D9E0EA"/>
            </a:solidFill>
            <a:prstDash val="solid"/>
          </a:ln>
        </p:spPr>
      </p:sp>
      <p:sp>
        <p:nvSpPr>
          <p:cNvPr id="6" name="Text 4"/>
          <p:cNvSpPr txBox="1"/>
          <p:nvPr/>
        </p:nvSpPr>
        <p:spPr>
          <a:xfrm>
            <a:off x="548640" y="1435608"/>
            <a:ext cx="13716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CLIENTS</a:t>
            </a:r>
            <a:endParaRPr lang="en-US" sz="800" dirty="0"/>
          </a:p>
        </p:txBody>
      </p:sp>
      <p:sp>
        <p:nvSpPr>
          <p:cNvPr id="7" name="Shape 5"/>
          <p:cNvSpPr/>
          <p:nvPr/>
        </p:nvSpPr>
        <p:spPr>
          <a:xfrm>
            <a:off x="548640" y="1709928"/>
            <a:ext cx="1325880" cy="384048"/>
          </a:xfrm>
          <a:prstGeom prst="roundRect">
            <a:avLst>
              <a:gd name="adj" fmla="val 14286"/>
            </a:avLst>
          </a:prstGeom>
          <a:solidFill>
            <a:srgbClr val="FFFFFF"/>
          </a:solidFill>
          <a:ln w="9525">
            <a:solidFill>
              <a:srgbClr val="D9E0EA"/>
            </a:solidFill>
            <a:prstDash val="solid"/>
          </a:ln>
        </p:spPr>
      </p:sp>
      <p:sp>
        <p:nvSpPr>
          <p:cNvPr id="8" name="Text 6"/>
          <p:cNvSpPr txBox="1"/>
          <p:nvPr/>
        </p:nvSpPr>
        <p:spPr>
          <a:xfrm>
            <a:off x="548640" y="1709928"/>
            <a:ext cx="1325880" cy="384048"/>
          </a:xfrm>
          <a:prstGeom prst="rect">
            <a:avLst/>
          </a:prstGeom>
          <a:noFill/>
          <a:ln/>
        </p:spPr>
        <p:txBody>
          <a:bodyPr wrap="square" lIns="0" tIns="0" rIns="0" bIns="0" rtlCol="0" anchor="ctr"/>
          <a:lstStyle/>
          <a:p>
            <a:pPr algn="ctr" indent="0" marL="0">
              <a:buNone/>
            </a:pPr>
            <a:r>
              <a:rPr lang="en-US" sz="800" dirty="0">
                <a:solidFill>
                  <a:srgbClr val="1C2433"/>
                </a:solidFill>
                <a:latin typeface="Calibri" pitchFamily="34" charset="0"/>
                <a:ea typeface="Calibri" pitchFamily="34" charset="-122"/>
                <a:cs typeface="Calibri" pitchFamily="34" charset="-120"/>
              </a:rPr>
              <a:t>Claude</a:t>
            </a:r>
            <a:endParaRPr lang="en-US" sz="800" dirty="0"/>
          </a:p>
        </p:txBody>
      </p:sp>
      <p:sp>
        <p:nvSpPr>
          <p:cNvPr id="9" name="Shape 7"/>
          <p:cNvSpPr/>
          <p:nvPr/>
        </p:nvSpPr>
        <p:spPr>
          <a:xfrm>
            <a:off x="548640" y="2212848"/>
            <a:ext cx="1325880" cy="384048"/>
          </a:xfrm>
          <a:prstGeom prst="roundRect">
            <a:avLst>
              <a:gd name="adj" fmla="val 14286"/>
            </a:avLst>
          </a:prstGeom>
          <a:solidFill>
            <a:srgbClr val="FFFFFF"/>
          </a:solidFill>
          <a:ln w="9525">
            <a:solidFill>
              <a:srgbClr val="D9E0EA"/>
            </a:solidFill>
            <a:prstDash val="solid"/>
          </a:ln>
        </p:spPr>
      </p:sp>
      <p:sp>
        <p:nvSpPr>
          <p:cNvPr id="10" name="Text 8"/>
          <p:cNvSpPr txBox="1"/>
          <p:nvPr/>
        </p:nvSpPr>
        <p:spPr>
          <a:xfrm>
            <a:off x="548640" y="2212848"/>
            <a:ext cx="1325880" cy="384048"/>
          </a:xfrm>
          <a:prstGeom prst="rect">
            <a:avLst/>
          </a:prstGeom>
          <a:noFill/>
          <a:ln/>
        </p:spPr>
        <p:txBody>
          <a:bodyPr wrap="square" lIns="0" tIns="0" rIns="0" bIns="0" rtlCol="0" anchor="ctr"/>
          <a:lstStyle/>
          <a:p>
            <a:pPr algn="ctr" indent="0" marL="0">
              <a:buNone/>
            </a:pPr>
            <a:r>
              <a:rPr lang="en-US" sz="800" dirty="0">
                <a:solidFill>
                  <a:srgbClr val="1C2433"/>
                </a:solidFill>
                <a:latin typeface="Calibri" pitchFamily="34" charset="0"/>
                <a:ea typeface="Calibri" pitchFamily="34" charset="-122"/>
                <a:cs typeface="Calibri" pitchFamily="34" charset="-120"/>
              </a:rPr>
              <a:t>ChatGPT</a:t>
            </a:r>
            <a:endParaRPr lang="en-US" sz="800" dirty="0"/>
          </a:p>
        </p:txBody>
      </p:sp>
      <p:sp>
        <p:nvSpPr>
          <p:cNvPr id="11" name="Shape 9"/>
          <p:cNvSpPr/>
          <p:nvPr/>
        </p:nvSpPr>
        <p:spPr>
          <a:xfrm>
            <a:off x="548640" y="2715768"/>
            <a:ext cx="1325880" cy="384048"/>
          </a:xfrm>
          <a:prstGeom prst="roundRect">
            <a:avLst>
              <a:gd name="adj" fmla="val 14286"/>
            </a:avLst>
          </a:prstGeom>
          <a:solidFill>
            <a:srgbClr val="FFFFFF"/>
          </a:solidFill>
          <a:ln w="9525">
            <a:solidFill>
              <a:srgbClr val="D9E0EA"/>
            </a:solidFill>
            <a:prstDash val="solid"/>
          </a:ln>
        </p:spPr>
      </p:sp>
      <p:sp>
        <p:nvSpPr>
          <p:cNvPr id="12" name="Text 10"/>
          <p:cNvSpPr txBox="1"/>
          <p:nvPr/>
        </p:nvSpPr>
        <p:spPr>
          <a:xfrm>
            <a:off x="548640" y="2715768"/>
            <a:ext cx="1325880" cy="384048"/>
          </a:xfrm>
          <a:prstGeom prst="rect">
            <a:avLst/>
          </a:prstGeom>
          <a:noFill/>
          <a:ln/>
        </p:spPr>
        <p:txBody>
          <a:bodyPr wrap="square" lIns="0" tIns="0" rIns="0" bIns="0" rtlCol="0" anchor="ctr"/>
          <a:lstStyle/>
          <a:p>
            <a:pPr algn="ctr" indent="0" marL="0">
              <a:buNone/>
            </a:pPr>
            <a:r>
              <a:rPr lang="en-US" sz="800" dirty="0">
                <a:solidFill>
                  <a:srgbClr val="1C2433"/>
                </a:solidFill>
                <a:latin typeface="Calibri" pitchFamily="34" charset="0"/>
                <a:ea typeface="Calibri" pitchFamily="34" charset="-122"/>
                <a:cs typeface="Calibri" pitchFamily="34" charset="-120"/>
              </a:rPr>
              <a:t>Copilot / Agentforce</a:t>
            </a:r>
            <a:endParaRPr lang="en-US" sz="800" dirty="0"/>
          </a:p>
        </p:txBody>
      </p:sp>
      <p:sp>
        <p:nvSpPr>
          <p:cNvPr id="13" name="Shape 11"/>
          <p:cNvSpPr/>
          <p:nvPr/>
        </p:nvSpPr>
        <p:spPr>
          <a:xfrm>
            <a:off x="548640" y="3218688"/>
            <a:ext cx="1325880" cy="384048"/>
          </a:xfrm>
          <a:prstGeom prst="roundRect">
            <a:avLst>
              <a:gd name="adj" fmla="val 14286"/>
            </a:avLst>
          </a:prstGeom>
          <a:solidFill>
            <a:srgbClr val="FFFFFF"/>
          </a:solidFill>
          <a:ln w="9525">
            <a:solidFill>
              <a:srgbClr val="D9E0EA"/>
            </a:solidFill>
            <a:prstDash val="solid"/>
          </a:ln>
        </p:spPr>
      </p:sp>
      <p:sp>
        <p:nvSpPr>
          <p:cNvPr id="14" name="Text 12"/>
          <p:cNvSpPr txBox="1"/>
          <p:nvPr/>
        </p:nvSpPr>
        <p:spPr>
          <a:xfrm>
            <a:off x="548640" y="3218688"/>
            <a:ext cx="1325880" cy="384048"/>
          </a:xfrm>
          <a:prstGeom prst="rect">
            <a:avLst/>
          </a:prstGeom>
          <a:noFill/>
          <a:ln/>
        </p:spPr>
        <p:txBody>
          <a:bodyPr wrap="square" lIns="0" tIns="0" rIns="0" bIns="0" rtlCol="0" anchor="ctr"/>
          <a:lstStyle/>
          <a:p>
            <a:pPr algn="ctr" indent="0" marL="0">
              <a:buNone/>
            </a:pPr>
            <a:r>
              <a:rPr lang="en-US" sz="800" dirty="0">
                <a:solidFill>
                  <a:srgbClr val="1C2433"/>
                </a:solidFill>
                <a:latin typeface="Calibri" pitchFamily="34" charset="0"/>
                <a:ea typeface="Calibri" pitchFamily="34" charset="-122"/>
                <a:cs typeface="Calibri" pitchFamily="34" charset="-120"/>
              </a:rPr>
              <a:t>Claude Desktop, Code</a:t>
            </a:r>
            <a:endParaRPr lang="en-US" sz="800" dirty="0"/>
          </a:p>
        </p:txBody>
      </p:sp>
      <p:sp>
        <p:nvSpPr>
          <p:cNvPr id="15" name="Shape 13"/>
          <p:cNvSpPr/>
          <p:nvPr/>
        </p:nvSpPr>
        <p:spPr>
          <a:xfrm>
            <a:off x="548640" y="3721608"/>
            <a:ext cx="1325880" cy="384048"/>
          </a:xfrm>
          <a:prstGeom prst="roundRect">
            <a:avLst>
              <a:gd name="adj" fmla="val 14286"/>
            </a:avLst>
          </a:prstGeom>
          <a:solidFill>
            <a:srgbClr val="FFFFFF"/>
          </a:solidFill>
          <a:ln w="9525">
            <a:solidFill>
              <a:srgbClr val="D9E0EA"/>
            </a:solidFill>
            <a:prstDash val="solid"/>
          </a:ln>
        </p:spPr>
      </p:sp>
      <p:sp>
        <p:nvSpPr>
          <p:cNvPr id="16" name="Text 14"/>
          <p:cNvSpPr txBox="1"/>
          <p:nvPr/>
        </p:nvSpPr>
        <p:spPr>
          <a:xfrm>
            <a:off x="548640" y="3721608"/>
            <a:ext cx="1325880" cy="384048"/>
          </a:xfrm>
          <a:prstGeom prst="rect">
            <a:avLst/>
          </a:prstGeom>
          <a:noFill/>
          <a:ln/>
        </p:spPr>
        <p:txBody>
          <a:bodyPr wrap="square" lIns="0" tIns="0" rIns="0" bIns="0" rtlCol="0" anchor="ctr"/>
          <a:lstStyle/>
          <a:p>
            <a:pPr algn="ctr" indent="0" marL="0">
              <a:buNone/>
            </a:pPr>
            <a:r>
              <a:rPr lang="en-US" sz="800" dirty="0">
                <a:solidFill>
                  <a:srgbClr val="1C2433"/>
                </a:solidFill>
                <a:latin typeface="Calibri" pitchFamily="34" charset="0"/>
                <a:ea typeface="Calibri" pitchFamily="34" charset="-122"/>
                <a:cs typeface="Calibri" pitchFamily="34" charset="-120"/>
              </a:rPr>
              <a:t>In-house LLM app</a:t>
            </a:r>
            <a:endParaRPr lang="en-US" sz="800" dirty="0"/>
          </a:p>
        </p:txBody>
      </p:sp>
      <p:sp>
        <p:nvSpPr>
          <p:cNvPr id="17" name="Shape 15"/>
          <p:cNvSpPr/>
          <p:nvPr/>
        </p:nvSpPr>
        <p:spPr>
          <a:xfrm>
            <a:off x="2286000" y="1325880"/>
            <a:ext cx="4572000" cy="3063240"/>
          </a:xfrm>
          <a:prstGeom prst="roundRect">
            <a:avLst>
              <a:gd name="adj" fmla="val 1791"/>
            </a:avLst>
          </a:prstGeom>
          <a:solidFill>
            <a:srgbClr val="FFFFFF"/>
          </a:solidFill>
          <a:ln w="9525">
            <a:solidFill>
              <a:srgbClr val="0F766E"/>
            </a:solidFill>
            <a:prstDash val="solid"/>
          </a:ln>
        </p:spPr>
      </p:sp>
      <p:sp>
        <p:nvSpPr>
          <p:cNvPr id="18" name="Text 16"/>
          <p:cNvSpPr txBox="1"/>
          <p:nvPr/>
        </p:nvSpPr>
        <p:spPr>
          <a:xfrm>
            <a:off x="2423160" y="1435608"/>
            <a:ext cx="429768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GATEWAY + PORTAL  ·  ONE PROCESS</a:t>
            </a:r>
            <a:endParaRPr lang="en-US" sz="800" dirty="0"/>
          </a:p>
        </p:txBody>
      </p:sp>
      <p:sp>
        <p:nvSpPr>
          <p:cNvPr id="19" name="Shape 17"/>
          <p:cNvSpPr/>
          <p:nvPr/>
        </p:nvSpPr>
        <p:spPr>
          <a:xfrm>
            <a:off x="2423160" y="1691640"/>
            <a:ext cx="4297680" cy="393192"/>
          </a:xfrm>
          <a:prstGeom prst="rect">
            <a:avLst/>
          </a:prstGeom>
          <a:solidFill>
            <a:srgbClr val="F5F7FA"/>
          </a:solidFill>
          <a:ln w="12700">
            <a:solidFill>
              <a:srgbClr val="F5F7FA"/>
            </a:solidFill>
            <a:prstDash val="solid"/>
          </a:ln>
        </p:spPr>
      </p:sp>
      <p:sp>
        <p:nvSpPr>
          <p:cNvPr id="20" name="Text 18"/>
          <p:cNvSpPr txBox="1"/>
          <p:nvPr/>
        </p:nvSpPr>
        <p:spPr>
          <a:xfrm>
            <a:off x="2496312" y="1691640"/>
            <a:ext cx="1097280" cy="393192"/>
          </a:xfrm>
          <a:prstGeom prst="rect">
            <a:avLst/>
          </a:prstGeom>
          <a:noFill/>
          <a:ln/>
        </p:spPr>
        <p:txBody>
          <a:bodyPr wrap="square" lIns="0" tIns="0" rIns="0" bIns="0" rtlCol="0" anchor="ctr"/>
          <a:lstStyle/>
          <a:p>
            <a:pPr indent="0" marL="0">
              <a:buNone/>
            </a:pPr>
            <a:r>
              <a:rPr lang="en-US" sz="850" b="1" dirty="0">
                <a:solidFill>
                  <a:srgbClr val="14213D"/>
                </a:solidFill>
                <a:latin typeface="Calibri" pitchFamily="34" charset="0"/>
                <a:ea typeface="Calibri" pitchFamily="34" charset="-122"/>
                <a:cs typeface="Calibri" pitchFamily="34" charset="-120"/>
              </a:rPr>
              <a:t>Endpoints</a:t>
            </a:r>
            <a:endParaRPr lang="en-US" sz="850" dirty="0"/>
          </a:p>
        </p:txBody>
      </p:sp>
      <p:sp>
        <p:nvSpPr>
          <p:cNvPr id="21" name="Text 19"/>
          <p:cNvSpPr txBox="1"/>
          <p:nvPr/>
        </p:nvSpPr>
        <p:spPr>
          <a:xfrm>
            <a:off x="3611880" y="1691640"/>
            <a:ext cx="3063240" cy="393192"/>
          </a:xfrm>
          <a:prstGeom prst="rect">
            <a:avLst/>
          </a:prstGeom>
          <a:noFill/>
          <a:ln/>
        </p:spPr>
        <p:txBody>
          <a:bodyPr wrap="square" lIns="0" tIns="0" rIns="0" bIns="0" rtlCol="0" anchor="ctr"/>
          <a:lstStyle/>
          <a:p>
            <a:pPr indent="0" marL="0">
              <a:buNone/>
            </a:pPr>
            <a:r>
              <a:rPr lang="en-US" sz="660" dirty="0">
                <a:solidFill>
                  <a:srgbClr val="4A5568"/>
                </a:solidFill>
                <a:latin typeface="Calibri" pitchFamily="34" charset="0"/>
                <a:ea typeface="Calibri" pitchFamily="34" charset="-122"/>
                <a:cs typeface="Calibri" pitchFamily="34" charset="-120"/>
              </a:rPr>
              <a:t>/mcp shared · /mcp/&lt;group&gt; per customer group or product line · /mcp/&lt;product&gt; a single product as its own MCP server</a:t>
            </a:r>
            <a:endParaRPr lang="en-US" sz="660" dirty="0"/>
          </a:p>
        </p:txBody>
      </p:sp>
      <p:sp>
        <p:nvSpPr>
          <p:cNvPr id="22" name="Shape 20"/>
          <p:cNvSpPr/>
          <p:nvPr/>
        </p:nvSpPr>
        <p:spPr>
          <a:xfrm>
            <a:off x="2423160" y="2139696"/>
            <a:ext cx="4297680" cy="393192"/>
          </a:xfrm>
          <a:prstGeom prst="rect">
            <a:avLst/>
          </a:prstGeom>
          <a:solidFill>
            <a:srgbClr val="F5F7FA"/>
          </a:solidFill>
          <a:ln w="12700">
            <a:solidFill>
              <a:srgbClr val="F5F7FA"/>
            </a:solidFill>
            <a:prstDash val="solid"/>
          </a:ln>
        </p:spPr>
      </p:sp>
      <p:sp>
        <p:nvSpPr>
          <p:cNvPr id="23" name="Text 21"/>
          <p:cNvSpPr txBox="1"/>
          <p:nvPr/>
        </p:nvSpPr>
        <p:spPr>
          <a:xfrm>
            <a:off x="2496312" y="2139696"/>
            <a:ext cx="1097280" cy="393192"/>
          </a:xfrm>
          <a:prstGeom prst="rect">
            <a:avLst/>
          </a:prstGeom>
          <a:noFill/>
          <a:ln/>
        </p:spPr>
        <p:txBody>
          <a:bodyPr wrap="square" lIns="0" tIns="0" rIns="0" bIns="0" rtlCol="0" anchor="ctr"/>
          <a:lstStyle/>
          <a:p>
            <a:pPr indent="0" marL="0">
              <a:buNone/>
            </a:pPr>
            <a:r>
              <a:rPr lang="en-US" sz="850" b="1" dirty="0">
                <a:solidFill>
                  <a:srgbClr val="14213D"/>
                </a:solidFill>
                <a:latin typeface="Calibri" pitchFamily="34" charset="0"/>
                <a:ea typeface="Calibri" pitchFamily="34" charset="-122"/>
                <a:cs typeface="Calibri" pitchFamily="34" charset="-120"/>
              </a:rPr>
              <a:t>Sign-in</a:t>
            </a:r>
            <a:endParaRPr lang="en-US" sz="850" dirty="0"/>
          </a:p>
        </p:txBody>
      </p:sp>
      <p:sp>
        <p:nvSpPr>
          <p:cNvPr id="24" name="Text 22"/>
          <p:cNvSpPr txBox="1"/>
          <p:nvPr/>
        </p:nvSpPr>
        <p:spPr>
          <a:xfrm>
            <a:off x="3611880" y="2139696"/>
            <a:ext cx="3063240" cy="393192"/>
          </a:xfrm>
          <a:prstGeom prst="rect">
            <a:avLst/>
          </a:prstGeom>
          <a:noFill/>
          <a:ln/>
        </p:spPr>
        <p:txBody>
          <a:bodyPr wrap="square" lIns="0" tIns="0" rIns="0" bIns="0" rtlCol="0" anchor="ctr"/>
          <a:lstStyle/>
          <a:p>
            <a:pPr indent="0" marL="0">
              <a:buNone/>
            </a:pPr>
            <a:r>
              <a:rPr lang="en-US" sz="660" dirty="0">
                <a:solidFill>
                  <a:srgbClr val="4A5568"/>
                </a:solidFill>
                <a:latin typeface="Calibri" pitchFamily="34" charset="0"/>
                <a:ea typeface="Calibri" pitchFamily="34" charset="-122"/>
                <a:cs typeface="Calibri" pitchFamily="34" charset="-120"/>
              </a:rPr>
              <a:t>OAuth 2.1 authorization server: discovery, client self-registration, PKCE, refresh. Issues tokens bound to a person and organization</a:t>
            </a:r>
            <a:endParaRPr lang="en-US" sz="660" dirty="0"/>
          </a:p>
        </p:txBody>
      </p:sp>
      <p:sp>
        <p:nvSpPr>
          <p:cNvPr id="25" name="Shape 23"/>
          <p:cNvSpPr/>
          <p:nvPr/>
        </p:nvSpPr>
        <p:spPr>
          <a:xfrm>
            <a:off x="2423160" y="2587752"/>
            <a:ext cx="4297680" cy="393192"/>
          </a:xfrm>
          <a:prstGeom prst="rect">
            <a:avLst/>
          </a:prstGeom>
          <a:solidFill>
            <a:srgbClr val="E6F4F1"/>
          </a:solidFill>
          <a:ln w="12700">
            <a:solidFill>
              <a:srgbClr val="F5F7FA"/>
            </a:solidFill>
            <a:prstDash val="solid"/>
          </a:ln>
        </p:spPr>
      </p:sp>
      <p:sp>
        <p:nvSpPr>
          <p:cNvPr id="26" name="Text 24"/>
          <p:cNvSpPr txBox="1"/>
          <p:nvPr/>
        </p:nvSpPr>
        <p:spPr>
          <a:xfrm>
            <a:off x="2496312" y="2587752"/>
            <a:ext cx="1097280" cy="393192"/>
          </a:xfrm>
          <a:prstGeom prst="rect">
            <a:avLst/>
          </a:prstGeom>
          <a:noFill/>
          <a:ln/>
        </p:spPr>
        <p:txBody>
          <a:bodyPr wrap="square" lIns="0" tIns="0" rIns="0" bIns="0" rtlCol="0" anchor="ctr"/>
          <a:lstStyle/>
          <a:p>
            <a:pPr indent="0" marL="0">
              <a:buNone/>
            </a:pPr>
            <a:r>
              <a:rPr lang="en-US" sz="850" b="1" dirty="0">
                <a:solidFill>
                  <a:srgbClr val="14213D"/>
                </a:solidFill>
                <a:latin typeface="Calibri" pitchFamily="34" charset="0"/>
                <a:ea typeface="Calibri" pitchFamily="34" charset="-122"/>
                <a:cs typeface="Calibri" pitchFamily="34" charset="-120"/>
              </a:rPr>
              <a:t>Policy</a:t>
            </a:r>
            <a:endParaRPr lang="en-US" sz="850" dirty="0"/>
          </a:p>
        </p:txBody>
      </p:sp>
      <p:sp>
        <p:nvSpPr>
          <p:cNvPr id="27" name="Text 25"/>
          <p:cNvSpPr txBox="1"/>
          <p:nvPr/>
        </p:nvSpPr>
        <p:spPr>
          <a:xfrm>
            <a:off x="3611880" y="2587752"/>
            <a:ext cx="3063240" cy="393192"/>
          </a:xfrm>
          <a:prstGeom prst="rect">
            <a:avLst/>
          </a:prstGeom>
          <a:noFill/>
          <a:ln/>
        </p:spPr>
        <p:txBody>
          <a:bodyPr wrap="square" lIns="0" tIns="0" rIns="0" bIns="0" rtlCol="0" anchor="ctr"/>
          <a:lstStyle/>
          <a:p>
            <a:pPr indent="0" marL="0">
              <a:buNone/>
            </a:pPr>
            <a:r>
              <a:rPr lang="en-US" sz="660" dirty="0">
                <a:solidFill>
                  <a:srgbClr val="4A5568"/>
                </a:solidFill>
                <a:latin typeface="Calibri" pitchFamily="34" charset="0"/>
                <a:ea typeface="Calibri" pitchFamily="34" charset="-122"/>
                <a:cs typeface="Calibri" pitchFamily="34" charset="-120"/>
              </a:rPr>
              <a:t>Entitlement by group or organization at gateway, product and tool level · writes off by default · confirmation · organization scoping in and out</a:t>
            </a:r>
            <a:endParaRPr lang="en-US" sz="660" dirty="0"/>
          </a:p>
        </p:txBody>
      </p:sp>
      <p:sp>
        <p:nvSpPr>
          <p:cNvPr id="28" name="Shape 26"/>
          <p:cNvSpPr/>
          <p:nvPr/>
        </p:nvSpPr>
        <p:spPr>
          <a:xfrm>
            <a:off x="2423160" y="3035808"/>
            <a:ext cx="4297680" cy="393192"/>
          </a:xfrm>
          <a:prstGeom prst="rect">
            <a:avLst/>
          </a:prstGeom>
          <a:solidFill>
            <a:srgbClr val="F5F7FA"/>
          </a:solidFill>
          <a:ln w="12700">
            <a:solidFill>
              <a:srgbClr val="F5F7FA"/>
            </a:solidFill>
            <a:prstDash val="solid"/>
          </a:ln>
        </p:spPr>
      </p:sp>
      <p:sp>
        <p:nvSpPr>
          <p:cNvPr id="29" name="Text 27"/>
          <p:cNvSpPr txBox="1"/>
          <p:nvPr/>
        </p:nvSpPr>
        <p:spPr>
          <a:xfrm>
            <a:off x="2496312" y="3035808"/>
            <a:ext cx="1097280" cy="393192"/>
          </a:xfrm>
          <a:prstGeom prst="rect">
            <a:avLst/>
          </a:prstGeom>
          <a:noFill/>
          <a:ln/>
        </p:spPr>
        <p:txBody>
          <a:bodyPr wrap="square" lIns="0" tIns="0" rIns="0" bIns="0" rtlCol="0" anchor="ctr"/>
          <a:lstStyle/>
          <a:p>
            <a:pPr indent="0" marL="0">
              <a:buNone/>
            </a:pPr>
            <a:r>
              <a:rPr lang="en-US" sz="850" b="1" dirty="0">
                <a:solidFill>
                  <a:srgbClr val="14213D"/>
                </a:solidFill>
                <a:latin typeface="Calibri" pitchFamily="34" charset="0"/>
                <a:ea typeface="Calibri" pitchFamily="34" charset="-122"/>
                <a:cs typeface="Calibri" pitchFamily="34" charset="-120"/>
              </a:rPr>
              <a:t>Credential broker</a:t>
            </a:r>
            <a:endParaRPr lang="en-US" sz="850" dirty="0"/>
          </a:p>
        </p:txBody>
      </p:sp>
      <p:sp>
        <p:nvSpPr>
          <p:cNvPr id="30" name="Text 28"/>
          <p:cNvSpPr txBox="1"/>
          <p:nvPr/>
        </p:nvSpPr>
        <p:spPr>
          <a:xfrm>
            <a:off x="3611880" y="3035808"/>
            <a:ext cx="3063240" cy="393192"/>
          </a:xfrm>
          <a:prstGeom prst="rect">
            <a:avLst/>
          </a:prstGeom>
          <a:noFill/>
          <a:ln/>
        </p:spPr>
        <p:txBody>
          <a:bodyPr wrap="square" lIns="0" tIns="0" rIns="0" bIns="0" rtlCol="0" anchor="ctr"/>
          <a:lstStyle/>
          <a:p>
            <a:pPr indent="0" marL="0">
              <a:buNone/>
            </a:pPr>
            <a:r>
              <a:rPr lang="en-US" sz="660" dirty="0">
                <a:solidFill>
                  <a:srgbClr val="4A5568"/>
                </a:solidFill>
                <a:latin typeface="Calibri" pitchFamily="34" charset="0"/>
                <a:ea typeface="Calibri" pitchFamily="34" charset="-122"/>
                <a:cs typeface="Calibri" pitchFamily="34" charset="-120"/>
              </a:rPr>
              <a:t>Per-user OAuth links with refresh · login-endpoint sign-in with cached JWTs · service tokens · the caller's token never forwarded</a:t>
            </a:r>
            <a:endParaRPr lang="en-US" sz="660" dirty="0"/>
          </a:p>
        </p:txBody>
      </p:sp>
      <p:sp>
        <p:nvSpPr>
          <p:cNvPr id="31" name="Shape 29"/>
          <p:cNvSpPr/>
          <p:nvPr/>
        </p:nvSpPr>
        <p:spPr>
          <a:xfrm>
            <a:off x="2423160" y="3483864"/>
            <a:ext cx="4297680" cy="393192"/>
          </a:xfrm>
          <a:prstGeom prst="rect">
            <a:avLst/>
          </a:prstGeom>
          <a:solidFill>
            <a:srgbClr val="F5F7FA"/>
          </a:solidFill>
          <a:ln w="12700">
            <a:solidFill>
              <a:srgbClr val="F5F7FA"/>
            </a:solidFill>
            <a:prstDash val="solid"/>
          </a:ln>
        </p:spPr>
      </p:sp>
      <p:sp>
        <p:nvSpPr>
          <p:cNvPr id="32" name="Text 30"/>
          <p:cNvSpPr txBox="1"/>
          <p:nvPr/>
        </p:nvSpPr>
        <p:spPr>
          <a:xfrm>
            <a:off x="2496312" y="3483864"/>
            <a:ext cx="1097280" cy="393192"/>
          </a:xfrm>
          <a:prstGeom prst="rect">
            <a:avLst/>
          </a:prstGeom>
          <a:noFill/>
          <a:ln/>
        </p:spPr>
        <p:txBody>
          <a:bodyPr wrap="square" lIns="0" tIns="0" rIns="0" bIns="0" rtlCol="0" anchor="ctr"/>
          <a:lstStyle/>
          <a:p>
            <a:pPr indent="0" marL="0">
              <a:buNone/>
            </a:pPr>
            <a:r>
              <a:rPr lang="en-US" sz="850" b="1" dirty="0">
                <a:solidFill>
                  <a:srgbClr val="14213D"/>
                </a:solidFill>
                <a:latin typeface="Calibri" pitchFamily="34" charset="0"/>
                <a:ea typeface="Calibri" pitchFamily="34" charset="-122"/>
                <a:cs typeface="Calibri" pitchFamily="34" charset="-120"/>
              </a:rPr>
              <a:t>API to tools</a:t>
            </a:r>
            <a:endParaRPr lang="en-US" sz="850" dirty="0"/>
          </a:p>
        </p:txBody>
      </p:sp>
      <p:sp>
        <p:nvSpPr>
          <p:cNvPr id="33" name="Text 31"/>
          <p:cNvSpPr txBox="1"/>
          <p:nvPr/>
        </p:nvSpPr>
        <p:spPr>
          <a:xfrm>
            <a:off x="3611880" y="3483864"/>
            <a:ext cx="3063240" cy="393192"/>
          </a:xfrm>
          <a:prstGeom prst="rect">
            <a:avLst/>
          </a:prstGeom>
          <a:noFill/>
          <a:ln/>
        </p:spPr>
        <p:txBody>
          <a:bodyPr wrap="square" lIns="0" tIns="0" rIns="0" bIns="0" rtlCol="0" anchor="ctr"/>
          <a:lstStyle/>
          <a:p>
            <a:pPr indent="0" marL="0">
              <a:buNone/>
            </a:pPr>
            <a:r>
              <a:rPr lang="en-US" sz="660" dirty="0">
                <a:solidFill>
                  <a:srgbClr val="4A5568"/>
                </a:solidFill>
                <a:latin typeface="Calibri" pitchFamily="34" charset="0"/>
                <a:ea typeface="Calibri" pitchFamily="34" charset="-122"/>
                <a:cs typeface="Calibri" pitchFamily="34" charset="-120"/>
              </a:rPr>
              <a:t>One tool per API operation, generated from the OpenAPI spec · existing MCP servers passed through · descriptions and risk editable by admins</a:t>
            </a:r>
            <a:endParaRPr lang="en-US" sz="660" dirty="0"/>
          </a:p>
        </p:txBody>
      </p:sp>
      <p:sp>
        <p:nvSpPr>
          <p:cNvPr id="34" name="Shape 32"/>
          <p:cNvSpPr/>
          <p:nvPr/>
        </p:nvSpPr>
        <p:spPr>
          <a:xfrm>
            <a:off x="2423160" y="3931920"/>
            <a:ext cx="4297680" cy="393192"/>
          </a:xfrm>
          <a:prstGeom prst="rect">
            <a:avLst/>
          </a:prstGeom>
          <a:solidFill>
            <a:srgbClr val="F5F7FA"/>
          </a:solidFill>
          <a:ln w="12700">
            <a:solidFill>
              <a:srgbClr val="F5F7FA"/>
            </a:solidFill>
            <a:prstDash val="solid"/>
          </a:ln>
        </p:spPr>
      </p:sp>
      <p:sp>
        <p:nvSpPr>
          <p:cNvPr id="35" name="Text 33"/>
          <p:cNvSpPr txBox="1"/>
          <p:nvPr/>
        </p:nvSpPr>
        <p:spPr>
          <a:xfrm>
            <a:off x="2496312" y="3931920"/>
            <a:ext cx="1097280" cy="393192"/>
          </a:xfrm>
          <a:prstGeom prst="rect">
            <a:avLst/>
          </a:prstGeom>
          <a:noFill/>
          <a:ln/>
        </p:spPr>
        <p:txBody>
          <a:bodyPr wrap="square" lIns="0" tIns="0" rIns="0" bIns="0" rtlCol="0" anchor="ctr"/>
          <a:lstStyle/>
          <a:p>
            <a:pPr indent="0" marL="0">
              <a:buNone/>
            </a:pPr>
            <a:r>
              <a:rPr lang="en-US" sz="850" b="1" dirty="0">
                <a:solidFill>
                  <a:srgbClr val="14213D"/>
                </a:solidFill>
                <a:latin typeface="Calibri" pitchFamily="34" charset="0"/>
                <a:ea typeface="Calibri" pitchFamily="34" charset="-122"/>
                <a:cs typeface="Calibri" pitchFamily="34" charset="-120"/>
              </a:rPr>
              <a:t>Audit &amp; state</a:t>
            </a:r>
            <a:endParaRPr lang="en-US" sz="850" dirty="0"/>
          </a:p>
        </p:txBody>
      </p:sp>
      <p:sp>
        <p:nvSpPr>
          <p:cNvPr id="36" name="Text 34"/>
          <p:cNvSpPr txBox="1"/>
          <p:nvPr/>
        </p:nvSpPr>
        <p:spPr>
          <a:xfrm>
            <a:off x="3611880" y="3931920"/>
            <a:ext cx="3063240" cy="393192"/>
          </a:xfrm>
          <a:prstGeom prst="rect">
            <a:avLst/>
          </a:prstGeom>
          <a:noFill/>
          <a:ln/>
        </p:spPr>
        <p:txBody>
          <a:bodyPr wrap="square" lIns="0" tIns="0" rIns="0" bIns="0" rtlCol="0" anchor="ctr"/>
          <a:lstStyle/>
          <a:p>
            <a:pPr indent="0" marL="0">
              <a:buNone/>
            </a:pPr>
            <a:r>
              <a:rPr lang="en-US" sz="660" dirty="0">
                <a:solidFill>
                  <a:srgbClr val="4A5568"/>
                </a:solidFill>
                <a:latin typeface="Calibri" pitchFamily="34" charset="0"/>
                <a:ea typeface="Calibri" pitchFamily="34" charset="-122"/>
                <a:cs typeface="Calibri" pitchFamily="34" charset="-120"/>
              </a:rPr>
              <a:t>Every call, refusal and sign-in step logged · registry, users, tokens and policy in one store</a:t>
            </a:r>
            <a:endParaRPr lang="en-US" sz="660" dirty="0"/>
          </a:p>
        </p:txBody>
      </p:sp>
      <p:sp>
        <p:nvSpPr>
          <p:cNvPr id="37" name="Shape 35"/>
          <p:cNvSpPr/>
          <p:nvPr/>
        </p:nvSpPr>
        <p:spPr>
          <a:xfrm>
            <a:off x="7132320" y="1325880"/>
            <a:ext cx="1600200" cy="3063240"/>
          </a:xfrm>
          <a:prstGeom prst="roundRect">
            <a:avLst>
              <a:gd name="adj" fmla="val 3429"/>
            </a:avLst>
          </a:prstGeom>
          <a:solidFill>
            <a:srgbClr val="F5F7FA"/>
          </a:solidFill>
          <a:ln w="9525">
            <a:solidFill>
              <a:srgbClr val="D9E0EA"/>
            </a:solidFill>
            <a:prstDash val="solid"/>
          </a:ln>
        </p:spPr>
      </p:sp>
      <p:sp>
        <p:nvSpPr>
          <p:cNvPr id="38" name="Text 36"/>
          <p:cNvSpPr txBox="1"/>
          <p:nvPr/>
        </p:nvSpPr>
        <p:spPr>
          <a:xfrm>
            <a:off x="7269480" y="1435608"/>
            <a:ext cx="13716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PRODUCTS</a:t>
            </a:r>
            <a:endParaRPr lang="en-US" sz="800" dirty="0"/>
          </a:p>
        </p:txBody>
      </p:sp>
      <p:sp>
        <p:nvSpPr>
          <p:cNvPr id="39" name="Shape 37"/>
          <p:cNvSpPr/>
          <p:nvPr/>
        </p:nvSpPr>
        <p:spPr>
          <a:xfrm>
            <a:off x="7269480" y="1709928"/>
            <a:ext cx="1325880" cy="530352"/>
          </a:xfrm>
          <a:prstGeom prst="roundRect">
            <a:avLst>
              <a:gd name="adj" fmla="val 10345"/>
            </a:avLst>
          </a:prstGeom>
          <a:solidFill>
            <a:srgbClr val="FFFFFF"/>
          </a:solidFill>
          <a:ln w="9525">
            <a:solidFill>
              <a:srgbClr val="D9E0EA"/>
            </a:solidFill>
            <a:prstDash val="solid"/>
          </a:ln>
        </p:spPr>
      </p:sp>
      <p:sp>
        <p:nvSpPr>
          <p:cNvPr id="40" name="Text 38"/>
          <p:cNvSpPr txBox="1"/>
          <p:nvPr/>
        </p:nvSpPr>
        <p:spPr>
          <a:xfrm>
            <a:off x="7342632" y="1764792"/>
            <a:ext cx="1188720" cy="201168"/>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REST APIs</a:t>
            </a:r>
            <a:endParaRPr lang="en-US" sz="800" dirty="0"/>
          </a:p>
        </p:txBody>
      </p:sp>
      <p:sp>
        <p:nvSpPr>
          <p:cNvPr id="41" name="Text 39"/>
          <p:cNvSpPr txBox="1"/>
          <p:nvPr/>
        </p:nvSpPr>
        <p:spPr>
          <a:xfrm>
            <a:off x="7342632" y="1965960"/>
            <a:ext cx="1188720" cy="237744"/>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OpenAPI spec, any authentication</a:t>
            </a:r>
            <a:endParaRPr lang="en-US" sz="680" dirty="0"/>
          </a:p>
        </p:txBody>
      </p:sp>
      <p:sp>
        <p:nvSpPr>
          <p:cNvPr id="42" name="Shape 40"/>
          <p:cNvSpPr/>
          <p:nvPr/>
        </p:nvSpPr>
        <p:spPr>
          <a:xfrm>
            <a:off x="7269480" y="2350008"/>
            <a:ext cx="1325880" cy="530352"/>
          </a:xfrm>
          <a:prstGeom prst="roundRect">
            <a:avLst>
              <a:gd name="adj" fmla="val 10345"/>
            </a:avLst>
          </a:prstGeom>
          <a:solidFill>
            <a:srgbClr val="FFFFFF"/>
          </a:solidFill>
          <a:ln w="9525">
            <a:solidFill>
              <a:srgbClr val="D9E0EA"/>
            </a:solidFill>
            <a:prstDash val="solid"/>
          </a:ln>
        </p:spPr>
      </p:sp>
      <p:sp>
        <p:nvSpPr>
          <p:cNvPr id="43" name="Text 41"/>
          <p:cNvSpPr txBox="1"/>
          <p:nvPr/>
        </p:nvSpPr>
        <p:spPr>
          <a:xfrm>
            <a:off x="7342632" y="2404872"/>
            <a:ext cx="1188720" cy="201168"/>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MCP servers</a:t>
            </a:r>
            <a:endParaRPr lang="en-US" sz="800" dirty="0"/>
          </a:p>
        </p:txBody>
      </p:sp>
      <p:sp>
        <p:nvSpPr>
          <p:cNvPr id="44" name="Text 42"/>
          <p:cNvSpPr txBox="1"/>
          <p:nvPr/>
        </p:nvSpPr>
        <p:spPr>
          <a:xfrm>
            <a:off x="7342632" y="2606040"/>
            <a:ext cx="1188720" cy="237744"/>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proxied, per-user OAuth</a:t>
            </a:r>
            <a:endParaRPr lang="en-US" sz="680" dirty="0"/>
          </a:p>
        </p:txBody>
      </p:sp>
      <p:sp>
        <p:nvSpPr>
          <p:cNvPr id="45" name="Shape 43"/>
          <p:cNvSpPr/>
          <p:nvPr/>
        </p:nvSpPr>
        <p:spPr>
          <a:xfrm>
            <a:off x="7269480" y="2990088"/>
            <a:ext cx="1325880" cy="530352"/>
          </a:xfrm>
          <a:prstGeom prst="roundRect">
            <a:avLst>
              <a:gd name="adj" fmla="val 10345"/>
            </a:avLst>
          </a:prstGeom>
          <a:solidFill>
            <a:srgbClr val="FFFFFF"/>
          </a:solidFill>
          <a:ln w="9525">
            <a:solidFill>
              <a:srgbClr val="D9E0EA"/>
            </a:solidFill>
            <a:prstDash val="solid"/>
          </a:ln>
        </p:spPr>
      </p:sp>
      <p:sp>
        <p:nvSpPr>
          <p:cNvPr id="46" name="Text 44"/>
          <p:cNvSpPr txBox="1"/>
          <p:nvPr/>
        </p:nvSpPr>
        <p:spPr>
          <a:xfrm>
            <a:off x="7342632" y="3044952"/>
            <a:ext cx="1188720" cy="201168"/>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Partner SaaS</a:t>
            </a:r>
            <a:endParaRPr lang="en-US" sz="800" dirty="0"/>
          </a:p>
        </p:txBody>
      </p:sp>
      <p:sp>
        <p:nvSpPr>
          <p:cNvPr id="47" name="Text 45"/>
          <p:cNvSpPr txBox="1"/>
          <p:nvPr/>
        </p:nvSpPr>
        <p:spPr>
          <a:xfrm>
            <a:off x="7342632" y="3246120"/>
            <a:ext cx="1188720" cy="237744"/>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same registry</a:t>
            </a:r>
            <a:endParaRPr lang="en-US" sz="680" dirty="0"/>
          </a:p>
        </p:txBody>
      </p:sp>
      <p:sp>
        <p:nvSpPr>
          <p:cNvPr id="48" name="Shape 46"/>
          <p:cNvSpPr/>
          <p:nvPr/>
        </p:nvSpPr>
        <p:spPr>
          <a:xfrm>
            <a:off x="7269480" y="3630168"/>
            <a:ext cx="1325880" cy="530352"/>
          </a:xfrm>
          <a:prstGeom prst="roundRect">
            <a:avLst>
              <a:gd name="adj" fmla="val 10345"/>
            </a:avLst>
          </a:prstGeom>
          <a:solidFill>
            <a:srgbClr val="FFFFFF"/>
          </a:solidFill>
          <a:ln w="9525">
            <a:solidFill>
              <a:srgbClr val="D9E0EA"/>
            </a:solidFill>
            <a:prstDash val="solid"/>
          </a:ln>
        </p:spPr>
      </p:sp>
      <p:sp>
        <p:nvSpPr>
          <p:cNvPr id="49" name="Text 47"/>
          <p:cNvSpPr txBox="1"/>
          <p:nvPr/>
        </p:nvSpPr>
        <p:spPr>
          <a:xfrm>
            <a:off x="7342632" y="3685032"/>
            <a:ext cx="1188720" cy="201168"/>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Customer systems</a:t>
            </a:r>
            <a:endParaRPr lang="en-US" sz="800" dirty="0"/>
          </a:p>
        </p:txBody>
      </p:sp>
      <p:sp>
        <p:nvSpPr>
          <p:cNvPr id="50" name="Text 48"/>
          <p:cNvSpPr txBox="1"/>
          <p:nvPr/>
        </p:nvSpPr>
        <p:spPr>
          <a:xfrm>
            <a:off x="7342632" y="3886200"/>
            <a:ext cx="1188720" cy="237744"/>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same registry</a:t>
            </a:r>
            <a:endParaRPr lang="en-US" sz="680" dirty="0"/>
          </a:p>
        </p:txBody>
      </p:sp>
      <p:sp>
        <p:nvSpPr>
          <p:cNvPr id="51" name="Shape 49"/>
          <p:cNvSpPr/>
          <p:nvPr/>
        </p:nvSpPr>
        <p:spPr>
          <a:xfrm>
            <a:off x="2039112" y="2743200"/>
            <a:ext cx="219456" cy="201168"/>
          </a:xfrm>
          <a:prstGeom prst="rightArrow">
            <a:avLst/>
          </a:prstGeom>
          <a:solidFill>
            <a:srgbClr val="0F766E"/>
          </a:solidFill>
          <a:ln w="12700">
            <a:solidFill>
              <a:srgbClr val="0F766E"/>
            </a:solidFill>
            <a:prstDash val="solid"/>
          </a:ln>
        </p:spPr>
      </p:sp>
      <p:sp>
        <p:nvSpPr>
          <p:cNvPr id="52" name="Shape 50"/>
          <p:cNvSpPr/>
          <p:nvPr/>
        </p:nvSpPr>
        <p:spPr>
          <a:xfrm>
            <a:off x="6885432" y="2743200"/>
            <a:ext cx="219456" cy="201168"/>
          </a:xfrm>
          <a:prstGeom prst="rightArrow">
            <a:avLst/>
          </a:prstGeom>
          <a:solidFill>
            <a:srgbClr val="0F766E"/>
          </a:solidFill>
          <a:ln w="12700">
            <a:solidFill>
              <a:srgbClr val="0F766E"/>
            </a:solidFill>
            <a:prstDash val="solid"/>
          </a:ln>
        </p:spPr>
      </p:sp>
      <p:sp>
        <p:nvSpPr>
          <p:cNvPr id="53" name="Text 51"/>
          <p:cNvSpPr txBox="1"/>
          <p:nvPr/>
        </p:nvSpPr>
        <p:spPr>
          <a:xfrm>
            <a:off x="411480" y="4462272"/>
            <a:ext cx="8321040" cy="274320"/>
          </a:xfrm>
          <a:prstGeom prst="rect">
            <a:avLst/>
          </a:prstGeom>
          <a:noFill/>
          <a:ln/>
        </p:spPr>
        <p:txBody>
          <a:bodyPr wrap="square" lIns="0" tIns="0" rIns="0" bIns="0" rtlCol="0" anchor="ctr"/>
          <a:lstStyle/>
          <a:p>
            <a:pPr indent="0" marL="0">
              <a:buNone/>
            </a:pPr>
            <a:r>
              <a:rPr lang="en-US" sz="800" i="1" dirty="0">
                <a:solidFill>
                  <a:srgbClr val="7A8593"/>
                </a:solidFill>
                <a:latin typeface="Calibri" pitchFamily="34" charset="0"/>
                <a:ea typeface="Calibri" pitchFamily="34" charset="-122"/>
                <a:cs typeface="Calibri" pitchFamily="34" charset="-120"/>
              </a:rPr>
              <a:t>Runs as one container image behind HTTPS; deploying or exposing a product is a routing change, not a release. Per-product isolation is part of the proposed work.</a:t>
            </a:r>
            <a:endParaRPr lang="en-US" sz="800" dirty="0"/>
          </a:p>
        </p:txBody>
      </p:sp>
      <p:sp>
        <p:nvSpPr>
          <p:cNvPr id="54" name="Text 52"/>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55" name="Text 53"/>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IDENTITY</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Identity: one sign-in, the right key for each product</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The assistant never holds a product credential. The gateway does, per person.</a:t>
            </a:r>
            <a:endParaRPr lang="en-US" sz="1100" dirty="0"/>
          </a:p>
        </p:txBody>
      </p:sp>
      <p:sp>
        <p:nvSpPr>
          <p:cNvPr id="5" name="Shape 3"/>
          <p:cNvSpPr/>
          <p:nvPr/>
        </p:nvSpPr>
        <p:spPr>
          <a:xfrm>
            <a:off x="411480" y="1325880"/>
            <a:ext cx="4023360" cy="3246120"/>
          </a:xfrm>
          <a:prstGeom prst="roundRect">
            <a:avLst>
              <a:gd name="adj" fmla="val 1690"/>
            </a:avLst>
          </a:prstGeom>
          <a:solidFill>
            <a:srgbClr val="FFFFFF"/>
          </a:solidFill>
          <a:ln w="9525">
            <a:solidFill>
              <a:srgbClr val="D9E0EA"/>
            </a:solidFill>
            <a:prstDash val="solid"/>
          </a:ln>
        </p:spPr>
      </p:sp>
      <p:sp>
        <p:nvSpPr>
          <p:cNvPr id="6" name="Shape 4"/>
          <p:cNvSpPr/>
          <p:nvPr/>
        </p:nvSpPr>
        <p:spPr>
          <a:xfrm>
            <a:off x="594360" y="1508760"/>
            <a:ext cx="384048" cy="384048"/>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690372" y="1604772"/>
            <a:ext cx="192024" cy="192024"/>
          </a:xfrm>
          <a:prstGeom prst="rect">
            <a:avLst/>
          </a:prstGeom>
        </p:spPr>
      </p:pic>
      <p:sp>
        <p:nvSpPr>
          <p:cNvPr id="8" name="Text 5"/>
          <p:cNvSpPr txBox="1"/>
          <p:nvPr/>
        </p:nvSpPr>
        <p:spPr>
          <a:xfrm>
            <a:off x="1097280" y="1508760"/>
            <a:ext cx="3108960" cy="384048"/>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Customer side</a:t>
            </a:r>
            <a:endParaRPr lang="en-US" sz="1300" dirty="0"/>
          </a:p>
        </p:txBody>
      </p:sp>
      <p:sp>
        <p:nvSpPr>
          <p:cNvPr id="9" name="Text 6"/>
          <p:cNvSpPr txBox="1"/>
          <p:nvPr/>
        </p:nvSpPr>
        <p:spPr>
          <a:xfrm>
            <a:off x="594360" y="2011680"/>
            <a:ext cx="3657600" cy="2468880"/>
          </a:xfrm>
          <a:prstGeom prst="rect">
            <a:avLst/>
          </a:prstGeom>
          <a:noFill/>
          <a:ln/>
        </p:spPr>
        <p:txBody>
          <a:bodyPr wrap="square" lIns="0" tIns="0" rIns="0" bIns="0" rtlCol="0" anchor="t"/>
          <a:lstStyle/>
          <a:p>
            <a:pPr marL="342900" indent="-342900">
              <a:spcAft>
                <a:spcPts val="400"/>
              </a:spcAft>
              <a:buSzPct val="100000"/>
              <a:buChar char="•"/>
            </a:pPr>
            <a:r>
              <a:rPr lang="en-US" sz="880" dirty="0">
                <a:solidFill>
                  <a:srgbClr val="4A5568"/>
                </a:solidFill>
                <a:latin typeface="Calibri" pitchFamily="34" charset="0"/>
                <a:ea typeface="Calibri" pitchFamily="34" charset="-122"/>
                <a:cs typeface="Calibri" pitchFamily="34" charset="-120"/>
              </a:rPr>
              <a:t>A directory holds each person's organization, role and access groups. Tokens copy these, so they are set once.</a:t>
            </a:r>
            <a:endParaRPr lang="en-US" sz="880" dirty="0"/>
          </a:p>
          <a:p>
            <a:pPr marL="342900" indent="-342900">
              <a:spcAft>
                <a:spcPts val="400"/>
              </a:spcAft>
              <a:buSzPct val="100000"/>
              <a:buChar char="•"/>
            </a:pPr>
            <a:r>
              <a:rPr lang="en-US" sz="880" dirty="0">
                <a:solidFill>
                  <a:srgbClr val="4A5568"/>
                </a:solidFill>
                <a:latin typeface="Calibri" pitchFamily="34" charset="0"/>
                <a:ea typeface="Calibri" pitchFamily="34" charset="-122"/>
                <a:cs typeface="Calibri" pitchFamily="34" charset="-120"/>
              </a:rPr>
              <a:t>Assistants such as Claude and ChatGPT cannot carry a static key, so the gateway is itself an OAuth 2.1 server: the assistant discovers it, registers, and opens the group's sign-in page.</a:t>
            </a:r>
            <a:endParaRPr lang="en-US" sz="880" dirty="0"/>
          </a:p>
          <a:p>
            <a:pPr marL="342900" indent="-342900">
              <a:spcAft>
                <a:spcPts val="400"/>
              </a:spcAft>
              <a:buSzPct val="100000"/>
              <a:buChar char="•"/>
            </a:pPr>
            <a:r>
              <a:rPr lang="en-US" sz="880" dirty="0">
                <a:solidFill>
                  <a:srgbClr val="4A5568"/>
                </a:solidFill>
                <a:latin typeface="Calibri" pitchFamily="34" charset="0"/>
                <a:ea typeface="Calibri" pitchFamily="34" charset="-122"/>
                <a:cs typeface="Calibri" pitchFamily="34" charset="-120"/>
              </a:rPr>
              <a:t>The token the assistant receives is bound to that person. It is short-lived, refreshed automatically, and revocable on one page.</a:t>
            </a:r>
            <a:endParaRPr lang="en-US" sz="880" dirty="0"/>
          </a:p>
          <a:p>
            <a:pPr marL="342900" indent="-342900">
              <a:spcAft>
                <a:spcPts val="400"/>
              </a:spcAft>
              <a:buSzPct val="100000"/>
              <a:buChar char="•"/>
            </a:pPr>
            <a:r>
              <a:rPr lang="en-US" sz="880" dirty="0">
                <a:solidFill>
                  <a:srgbClr val="4A5568"/>
                </a:solidFill>
                <a:latin typeface="Calibri" pitchFamily="34" charset="0"/>
                <a:ea typeface="Calibri" pitchFamily="34" charset="-122"/>
                <a:cs typeface="Calibri" pitchFamily="34" charset="-120"/>
              </a:rPr>
              <a:t>Federating that sign-in page with the group's single sign-on (SSO) is proposed work.</a:t>
            </a:r>
            <a:endParaRPr lang="en-US" sz="880" dirty="0"/>
          </a:p>
        </p:txBody>
      </p:sp>
      <p:sp>
        <p:nvSpPr>
          <p:cNvPr id="10" name="Shape 7"/>
          <p:cNvSpPr/>
          <p:nvPr/>
        </p:nvSpPr>
        <p:spPr>
          <a:xfrm>
            <a:off x="4709160" y="1325880"/>
            <a:ext cx="4023360" cy="3246120"/>
          </a:xfrm>
          <a:prstGeom prst="roundRect">
            <a:avLst>
              <a:gd name="adj" fmla="val 1690"/>
            </a:avLst>
          </a:prstGeom>
          <a:solidFill>
            <a:srgbClr val="FFFFFF"/>
          </a:solidFill>
          <a:ln w="9525">
            <a:solidFill>
              <a:srgbClr val="D9E0EA"/>
            </a:solidFill>
            <a:prstDash val="solid"/>
          </a:ln>
        </p:spPr>
      </p:sp>
      <p:sp>
        <p:nvSpPr>
          <p:cNvPr id="11" name="Shape 8"/>
          <p:cNvSpPr/>
          <p:nvPr/>
        </p:nvSpPr>
        <p:spPr>
          <a:xfrm>
            <a:off x="4892040" y="1508760"/>
            <a:ext cx="384048" cy="384048"/>
          </a:xfrm>
          <a:prstGeom prst="ellipse">
            <a:avLst/>
          </a:prstGeom>
          <a:solidFill>
            <a:srgbClr val="14213D"/>
          </a:solidFill>
          <a:ln w="12700">
            <a:solidFill>
              <a:srgbClr val="14213D"/>
            </a:solidFill>
            <a:prstDash val="solid"/>
          </a:ln>
        </p:spPr>
      </p:sp>
      <p:pic>
        <p:nvPicPr>
          <p:cNvPr id="12" name="Image 1" descr="preencoded.png">    </p:cNvPr>
          <p:cNvPicPr>
            <a:picLocks noChangeAspect="1"/>
          </p:cNvPicPr>
          <p:nvPr/>
        </p:nvPicPr>
        <p:blipFill>
          <a:blip r:embed="rId2"/>
          <a:stretch>
            <a:fillRect/>
          </a:stretch>
        </p:blipFill>
        <p:spPr>
          <a:xfrm>
            <a:off x="4988052" y="1604772"/>
            <a:ext cx="192024" cy="192024"/>
          </a:xfrm>
          <a:prstGeom prst="rect">
            <a:avLst/>
          </a:prstGeom>
        </p:spPr>
      </p:pic>
      <p:sp>
        <p:nvSpPr>
          <p:cNvPr id="13" name="Text 9"/>
          <p:cNvSpPr txBox="1"/>
          <p:nvPr/>
        </p:nvSpPr>
        <p:spPr>
          <a:xfrm>
            <a:off x="5394960" y="1508760"/>
            <a:ext cx="3108960" cy="384048"/>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Product side</a:t>
            </a:r>
            <a:endParaRPr lang="en-US" sz="1300" dirty="0"/>
          </a:p>
        </p:txBody>
      </p:sp>
      <p:sp>
        <p:nvSpPr>
          <p:cNvPr id="14" name="Shape 10"/>
          <p:cNvSpPr/>
          <p:nvPr/>
        </p:nvSpPr>
        <p:spPr>
          <a:xfrm>
            <a:off x="4892040" y="2011680"/>
            <a:ext cx="3657600" cy="548640"/>
          </a:xfrm>
          <a:prstGeom prst="rect">
            <a:avLst/>
          </a:prstGeom>
          <a:solidFill>
            <a:srgbClr val="F5F7FA"/>
          </a:solidFill>
          <a:ln w="12700">
            <a:solidFill>
              <a:srgbClr val="F5F7FA"/>
            </a:solidFill>
            <a:prstDash val="solid"/>
          </a:ln>
        </p:spPr>
      </p:sp>
      <p:sp>
        <p:nvSpPr>
          <p:cNvPr id="15" name="Text 11"/>
          <p:cNvSpPr txBox="1"/>
          <p:nvPr/>
        </p:nvSpPr>
        <p:spPr>
          <a:xfrm>
            <a:off x="4983480" y="2011680"/>
            <a:ext cx="1188720" cy="548640"/>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Per-user OAuth</a:t>
            </a:r>
            <a:endParaRPr lang="en-US" sz="900" dirty="0"/>
          </a:p>
        </p:txBody>
      </p:sp>
      <p:sp>
        <p:nvSpPr>
          <p:cNvPr id="16" name="Text 12"/>
          <p:cNvSpPr txBox="1"/>
          <p:nvPr/>
        </p:nvSpPr>
        <p:spPr>
          <a:xfrm>
            <a:off x="6172200" y="2011680"/>
            <a:ext cx="2331720" cy="548640"/>
          </a:xfrm>
          <a:prstGeom prst="rect">
            <a:avLst/>
          </a:prstGeom>
          <a:noFill/>
          <a:ln/>
        </p:spPr>
        <p:txBody>
          <a:bodyPr wrap="square" lIns="0" tIns="0" rIns="0" bIns="0" rtlCol="0" anchor="ctr"/>
          <a:lstStyle/>
          <a:p>
            <a:pPr indent="0" marL="0">
              <a:buNone/>
            </a:pPr>
            <a:r>
              <a:rPr lang="en-US" sz="730" dirty="0">
                <a:solidFill>
                  <a:srgbClr val="4A5568"/>
                </a:solidFill>
                <a:latin typeface="Calibri" pitchFamily="34" charset="0"/>
                <a:ea typeface="Calibri" pitchFamily="34" charset="-122"/>
                <a:cs typeface="Calibri" pitchFamily="34" charset="-120"/>
              </a:rPr>
              <a:t>The customer links their own account once; the gateway refreshes it. The product sees the real person.</a:t>
            </a:r>
            <a:endParaRPr lang="en-US" sz="730" dirty="0"/>
          </a:p>
        </p:txBody>
      </p:sp>
      <p:sp>
        <p:nvSpPr>
          <p:cNvPr id="17" name="Shape 13"/>
          <p:cNvSpPr/>
          <p:nvPr/>
        </p:nvSpPr>
        <p:spPr>
          <a:xfrm>
            <a:off x="4892040" y="2633472"/>
            <a:ext cx="3657600" cy="548640"/>
          </a:xfrm>
          <a:prstGeom prst="rect">
            <a:avLst/>
          </a:prstGeom>
          <a:solidFill>
            <a:srgbClr val="F5F7FA"/>
          </a:solidFill>
          <a:ln w="12700">
            <a:solidFill>
              <a:srgbClr val="F5F7FA"/>
            </a:solidFill>
            <a:prstDash val="solid"/>
          </a:ln>
        </p:spPr>
      </p:sp>
      <p:sp>
        <p:nvSpPr>
          <p:cNvPr id="18" name="Text 14"/>
          <p:cNvSpPr txBox="1"/>
          <p:nvPr/>
        </p:nvSpPr>
        <p:spPr>
          <a:xfrm>
            <a:off x="4983480" y="2633472"/>
            <a:ext cx="1188720" cy="548640"/>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Login endpoint</a:t>
            </a:r>
            <a:endParaRPr lang="en-US" sz="900" dirty="0"/>
          </a:p>
        </p:txBody>
      </p:sp>
      <p:sp>
        <p:nvSpPr>
          <p:cNvPr id="19" name="Text 15"/>
          <p:cNvSpPr txBox="1"/>
          <p:nvPr/>
        </p:nvSpPr>
        <p:spPr>
          <a:xfrm>
            <a:off x="6172200" y="2633472"/>
            <a:ext cx="2331720" cy="548640"/>
          </a:xfrm>
          <a:prstGeom prst="rect">
            <a:avLst/>
          </a:prstGeom>
          <a:noFill/>
          <a:ln/>
        </p:spPr>
        <p:txBody>
          <a:bodyPr wrap="square" lIns="0" tIns="0" rIns="0" bIns="0" rtlCol="0" anchor="ctr"/>
          <a:lstStyle/>
          <a:p>
            <a:pPr indent="0" marL="0">
              <a:buNone/>
            </a:pPr>
            <a:r>
              <a:rPr lang="en-US" sz="730" dirty="0">
                <a:solidFill>
                  <a:srgbClr val="4A5568"/>
                </a:solidFill>
                <a:latin typeface="Calibri" pitchFamily="34" charset="0"/>
                <a:ea typeface="Calibri" pitchFamily="34" charset="-122"/>
                <a:cs typeface="Calibri" pitchFamily="34" charset="-120"/>
              </a:rPr>
              <a:t>Products with a username-and-password API. The gateway signs in, caches the token, re-signs on expiry. Per user or service account.</a:t>
            </a:r>
            <a:endParaRPr lang="en-US" sz="730" dirty="0"/>
          </a:p>
        </p:txBody>
      </p:sp>
      <p:sp>
        <p:nvSpPr>
          <p:cNvPr id="20" name="Shape 16"/>
          <p:cNvSpPr/>
          <p:nvPr/>
        </p:nvSpPr>
        <p:spPr>
          <a:xfrm>
            <a:off x="4892040" y="3255264"/>
            <a:ext cx="3657600" cy="548640"/>
          </a:xfrm>
          <a:prstGeom prst="rect">
            <a:avLst/>
          </a:prstGeom>
          <a:solidFill>
            <a:srgbClr val="F5F7FA"/>
          </a:solidFill>
          <a:ln w="12700">
            <a:solidFill>
              <a:srgbClr val="F5F7FA"/>
            </a:solidFill>
            <a:prstDash val="solid"/>
          </a:ln>
        </p:spPr>
      </p:sp>
      <p:sp>
        <p:nvSpPr>
          <p:cNvPr id="21" name="Text 17"/>
          <p:cNvSpPr txBox="1"/>
          <p:nvPr/>
        </p:nvSpPr>
        <p:spPr>
          <a:xfrm>
            <a:off x="4983480" y="3255264"/>
            <a:ext cx="1188720" cy="548640"/>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Service token</a:t>
            </a:r>
            <a:endParaRPr lang="en-US" sz="900" dirty="0"/>
          </a:p>
        </p:txBody>
      </p:sp>
      <p:sp>
        <p:nvSpPr>
          <p:cNvPr id="22" name="Text 18"/>
          <p:cNvSpPr txBox="1"/>
          <p:nvPr/>
        </p:nvSpPr>
        <p:spPr>
          <a:xfrm>
            <a:off x="6172200" y="3255264"/>
            <a:ext cx="2331720" cy="548640"/>
          </a:xfrm>
          <a:prstGeom prst="rect">
            <a:avLst/>
          </a:prstGeom>
          <a:noFill/>
          <a:ln/>
        </p:spPr>
        <p:txBody>
          <a:bodyPr wrap="square" lIns="0" tIns="0" rIns="0" bIns="0" rtlCol="0" anchor="ctr"/>
          <a:lstStyle/>
          <a:p>
            <a:pPr indent="0" marL="0">
              <a:buNone/>
            </a:pPr>
            <a:r>
              <a:rPr lang="en-US" sz="730" dirty="0">
                <a:solidFill>
                  <a:srgbClr val="4A5568"/>
                </a:solidFill>
                <a:latin typeface="Calibri" pitchFamily="34" charset="0"/>
                <a:ea typeface="Calibri" pitchFamily="34" charset="-122"/>
                <a:cs typeface="Calibri" pitchFamily="34" charset="-120"/>
              </a:rPr>
              <a:t>One credential the gateway sends and rotates. For products without per-user identity.</a:t>
            </a:r>
            <a:endParaRPr lang="en-US" sz="730" dirty="0"/>
          </a:p>
        </p:txBody>
      </p:sp>
      <p:sp>
        <p:nvSpPr>
          <p:cNvPr id="23" name="Shape 19"/>
          <p:cNvSpPr/>
          <p:nvPr/>
        </p:nvSpPr>
        <p:spPr>
          <a:xfrm>
            <a:off x="4892040" y="3877056"/>
            <a:ext cx="3657600" cy="548640"/>
          </a:xfrm>
          <a:prstGeom prst="rect">
            <a:avLst/>
          </a:prstGeom>
          <a:solidFill>
            <a:srgbClr val="F5F7FA"/>
          </a:solidFill>
          <a:ln w="12700">
            <a:solidFill>
              <a:srgbClr val="F5F7FA"/>
            </a:solidFill>
            <a:prstDash val="solid"/>
          </a:ln>
        </p:spPr>
      </p:sp>
      <p:sp>
        <p:nvSpPr>
          <p:cNvPr id="24" name="Text 20"/>
          <p:cNvSpPr txBox="1"/>
          <p:nvPr/>
        </p:nvSpPr>
        <p:spPr>
          <a:xfrm>
            <a:off x="4983480" y="3877056"/>
            <a:ext cx="1188720" cy="548640"/>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Open or network-isolated</a:t>
            </a:r>
            <a:endParaRPr lang="en-US" sz="900" dirty="0"/>
          </a:p>
        </p:txBody>
      </p:sp>
      <p:sp>
        <p:nvSpPr>
          <p:cNvPr id="25" name="Text 21"/>
          <p:cNvSpPr txBox="1"/>
          <p:nvPr/>
        </p:nvSpPr>
        <p:spPr>
          <a:xfrm>
            <a:off x="6172200" y="3877056"/>
            <a:ext cx="2331720" cy="548640"/>
          </a:xfrm>
          <a:prstGeom prst="rect">
            <a:avLst/>
          </a:prstGeom>
          <a:noFill/>
          <a:ln/>
        </p:spPr>
        <p:txBody>
          <a:bodyPr wrap="square" lIns="0" tIns="0" rIns="0" bIns="0" rtlCol="0" anchor="ctr"/>
          <a:lstStyle/>
          <a:p>
            <a:pPr indent="0" marL="0">
              <a:buNone/>
            </a:pPr>
            <a:r>
              <a:rPr lang="en-US" sz="730" dirty="0">
                <a:solidFill>
                  <a:srgbClr val="4A5568"/>
                </a:solidFill>
                <a:latin typeface="Calibri" pitchFamily="34" charset="0"/>
                <a:ea typeface="Calibri" pitchFamily="34" charset="-122"/>
                <a:cs typeface="Calibri" pitchFamily="34" charset="-120"/>
              </a:rPr>
              <a:t>The gateway carries all enforcement.</a:t>
            </a:r>
            <a:endParaRPr lang="en-US" sz="730" dirty="0"/>
          </a:p>
        </p:txBody>
      </p:sp>
      <p:sp>
        <p:nvSpPr>
          <p:cNvPr id="26" name="Text 22"/>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27" name="Text 23"/>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CONTROL MODEL</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Control rises with the risk of the action</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The same gateway serves lookups freely and keeps money movements inside the approval lines that already exist.</a:t>
            </a:r>
            <a:endParaRPr lang="en-US" sz="1100" dirty="0"/>
          </a:p>
        </p:txBody>
      </p:sp>
      <p:sp>
        <p:nvSpPr>
          <p:cNvPr id="5" name="Shape 3"/>
          <p:cNvSpPr/>
          <p:nvPr/>
        </p:nvSpPr>
        <p:spPr>
          <a:xfrm>
            <a:off x="411480" y="1325880"/>
            <a:ext cx="2651760" cy="2194560"/>
          </a:xfrm>
          <a:prstGeom prst="roundRect">
            <a:avLst>
              <a:gd name="adj" fmla="val 2500"/>
            </a:avLst>
          </a:prstGeom>
          <a:solidFill>
            <a:srgbClr val="FFFFFF"/>
          </a:solidFill>
          <a:ln w="9525">
            <a:solidFill>
              <a:srgbClr val="D9E0EA"/>
            </a:solidFill>
            <a:prstDash val="solid"/>
          </a:ln>
        </p:spPr>
      </p:sp>
      <p:sp>
        <p:nvSpPr>
          <p:cNvPr id="6" name="Shape 4"/>
          <p:cNvSpPr/>
          <p:nvPr/>
        </p:nvSpPr>
        <p:spPr>
          <a:xfrm>
            <a:off x="594360" y="1508760"/>
            <a:ext cx="457200" cy="73152"/>
          </a:xfrm>
          <a:prstGeom prst="rect">
            <a:avLst/>
          </a:prstGeom>
          <a:solidFill>
            <a:srgbClr val="0F766E"/>
          </a:solidFill>
          <a:ln w="12700">
            <a:solidFill>
              <a:srgbClr val="0F766E"/>
            </a:solidFill>
            <a:prstDash val="solid"/>
          </a:ln>
        </p:spPr>
      </p:sp>
      <p:sp>
        <p:nvSpPr>
          <p:cNvPr id="7" name="Text 5"/>
          <p:cNvSpPr txBox="1"/>
          <p:nvPr/>
        </p:nvSpPr>
        <p:spPr>
          <a:xfrm>
            <a:off x="594360" y="1645920"/>
            <a:ext cx="22860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LOOKUP</a:t>
            </a:r>
            <a:endParaRPr lang="en-US" sz="800" dirty="0"/>
          </a:p>
        </p:txBody>
      </p:sp>
      <p:sp>
        <p:nvSpPr>
          <p:cNvPr id="8" name="Text 6"/>
          <p:cNvSpPr txBox="1"/>
          <p:nvPr/>
        </p:nvSpPr>
        <p:spPr>
          <a:xfrm>
            <a:off x="594360" y="1856232"/>
            <a:ext cx="2286000" cy="320040"/>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Read and summarize</a:t>
            </a:r>
            <a:endParaRPr lang="en-US" sz="1300" dirty="0"/>
          </a:p>
        </p:txBody>
      </p:sp>
      <p:sp>
        <p:nvSpPr>
          <p:cNvPr id="9" name="Text 7"/>
          <p:cNvSpPr txBox="1"/>
          <p:nvPr/>
        </p:nvSpPr>
        <p:spPr>
          <a:xfrm>
            <a:off x="594360" y="2240280"/>
            <a:ext cx="2286000" cy="86868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Provided by default within the customer's permission scope. Balances, receipts, tasks, documents.</a:t>
            </a:r>
            <a:endParaRPr lang="en-US" sz="850" dirty="0"/>
          </a:p>
        </p:txBody>
      </p:sp>
      <p:sp>
        <p:nvSpPr>
          <p:cNvPr id="10" name="Text 8"/>
          <p:cNvSpPr txBox="1"/>
          <p:nvPr/>
        </p:nvSpPr>
        <p:spPr>
          <a:xfrm>
            <a:off x="594360" y="3127248"/>
            <a:ext cx="2286000" cy="320040"/>
          </a:xfrm>
          <a:prstGeom prst="rect">
            <a:avLst/>
          </a:prstGeom>
          <a:noFill/>
          <a:ln/>
        </p:spPr>
        <p:txBody>
          <a:bodyPr wrap="square" lIns="0" tIns="0" rIns="0" bIns="0" rtlCol="0" anchor="b"/>
          <a:lstStyle/>
          <a:p>
            <a:pPr indent="0" marL="0">
              <a:buNone/>
            </a:pPr>
            <a:r>
              <a:rPr lang="en-US" sz="800" i="1" dirty="0">
                <a:solidFill>
                  <a:srgbClr val="7A8593"/>
                </a:solidFill>
                <a:latin typeface="Calibri" pitchFamily="34" charset="0"/>
                <a:ea typeface="Calibri" pitchFamily="34" charset="-122"/>
                <a:cs typeface="Calibri" pitchFamily="34" charset="-120"/>
              </a:rPr>
              <a:t>Most requests. Value with no new risk.</a:t>
            </a:r>
            <a:endParaRPr lang="en-US" sz="800" dirty="0"/>
          </a:p>
        </p:txBody>
      </p:sp>
      <p:sp>
        <p:nvSpPr>
          <p:cNvPr id="11" name="Shape 9"/>
          <p:cNvSpPr/>
          <p:nvPr/>
        </p:nvSpPr>
        <p:spPr>
          <a:xfrm>
            <a:off x="3246120" y="1325880"/>
            <a:ext cx="2651760" cy="2194560"/>
          </a:xfrm>
          <a:prstGeom prst="roundRect">
            <a:avLst>
              <a:gd name="adj" fmla="val 2500"/>
            </a:avLst>
          </a:prstGeom>
          <a:solidFill>
            <a:srgbClr val="F5F7FA"/>
          </a:solidFill>
          <a:ln w="9525">
            <a:solidFill>
              <a:srgbClr val="D9E0EA"/>
            </a:solidFill>
            <a:prstDash val="solid"/>
          </a:ln>
        </p:spPr>
      </p:sp>
      <p:sp>
        <p:nvSpPr>
          <p:cNvPr id="12" name="Shape 10"/>
          <p:cNvSpPr/>
          <p:nvPr/>
        </p:nvSpPr>
        <p:spPr>
          <a:xfrm>
            <a:off x="3429000" y="1508760"/>
            <a:ext cx="457200" cy="73152"/>
          </a:xfrm>
          <a:prstGeom prst="rect">
            <a:avLst/>
          </a:prstGeom>
          <a:solidFill>
            <a:srgbClr val="B45309"/>
          </a:solidFill>
          <a:ln w="12700">
            <a:solidFill>
              <a:srgbClr val="B45309"/>
            </a:solidFill>
            <a:prstDash val="solid"/>
          </a:ln>
        </p:spPr>
      </p:sp>
      <p:sp>
        <p:nvSpPr>
          <p:cNvPr id="13" name="Text 11"/>
          <p:cNvSpPr txBox="1"/>
          <p:nvPr/>
        </p:nvSpPr>
        <p:spPr>
          <a:xfrm>
            <a:off x="3429000" y="1645920"/>
            <a:ext cx="2286000" cy="182880"/>
          </a:xfrm>
          <a:prstGeom prst="rect">
            <a:avLst/>
          </a:prstGeom>
          <a:noFill/>
          <a:ln/>
        </p:spPr>
        <p:txBody>
          <a:bodyPr wrap="square" lIns="0" tIns="0" rIns="0" bIns="0" rtlCol="0" anchor="ctr"/>
          <a:lstStyle/>
          <a:p>
            <a:pPr indent="0" marL="0">
              <a:buNone/>
            </a:pPr>
            <a:r>
              <a:rPr lang="en-US" sz="800" b="1" spc="100" kern="0" dirty="0">
                <a:solidFill>
                  <a:srgbClr val="B45309"/>
                </a:solidFill>
                <a:latin typeface="Calibri" pitchFamily="34" charset="0"/>
                <a:ea typeface="Calibri" pitchFamily="34" charset="-122"/>
                <a:cs typeface="Calibri" pitchFamily="34" charset="-120"/>
              </a:rPr>
              <a:t>DRAFT · REGISTER</a:t>
            </a:r>
            <a:endParaRPr lang="en-US" sz="800" dirty="0"/>
          </a:p>
        </p:txBody>
      </p:sp>
      <p:sp>
        <p:nvSpPr>
          <p:cNvPr id="14" name="Text 12"/>
          <p:cNvSpPr txBox="1"/>
          <p:nvPr/>
        </p:nvSpPr>
        <p:spPr>
          <a:xfrm>
            <a:off x="3429000" y="1856232"/>
            <a:ext cx="2286000" cy="320040"/>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Prepare a change</a:t>
            </a:r>
            <a:endParaRPr lang="en-US" sz="1300" dirty="0"/>
          </a:p>
        </p:txBody>
      </p:sp>
      <p:sp>
        <p:nvSpPr>
          <p:cNvPr id="15" name="Text 13"/>
          <p:cNvSpPr txBox="1"/>
          <p:nvPr/>
        </p:nvSpPr>
        <p:spPr>
          <a:xfrm>
            <a:off x="3429000" y="2240280"/>
            <a:ext cx="2286000" cy="86868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The assistant prepares; the customer confirms before anything is written. Settlement drafts, task registration, action requests.</a:t>
            </a:r>
            <a:endParaRPr lang="en-US" sz="850" dirty="0"/>
          </a:p>
        </p:txBody>
      </p:sp>
      <p:sp>
        <p:nvSpPr>
          <p:cNvPr id="16" name="Text 14"/>
          <p:cNvSpPr txBox="1"/>
          <p:nvPr/>
        </p:nvSpPr>
        <p:spPr>
          <a:xfrm>
            <a:off x="3429000" y="3127248"/>
            <a:ext cx="2286000" cy="320040"/>
          </a:xfrm>
          <a:prstGeom prst="rect">
            <a:avLst/>
          </a:prstGeom>
          <a:noFill/>
          <a:ln/>
        </p:spPr>
        <p:txBody>
          <a:bodyPr wrap="square" lIns="0" tIns="0" rIns="0" bIns="0" rtlCol="0" anchor="b"/>
          <a:lstStyle/>
          <a:p>
            <a:pPr indent="0" marL="0">
              <a:buNone/>
            </a:pPr>
            <a:r>
              <a:rPr lang="en-US" sz="800" i="1" dirty="0">
                <a:solidFill>
                  <a:srgbClr val="7A8593"/>
                </a:solidFill>
                <a:latin typeface="Calibri" pitchFamily="34" charset="0"/>
                <a:ea typeface="Calibri" pitchFamily="34" charset="-122"/>
                <a:cs typeface="Calibri" pitchFamily="34" charset="-120"/>
              </a:rPr>
              <a:t>Confirmation is enforced by the gateway, not by the prompt.</a:t>
            </a:r>
            <a:endParaRPr lang="en-US" sz="800" dirty="0"/>
          </a:p>
        </p:txBody>
      </p:sp>
      <p:sp>
        <p:nvSpPr>
          <p:cNvPr id="17" name="Shape 15"/>
          <p:cNvSpPr/>
          <p:nvPr/>
        </p:nvSpPr>
        <p:spPr>
          <a:xfrm>
            <a:off x="6080760" y="1325880"/>
            <a:ext cx="2651760" cy="2194560"/>
          </a:xfrm>
          <a:prstGeom prst="roundRect">
            <a:avLst>
              <a:gd name="adj" fmla="val 2500"/>
            </a:avLst>
          </a:prstGeom>
          <a:solidFill>
            <a:srgbClr val="F5F7FA"/>
          </a:solidFill>
          <a:ln w="9525">
            <a:solidFill>
              <a:srgbClr val="D9E0EA"/>
            </a:solidFill>
            <a:prstDash val="solid"/>
          </a:ln>
        </p:spPr>
      </p:sp>
      <p:sp>
        <p:nvSpPr>
          <p:cNvPr id="18" name="Shape 16"/>
          <p:cNvSpPr/>
          <p:nvPr/>
        </p:nvSpPr>
        <p:spPr>
          <a:xfrm>
            <a:off x="6263640" y="1508760"/>
            <a:ext cx="457200" cy="73152"/>
          </a:xfrm>
          <a:prstGeom prst="rect">
            <a:avLst/>
          </a:prstGeom>
          <a:solidFill>
            <a:srgbClr val="B91C1C"/>
          </a:solidFill>
          <a:ln w="12700">
            <a:solidFill>
              <a:srgbClr val="B91C1C"/>
            </a:solidFill>
            <a:prstDash val="solid"/>
          </a:ln>
        </p:spPr>
      </p:sp>
      <p:sp>
        <p:nvSpPr>
          <p:cNvPr id="19" name="Text 17"/>
          <p:cNvSpPr txBox="1"/>
          <p:nvPr/>
        </p:nvSpPr>
        <p:spPr>
          <a:xfrm>
            <a:off x="6263640" y="1645920"/>
            <a:ext cx="2286000" cy="182880"/>
          </a:xfrm>
          <a:prstGeom prst="rect">
            <a:avLst/>
          </a:prstGeom>
          <a:noFill/>
          <a:ln/>
        </p:spPr>
        <p:txBody>
          <a:bodyPr wrap="square" lIns="0" tIns="0" rIns="0" bIns="0" rtlCol="0" anchor="ctr"/>
          <a:lstStyle/>
          <a:p>
            <a:pPr indent="0" marL="0">
              <a:buNone/>
            </a:pPr>
            <a:r>
              <a:rPr lang="en-US" sz="800" b="1" spc="100" kern="0" dirty="0">
                <a:solidFill>
                  <a:srgbClr val="B91C1C"/>
                </a:solidFill>
                <a:latin typeface="Calibri" pitchFamily="34" charset="0"/>
                <a:ea typeface="Calibri" pitchFamily="34" charset="-122"/>
                <a:cs typeface="Calibri" pitchFamily="34" charset="-120"/>
              </a:rPr>
              <a:t>PAY · SETTLE · EXECUTE</a:t>
            </a:r>
            <a:endParaRPr lang="en-US" sz="800" dirty="0"/>
          </a:p>
        </p:txBody>
      </p:sp>
      <p:sp>
        <p:nvSpPr>
          <p:cNvPr id="20" name="Text 18"/>
          <p:cNvSpPr txBox="1"/>
          <p:nvPr/>
        </p:nvSpPr>
        <p:spPr>
          <a:xfrm>
            <a:off x="6263640" y="1856232"/>
            <a:ext cx="2286000" cy="320040"/>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Move money, commit</a:t>
            </a:r>
            <a:endParaRPr lang="en-US" sz="1300" dirty="0"/>
          </a:p>
        </p:txBody>
      </p:sp>
      <p:sp>
        <p:nvSpPr>
          <p:cNvPr id="21" name="Text 19"/>
          <p:cNvSpPr txBox="1"/>
          <p:nvPr/>
        </p:nvSpPr>
        <p:spPr>
          <a:xfrm>
            <a:off x="6263640" y="2240280"/>
            <a:ext cx="2286000" cy="86868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Never executed by the assistant alone. The request enters the product's own approval line and limits; the assistant reports the outcome.</a:t>
            </a:r>
            <a:endParaRPr lang="en-US" sz="850" dirty="0"/>
          </a:p>
        </p:txBody>
      </p:sp>
      <p:sp>
        <p:nvSpPr>
          <p:cNvPr id="22" name="Text 20"/>
          <p:cNvSpPr txBox="1"/>
          <p:nvPr/>
        </p:nvSpPr>
        <p:spPr>
          <a:xfrm>
            <a:off x="6263640" y="3127248"/>
            <a:ext cx="2286000" cy="320040"/>
          </a:xfrm>
          <a:prstGeom prst="rect">
            <a:avLst/>
          </a:prstGeom>
          <a:noFill/>
          <a:ln/>
        </p:spPr>
        <p:txBody>
          <a:bodyPr wrap="square" lIns="0" tIns="0" rIns="0" bIns="0" rtlCol="0" anchor="b"/>
          <a:lstStyle/>
          <a:p>
            <a:pPr indent="0" marL="0">
              <a:buNone/>
            </a:pPr>
            <a:r>
              <a:rPr lang="en-US" sz="800" i="1" dirty="0">
                <a:solidFill>
                  <a:srgbClr val="7A8593"/>
                </a:solidFill>
                <a:latin typeface="Calibri" pitchFamily="34" charset="0"/>
                <a:ea typeface="Calibri" pitchFamily="34" charset="-122"/>
                <a:cs typeface="Calibri" pitchFamily="34" charset="-120"/>
              </a:rPr>
              <a:t>Existing approval lines stay in charge.</a:t>
            </a:r>
            <a:endParaRPr lang="en-US" sz="800" dirty="0"/>
          </a:p>
        </p:txBody>
      </p:sp>
      <p:sp>
        <p:nvSpPr>
          <p:cNvPr id="23" name="Shape 21"/>
          <p:cNvSpPr/>
          <p:nvPr/>
        </p:nvSpPr>
        <p:spPr>
          <a:xfrm>
            <a:off x="411480" y="3703320"/>
            <a:ext cx="8321040" cy="914400"/>
          </a:xfrm>
          <a:prstGeom prst="roundRect">
            <a:avLst>
              <a:gd name="adj" fmla="val 6000"/>
            </a:avLst>
          </a:prstGeom>
          <a:solidFill>
            <a:srgbClr val="FFFFFF"/>
          </a:solidFill>
          <a:ln w="9525">
            <a:solidFill>
              <a:srgbClr val="D9E0EA"/>
            </a:solidFill>
            <a:prstDash val="solid"/>
          </a:ln>
        </p:spPr>
      </p:sp>
      <p:sp>
        <p:nvSpPr>
          <p:cNvPr id="24" name="Text 22"/>
          <p:cNvSpPr txBox="1"/>
          <p:nvPr/>
        </p:nvSpPr>
        <p:spPr>
          <a:xfrm>
            <a:off x="594360" y="3794760"/>
            <a:ext cx="36576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ALWAYS ON, WHATEVER THE TIER</a:t>
            </a:r>
            <a:endParaRPr lang="en-US" sz="800" dirty="0"/>
          </a:p>
        </p:txBody>
      </p:sp>
      <p:sp>
        <p:nvSpPr>
          <p:cNvPr id="25" name="Text 23"/>
          <p:cNvSpPr txBox="1"/>
          <p:nvPr/>
        </p:nvSpPr>
        <p:spPr>
          <a:xfrm>
            <a:off x="594360" y="4041648"/>
            <a:ext cx="1920240" cy="201168"/>
          </a:xfrm>
          <a:prstGeom prst="rect">
            <a:avLst/>
          </a:prstGeom>
          <a:noFill/>
          <a:ln/>
        </p:spPr>
        <p:txBody>
          <a:bodyPr wrap="square" lIns="0" tIns="0" rIns="0" bIns="0" rtlCol="0" anchor="ctr"/>
          <a:lstStyle/>
          <a:p>
            <a:pPr indent="0" marL="0">
              <a:buNone/>
            </a:pPr>
            <a:r>
              <a:rPr lang="en-US" sz="900" b="1" dirty="0">
                <a:solidFill>
                  <a:srgbClr val="1C2433"/>
                </a:solidFill>
                <a:latin typeface="Calibri" pitchFamily="34" charset="0"/>
                <a:ea typeface="Calibri" pitchFamily="34" charset="-122"/>
                <a:cs typeface="Calibri" pitchFamily="34" charset="-120"/>
              </a:rPr>
              <a:t>Per-customer activation</a:t>
            </a:r>
            <a:endParaRPr lang="en-US" sz="900" dirty="0"/>
          </a:p>
        </p:txBody>
      </p:sp>
      <p:sp>
        <p:nvSpPr>
          <p:cNvPr id="26" name="Text 24"/>
          <p:cNvSpPr txBox="1"/>
          <p:nvPr/>
        </p:nvSpPr>
        <p:spPr>
          <a:xfrm>
            <a:off x="594360" y="4242816"/>
            <a:ext cx="1920240" cy="292608"/>
          </a:xfrm>
          <a:prstGeom prst="rect">
            <a:avLst/>
          </a:prstGeom>
          <a:noFill/>
          <a:ln/>
        </p:spPr>
        <p:txBody>
          <a:bodyPr wrap="square" lIns="0" tIns="0" rIns="0" bIns="0" rtlCol="0" anchor="ctr"/>
          <a:lstStyle/>
          <a:p>
            <a:pPr indent="0" marL="0">
              <a:buNone/>
            </a:pPr>
            <a:r>
              <a:rPr lang="en-US" sz="750" dirty="0">
                <a:solidFill>
                  <a:srgbClr val="4A5568"/>
                </a:solidFill>
                <a:latin typeface="Calibri" pitchFamily="34" charset="0"/>
                <a:ea typeface="Calibri" pitchFamily="34" charset="-122"/>
                <a:cs typeface="Calibri" pitchFamily="34" charset="-120"/>
              </a:rPr>
              <a:t>only the tools a customer needs are visible</a:t>
            </a:r>
            <a:endParaRPr lang="en-US" sz="750" dirty="0"/>
          </a:p>
        </p:txBody>
      </p:sp>
      <p:sp>
        <p:nvSpPr>
          <p:cNvPr id="27" name="Text 25"/>
          <p:cNvSpPr txBox="1"/>
          <p:nvPr/>
        </p:nvSpPr>
        <p:spPr>
          <a:xfrm>
            <a:off x="2651760" y="4041648"/>
            <a:ext cx="1920240" cy="201168"/>
          </a:xfrm>
          <a:prstGeom prst="rect">
            <a:avLst/>
          </a:prstGeom>
          <a:noFill/>
          <a:ln/>
        </p:spPr>
        <p:txBody>
          <a:bodyPr wrap="square" lIns="0" tIns="0" rIns="0" bIns="0" rtlCol="0" anchor="ctr"/>
          <a:lstStyle/>
          <a:p>
            <a:pPr indent="0" marL="0">
              <a:buNone/>
            </a:pPr>
            <a:r>
              <a:rPr lang="en-US" sz="900" b="1" dirty="0">
                <a:solidFill>
                  <a:srgbClr val="1C2433"/>
                </a:solidFill>
                <a:latin typeface="Calibri" pitchFamily="34" charset="0"/>
                <a:ea typeface="Calibri" pitchFamily="34" charset="-122"/>
                <a:cs typeface="Calibri" pitchFamily="34" charset="-120"/>
              </a:rPr>
              <a:t>Organization scoping</a:t>
            </a:r>
            <a:endParaRPr lang="en-US" sz="900" dirty="0"/>
          </a:p>
        </p:txBody>
      </p:sp>
      <p:sp>
        <p:nvSpPr>
          <p:cNvPr id="28" name="Text 26"/>
          <p:cNvSpPr txBox="1"/>
          <p:nvPr/>
        </p:nvSpPr>
        <p:spPr>
          <a:xfrm>
            <a:off x="2651760" y="4242816"/>
            <a:ext cx="1920240" cy="292608"/>
          </a:xfrm>
          <a:prstGeom prst="rect">
            <a:avLst/>
          </a:prstGeom>
          <a:noFill/>
          <a:ln/>
        </p:spPr>
        <p:txBody>
          <a:bodyPr wrap="square" lIns="0" tIns="0" rIns="0" bIns="0" rtlCol="0" anchor="ctr"/>
          <a:lstStyle/>
          <a:p>
            <a:pPr indent="0" marL="0">
              <a:buNone/>
            </a:pPr>
            <a:r>
              <a:rPr lang="en-US" sz="750" dirty="0">
                <a:solidFill>
                  <a:srgbClr val="4A5568"/>
                </a:solidFill>
                <a:latin typeface="Calibri" pitchFamily="34" charset="0"/>
                <a:ea typeface="Calibri" pitchFamily="34" charset="-122"/>
                <a:cs typeface="Calibri" pitchFamily="34" charset="-120"/>
              </a:rPr>
              <a:t>every call limited to the customer's own data</a:t>
            </a:r>
            <a:endParaRPr lang="en-US" sz="750" dirty="0"/>
          </a:p>
        </p:txBody>
      </p:sp>
      <p:sp>
        <p:nvSpPr>
          <p:cNvPr id="29" name="Text 27"/>
          <p:cNvSpPr txBox="1"/>
          <p:nvPr/>
        </p:nvSpPr>
        <p:spPr>
          <a:xfrm>
            <a:off x="4709160" y="4041648"/>
            <a:ext cx="1920240" cy="201168"/>
          </a:xfrm>
          <a:prstGeom prst="rect">
            <a:avLst/>
          </a:prstGeom>
          <a:noFill/>
          <a:ln/>
        </p:spPr>
        <p:txBody>
          <a:bodyPr wrap="square" lIns="0" tIns="0" rIns="0" bIns="0" rtlCol="0" anchor="ctr"/>
          <a:lstStyle/>
          <a:p>
            <a:pPr indent="0" marL="0">
              <a:buNone/>
            </a:pPr>
            <a:r>
              <a:rPr lang="en-US" sz="900" b="1" dirty="0">
                <a:solidFill>
                  <a:srgbClr val="1C2433"/>
                </a:solidFill>
                <a:latin typeface="Calibri" pitchFamily="34" charset="0"/>
                <a:ea typeface="Calibri" pitchFamily="34" charset="-122"/>
                <a:cs typeface="Calibri" pitchFamily="34" charset="-120"/>
              </a:rPr>
              <a:t>Personal identity</a:t>
            </a:r>
            <a:endParaRPr lang="en-US" sz="900" dirty="0"/>
          </a:p>
        </p:txBody>
      </p:sp>
      <p:sp>
        <p:nvSpPr>
          <p:cNvPr id="30" name="Text 28"/>
          <p:cNvSpPr txBox="1"/>
          <p:nvPr/>
        </p:nvSpPr>
        <p:spPr>
          <a:xfrm>
            <a:off x="4709160" y="4242816"/>
            <a:ext cx="1920240" cy="292608"/>
          </a:xfrm>
          <a:prstGeom prst="rect">
            <a:avLst/>
          </a:prstGeom>
          <a:noFill/>
          <a:ln/>
        </p:spPr>
        <p:txBody>
          <a:bodyPr wrap="square" lIns="0" tIns="0" rIns="0" bIns="0" rtlCol="0" anchor="ctr"/>
          <a:lstStyle/>
          <a:p>
            <a:pPr indent="0" marL="0">
              <a:buNone/>
            </a:pPr>
            <a:r>
              <a:rPr lang="en-US" sz="750" dirty="0">
                <a:solidFill>
                  <a:srgbClr val="4A5568"/>
                </a:solidFill>
                <a:latin typeface="Calibri" pitchFamily="34" charset="0"/>
                <a:ea typeface="Calibri" pitchFamily="34" charset="-122"/>
                <a:cs typeface="Calibri" pitchFamily="34" charset="-120"/>
              </a:rPr>
              <a:t>the product sees the real user, not a shared key</a:t>
            </a:r>
            <a:endParaRPr lang="en-US" sz="750" dirty="0"/>
          </a:p>
        </p:txBody>
      </p:sp>
      <p:sp>
        <p:nvSpPr>
          <p:cNvPr id="31" name="Text 29"/>
          <p:cNvSpPr txBox="1"/>
          <p:nvPr/>
        </p:nvSpPr>
        <p:spPr>
          <a:xfrm>
            <a:off x="6766560" y="4041648"/>
            <a:ext cx="1920240" cy="201168"/>
          </a:xfrm>
          <a:prstGeom prst="rect">
            <a:avLst/>
          </a:prstGeom>
          <a:noFill/>
          <a:ln/>
        </p:spPr>
        <p:txBody>
          <a:bodyPr wrap="square" lIns="0" tIns="0" rIns="0" bIns="0" rtlCol="0" anchor="ctr"/>
          <a:lstStyle/>
          <a:p>
            <a:pPr indent="0" marL="0">
              <a:buNone/>
            </a:pPr>
            <a:r>
              <a:rPr lang="en-US" sz="900" b="1" dirty="0">
                <a:solidFill>
                  <a:srgbClr val="1C2433"/>
                </a:solidFill>
                <a:latin typeface="Calibri" pitchFamily="34" charset="0"/>
                <a:ea typeface="Calibri" pitchFamily="34" charset="-122"/>
                <a:cs typeface="Calibri" pitchFamily="34" charset="-120"/>
              </a:rPr>
              <a:t>Audit trail</a:t>
            </a:r>
            <a:endParaRPr lang="en-US" sz="900" dirty="0"/>
          </a:p>
        </p:txBody>
      </p:sp>
      <p:sp>
        <p:nvSpPr>
          <p:cNvPr id="32" name="Text 30"/>
          <p:cNvSpPr txBox="1"/>
          <p:nvPr/>
        </p:nvSpPr>
        <p:spPr>
          <a:xfrm>
            <a:off x="6766560" y="4242816"/>
            <a:ext cx="1920240" cy="292608"/>
          </a:xfrm>
          <a:prstGeom prst="rect">
            <a:avLst/>
          </a:prstGeom>
          <a:noFill/>
          <a:ln/>
        </p:spPr>
        <p:txBody>
          <a:bodyPr wrap="square" lIns="0" tIns="0" rIns="0" bIns="0" rtlCol="0" anchor="ctr"/>
          <a:lstStyle/>
          <a:p>
            <a:pPr indent="0" marL="0">
              <a:buNone/>
            </a:pPr>
            <a:r>
              <a:rPr lang="en-US" sz="750" dirty="0">
                <a:solidFill>
                  <a:srgbClr val="4A5568"/>
                </a:solidFill>
                <a:latin typeface="Calibri" pitchFamily="34" charset="0"/>
                <a:ea typeface="Calibri" pitchFamily="34" charset="-122"/>
                <a:cs typeface="Calibri" pitchFamily="34" charset="-120"/>
              </a:rPr>
              <a:t>calls, refusals and sign-ins, with reasons</a:t>
            </a:r>
            <a:endParaRPr lang="en-US" sz="750" dirty="0"/>
          </a:p>
        </p:txBody>
      </p:sp>
      <p:sp>
        <p:nvSpPr>
          <p:cNvPr id="33" name="Text 31"/>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34" name="Text 32"/>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PACKAGING</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One registry, three ways to expose it</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The same registered products can be offered as one catalog, as a package per customer group, or as a single product's own MCP server.</a:t>
            </a:r>
            <a:endParaRPr lang="en-US" sz="1100" dirty="0"/>
          </a:p>
        </p:txBody>
      </p:sp>
      <p:sp>
        <p:nvSpPr>
          <p:cNvPr id="5" name="Shape 3"/>
          <p:cNvSpPr/>
          <p:nvPr/>
        </p:nvSpPr>
        <p:spPr>
          <a:xfrm>
            <a:off x="411480" y="1325880"/>
            <a:ext cx="8321040" cy="914400"/>
          </a:xfrm>
          <a:prstGeom prst="roundRect">
            <a:avLst>
              <a:gd name="adj" fmla="val 6000"/>
            </a:avLst>
          </a:prstGeom>
          <a:solidFill>
            <a:srgbClr val="FFFFFF"/>
          </a:solidFill>
          <a:ln w="9525">
            <a:solidFill>
              <a:srgbClr val="D9E0EA"/>
            </a:solidFill>
            <a:prstDash val="solid"/>
          </a:ln>
        </p:spPr>
      </p:sp>
      <p:sp>
        <p:nvSpPr>
          <p:cNvPr id="6" name="Shape 4"/>
          <p:cNvSpPr/>
          <p:nvPr/>
        </p:nvSpPr>
        <p:spPr>
          <a:xfrm>
            <a:off x="594360" y="1572768"/>
            <a:ext cx="420624" cy="420624"/>
          </a:xfrm>
          <a:prstGeom prst="ellipse">
            <a:avLst/>
          </a:prstGeom>
          <a:solidFill>
            <a:srgbClr val="14213D"/>
          </a:solidFill>
          <a:ln w="12700">
            <a:solidFill>
              <a:srgbClr val="14213D"/>
            </a:solidFill>
            <a:prstDash val="solid"/>
          </a:ln>
        </p:spPr>
      </p:sp>
      <p:pic>
        <p:nvPicPr>
          <p:cNvPr id="7" name="Image 0" descr="preencoded.png">    </p:cNvPr>
          <p:cNvPicPr>
            <a:picLocks noChangeAspect="1"/>
          </p:cNvPicPr>
          <p:nvPr/>
        </p:nvPicPr>
        <p:blipFill>
          <a:blip r:embed="rId1"/>
          <a:stretch>
            <a:fillRect/>
          </a:stretch>
        </p:blipFill>
        <p:spPr>
          <a:xfrm>
            <a:off x="699516" y="1677924"/>
            <a:ext cx="210312" cy="210312"/>
          </a:xfrm>
          <a:prstGeom prst="rect">
            <a:avLst/>
          </a:prstGeom>
        </p:spPr>
      </p:pic>
      <p:sp>
        <p:nvSpPr>
          <p:cNvPr id="8" name="Text 5"/>
          <p:cNvSpPr txBox="1"/>
          <p:nvPr/>
        </p:nvSpPr>
        <p:spPr>
          <a:xfrm>
            <a:off x="1188720" y="1435608"/>
            <a:ext cx="3017520" cy="365760"/>
          </a:xfrm>
          <a:prstGeom prst="rect">
            <a:avLst/>
          </a:prstGeom>
          <a:noFill/>
          <a:ln/>
        </p:spPr>
        <p:txBody>
          <a:bodyPr wrap="square" lIns="0" tIns="0" rIns="0" bIns="0" rtlCol="0" anchor="ctr"/>
          <a:lstStyle/>
          <a:p>
            <a:pPr indent="0" marL="0">
              <a:buNone/>
            </a:pPr>
            <a:r>
              <a:rPr lang="en-US" sz="1200" b="1" dirty="0">
                <a:solidFill>
                  <a:srgbClr val="1C2433"/>
                </a:solidFill>
                <a:latin typeface="Calibri" pitchFamily="34" charset="0"/>
                <a:ea typeface="Calibri" pitchFamily="34" charset="-122"/>
                <a:cs typeface="Calibri" pitchFamily="34" charset="-120"/>
              </a:rPr>
              <a:t>Shared catalog</a:t>
            </a:r>
            <a:endParaRPr lang="en-US" sz="1200" dirty="0"/>
          </a:p>
        </p:txBody>
      </p:sp>
      <p:sp>
        <p:nvSpPr>
          <p:cNvPr id="9" name="Text 6"/>
          <p:cNvSpPr txBox="1"/>
          <p:nvPr/>
        </p:nvSpPr>
        <p:spPr>
          <a:xfrm>
            <a:off x="1188720" y="1828800"/>
            <a:ext cx="3017520" cy="274320"/>
          </a:xfrm>
          <a:prstGeom prst="rect">
            <a:avLst/>
          </a:prstGeom>
          <a:noFill/>
          <a:ln/>
        </p:spPr>
        <p:txBody>
          <a:bodyPr wrap="square" lIns="0" tIns="0" rIns="0" bIns="0" rtlCol="0" anchor="ctr"/>
          <a:lstStyle/>
          <a:p>
            <a:pPr indent="0" marL="0">
              <a:buNone/>
            </a:pPr>
            <a:r>
              <a:rPr lang="en-US" sz="900" dirty="0">
                <a:solidFill>
                  <a:srgbClr val="0F766E"/>
                </a:solidFill>
                <a:latin typeface="Courier New" pitchFamily="34" charset="0"/>
                <a:ea typeface="Courier New" pitchFamily="34" charset="-122"/>
                <a:cs typeface="Courier New" pitchFamily="34" charset="-120"/>
              </a:rPr>
              <a:t>/mcp</a:t>
            </a:r>
            <a:endParaRPr lang="en-US" sz="900" dirty="0"/>
          </a:p>
        </p:txBody>
      </p:sp>
      <p:sp>
        <p:nvSpPr>
          <p:cNvPr id="10" name="Text 7"/>
          <p:cNvSpPr txBox="1"/>
          <p:nvPr/>
        </p:nvSpPr>
        <p:spPr>
          <a:xfrm>
            <a:off x="4389120" y="1435608"/>
            <a:ext cx="4160520" cy="7132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Every product the customer is entitled to, in one connector. For power users and internal teams.</a:t>
            </a:r>
            <a:endParaRPr lang="en-US" sz="900" dirty="0"/>
          </a:p>
        </p:txBody>
      </p:sp>
      <p:sp>
        <p:nvSpPr>
          <p:cNvPr id="11" name="Shape 8"/>
          <p:cNvSpPr/>
          <p:nvPr/>
        </p:nvSpPr>
        <p:spPr>
          <a:xfrm>
            <a:off x="411480" y="2377440"/>
            <a:ext cx="8321040" cy="914400"/>
          </a:xfrm>
          <a:prstGeom prst="roundRect">
            <a:avLst>
              <a:gd name="adj" fmla="val 6000"/>
            </a:avLst>
          </a:prstGeom>
          <a:solidFill>
            <a:srgbClr val="FFFFFF"/>
          </a:solidFill>
          <a:ln w="9525">
            <a:solidFill>
              <a:srgbClr val="D9E0EA"/>
            </a:solidFill>
            <a:prstDash val="solid"/>
          </a:ln>
        </p:spPr>
      </p:sp>
      <p:sp>
        <p:nvSpPr>
          <p:cNvPr id="12" name="Shape 9"/>
          <p:cNvSpPr/>
          <p:nvPr/>
        </p:nvSpPr>
        <p:spPr>
          <a:xfrm>
            <a:off x="594360" y="2624328"/>
            <a:ext cx="420624" cy="420624"/>
          </a:xfrm>
          <a:prstGeom prst="ellipse">
            <a:avLst/>
          </a:prstGeom>
          <a:solidFill>
            <a:srgbClr val="0F766E"/>
          </a:solidFill>
          <a:ln w="12700">
            <a:solidFill>
              <a:srgbClr val="0F766E"/>
            </a:solidFill>
            <a:prstDash val="solid"/>
          </a:ln>
        </p:spPr>
      </p:sp>
      <p:pic>
        <p:nvPicPr>
          <p:cNvPr id="13" name="Image 1" descr="preencoded.png">    </p:cNvPr>
          <p:cNvPicPr>
            <a:picLocks noChangeAspect="1"/>
          </p:cNvPicPr>
          <p:nvPr/>
        </p:nvPicPr>
        <p:blipFill>
          <a:blip r:embed="rId2"/>
          <a:stretch>
            <a:fillRect/>
          </a:stretch>
        </p:blipFill>
        <p:spPr>
          <a:xfrm>
            <a:off x="699516" y="2729484"/>
            <a:ext cx="210312" cy="210312"/>
          </a:xfrm>
          <a:prstGeom prst="rect">
            <a:avLst/>
          </a:prstGeom>
        </p:spPr>
      </p:pic>
      <p:sp>
        <p:nvSpPr>
          <p:cNvPr id="14" name="Text 10"/>
          <p:cNvSpPr txBox="1"/>
          <p:nvPr/>
        </p:nvSpPr>
        <p:spPr>
          <a:xfrm>
            <a:off x="1188720" y="2487168"/>
            <a:ext cx="3017520" cy="365760"/>
          </a:xfrm>
          <a:prstGeom prst="rect">
            <a:avLst/>
          </a:prstGeom>
          <a:noFill/>
          <a:ln/>
        </p:spPr>
        <p:txBody>
          <a:bodyPr wrap="square" lIns="0" tIns="0" rIns="0" bIns="0" rtlCol="0" anchor="ctr"/>
          <a:lstStyle/>
          <a:p>
            <a:pPr indent="0" marL="0">
              <a:buNone/>
            </a:pPr>
            <a:r>
              <a:rPr lang="en-US" sz="1200" b="1" dirty="0">
                <a:solidFill>
                  <a:srgbClr val="1C2433"/>
                </a:solidFill>
                <a:latin typeface="Calibri" pitchFamily="34" charset="0"/>
                <a:ea typeface="Calibri" pitchFamily="34" charset="-122"/>
                <a:cs typeface="Calibri" pitchFamily="34" charset="-120"/>
              </a:rPr>
              <a:t>Package per customer group or product line</a:t>
            </a:r>
            <a:endParaRPr lang="en-US" sz="1200" dirty="0"/>
          </a:p>
        </p:txBody>
      </p:sp>
      <p:sp>
        <p:nvSpPr>
          <p:cNvPr id="15" name="Text 11"/>
          <p:cNvSpPr txBox="1"/>
          <p:nvPr/>
        </p:nvSpPr>
        <p:spPr>
          <a:xfrm>
            <a:off x="1188720" y="2880360"/>
            <a:ext cx="3017520" cy="274320"/>
          </a:xfrm>
          <a:prstGeom prst="rect">
            <a:avLst/>
          </a:prstGeom>
          <a:noFill/>
          <a:ln/>
        </p:spPr>
        <p:txBody>
          <a:bodyPr wrap="square" lIns="0" tIns="0" rIns="0" bIns="0" rtlCol="0" anchor="ctr"/>
          <a:lstStyle/>
          <a:p>
            <a:pPr indent="0" marL="0">
              <a:buNone/>
            </a:pPr>
            <a:r>
              <a:rPr lang="en-US" sz="900" dirty="0">
                <a:solidFill>
                  <a:srgbClr val="0F766E"/>
                </a:solidFill>
                <a:latin typeface="Courier New" pitchFamily="34" charset="0"/>
                <a:ea typeface="Courier New" pitchFamily="34" charset="-122"/>
                <a:cs typeface="Courier New" pitchFamily="34" charset="-120"/>
              </a:rPr>
              <a:t>/mcp/&lt;group&gt;</a:t>
            </a:r>
            <a:endParaRPr lang="en-US" sz="900" dirty="0"/>
          </a:p>
        </p:txBody>
      </p:sp>
      <p:sp>
        <p:nvSpPr>
          <p:cNvPr id="16" name="Text 12"/>
          <p:cNvSpPr txBox="1"/>
          <p:nvPr/>
        </p:nvSpPr>
        <p:spPr>
          <a:xfrm>
            <a:off x="4389120" y="2487168"/>
            <a:ext cx="4160520" cy="7132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A chosen set of products on its own address with its own sign-in rule and entitlement. One connector for a customer segment, a domain package, or a partner.</a:t>
            </a:r>
            <a:endParaRPr lang="en-US" sz="900" dirty="0"/>
          </a:p>
        </p:txBody>
      </p:sp>
      <p:sp>
        <p:nvSpPr>
          <p:cNvPr id="17" name="Shape 13"/>
          <p:cNvSpPr/>
          <p:nvPr/>
        </p:nvSpPr>
        <p:spPr>
          <a:xfrm>
            <a:off x="411480" y="3429000"/>
            <a:ext cx="8321040" cy="914400"/>
          </a:xfrm>
          <a:prstGeom prst="roundRect">
            <a:avLst>
              <a:gd name="adj" fmla="val 6000"/>
            </a:avLst>
          </a:prstGeom>
          <a:solidFill>
            <a:srgbClr val="FFFFFF"/>
          </a:solidFill>
          <a:ln w="9525">
            <a:solidFill>
              <a:srgbClr val="D9E0EA"/>
            </a:solidFill>
            <a:prstDash val="solid"/>
          </a:ln>
        </p:spPr>
      </p:sp>
      <p:sp>
        <p:nvSpPr>
          <p:cNvPr id="18" name="Shape 14"/>
          <p:cNvSpPr/>
          <p:nvPr/>
        </p:nvSpPr>
        <p:spPr>
          <a:xfrm>
            <a:off x="594360" y="3675888"/>
            <a:ext cx="420624" cy="420624"/>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699516" y="3781044"/>
            <a:ext cx="210312" cy="210312"/>
          </a:xfrm>
          <a:prstGeom prst="rect">
            <a:avLst/>
          </a:prstGeom>
        </p:spPr>
      </p:pic>
      <p:sp>
        <p:nvSpPr>
          <p:cNvPr id="20" name="Text 15"/>
          <p:cNvSpPr txBox="1"/>
          <p:nvPr/>
        </p:nvSpPr>
        <p:spPr>
          <a:xfrm>
            <a:off x="1188720" y="3538728"/>
            <a:ext cx="3017520" cy="365760"/>
          </a:xfrm>
          <a:prstGeom prst="rect">
            <a:avLst/>
          </a:prstGeom>
          <a:noFill/>
          <a:ln/>
        </p:spPr>
        <p:txBody>
          <a:bodyPr wrap="square" lIns="0" tIns="0" rIns="0" bIns="0" rtlCol="0" anchor="ctr"/>
          <a:lstStyle/>
          <a:p>
            <a:pPr indent="0" marL="0">
              <a:buNone/>
            </a:pPr>
            <a:r>
              <a:rPr lang="en-US" sz="1200" b="1" dirty="0">
                <a:solidFill>
                  <a:srgbClr val="1C2433"/>
                </a:solidFill>
                <a:latin typeface="Calibri" pitchFamily="34" charset="0"/>
                <a:ea typeface="Calibri" pitchFamily="34" charset="-122"/>
                <a:cs typeface="Calibri" pitchFamily="34" charset="-120"/>
              </a:rPr>
              <a:t>A single product as its own MCP server</a:t>
            </a:r>
            <a:endParaRPr lang="en-US" sz="1200" dirty="0"/>
          </a:p>
        </p:txBody>
      </p:sp>
      <p:sp>
        <p:nvSpPr>
          <p:cNvPr id="21" name="Text 16"/>
          <p:cNvSpPr txBox="1"/>
          <p:nvPr/>
        </p:nvSpPr>
        <p:spPr>
          <a:xfrm>
            <a:off x="1188720" y="3931920"/>
            <a:ext cx="3017520" cy="274320"/>
          </a:xfrm>
          <a:prstGeom prst="rect">
            <a:avLst/>
          </a:prstGeom>
          <a:noFill/>
          <a:ln/>
        </p:spPr>
        <p:txBody>
          <a:bodyPr wrap="square" lIns="0" tIns="0" rIns="0" bIns="0" rtlCol="0" anchor="ctr"/>
          <a:lstStyle/>
          <a:p>
            <a:pPr indent="0" marL="0">
              <a:buNone/>
            </a:pPr>
            <a:r>
              <a:rPr lang="en-US" sz="900" dirty="0">
                <a:solidFill>
                  <a:srgbClr val="0F766E"/>
                </a:solidFill>
                <a:latin typeface="Courier New" pitchFamily="34" charset="0"/>
                <a:ea typeface="Courier New" pitchFamily="34" charset="-122"/>
                <a:cs typeface="Courier New" pitchFamily="34" charset="-120"/>
              </a:rPr>
              <a:t>/mcp/&lt;product&gt;</a:t>
            </a:r>
            <a:endParaRPr lang="en-US" sz="900" dirty="0"/>
          </a:p>
        </p:txBody>
      </p:sp>
      <p:sp>
        <p:nvSpPr>
          <p:cNvPr id="22" name="Text 17"/>
          <p:cNvSpPr txBox="1"/>
          <p:nvPr/>
        </p:nvSpPr>
        <p:spPr>
          <a:xfrm>
            <a:off x="4389120" y="3538728"/>
            <a:ext cx="4160520" cy="713232"/>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Plain tool names, the shape a vendor's own MCP app has in claude.ai or ChatGPT. Exposed or withdrawn in seconds, no release.</a:t>
            </a:r>
            <a:endParaRPr lang="en-US" sz="900" dirty="0"/>
          </a:p>
        </p:txBody>
      </p:sp>
      <p:sp>
        <p:nvSpPr>
          <p:cNvPr id="23" name="Text 18"/>
          <p:cNvSpPr txBox="1"/>
          <p:nvPr/>
        </p:nvSpPr>
        <p:spPr>
          <a:xfrm>
            <a:off x="411480" y="4480560"/>
            <a:ext cx="8321040" cy="274320"/>
          </a:xfrm>
          <a:prstGeom prst="rect">
            <a:avLst/>
          </a:prstGeom>
          <a:noFill/>
          <a:ln/>
        </p:spPr>
        <p:txBody>
          <a:bodyPr wrap="square" lIns="0" tIns="0" rIns="0" bIns="0" rtlCol="0" anchor="ctr"/>
          <a:lstStyle/>
          <a:p>
            <a:pPr indent="0" marL="0">
              <a:buNone/>
            </a:pPr>
            <a:r>
              <a:rPr lang="en-US" sz="850" i="1" dirty="0">
                <a:solidFill>
                  <a:srgbClr val="7A8593"/>
                </a:solidFill>
                <a:latin typeface="Calibri" pitchFamily="34" charset="0"/>
                <a:ea typeface="Calibri" pitchFamily="34" charset="-122"/>
                <a:cs typeface="Calibri" pitchFamily="34" charset="-120"/>
              </a:rPr>
              <a:t>All three are routing decisions on the same control layer, so policy, identity and audit are identical whichever way a product is offered.</a:t>
            </a:r>
            <a:endParaRPr lang="en-US" sz="850" dirty="0"/>
          </a:p>
        </p:txBody>
      </p:sp>
      <p:sp>
        <p:nvSpPr>
          <p:cNvPr id="24" name="Text 19"/>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25" name="Text 20"/>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USE CASES</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Proposed use cases: domain packages and what customers ask</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Each package is a set of products activated together and delivered through the same registry and control model.</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645920"/>
                <a:gridCol w="1828800"/>
                <a:gridCol w="3474720"/>
                <a:gridCol w="1371600"/>
              </a:tblGrid>
              <a:tr h="29260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Package</a:t>
                      </a:r>
                      <a:endParaRPr lang="en-US" sz="90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solidFill>
                      <a:srgbClr val="14213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Products</a:t>
                      </a:r>
                      <a:endParaRPr lang="en-US" sz="90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solidFill>
                      <a:srgbClr val="14213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 customer asks</a:t>
                      </a:r>
                      <a:endParaRPr lang="en-US" sz="90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solidFill>
                      <a:srgbClr val="14213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Control tier</a:t>
                      </a:r>
                      <a:endParaRPr lang="en-US" sz="90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solidFill>
                      <a:srgbClr val="14213D"/>
                    </a:solidFill>
                  </a:tcPr>
                </a:tc>
              </a:tr>
              <a:tr h="640080">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Expense &amp; Collaboration</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Bizplay · COOCON · FLOW</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“Find this month's items missing receipts, verify the payees, and ask the responsible teams to act.”</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Lookup · Draft</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r>
              <a:tr h="640080">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SME Management</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Gyeongrinara · COOCON</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“Summarize this month's sales, outstanding invoices and what is due this week.”</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Lookup · Draft</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r>
              <a:tr h="640080">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Corporate Treasury</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Branch Q · InhouseBank Q · Dashboard</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“Cash position across accounts this morning; prepare the transfers that need approval.”</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Lookup · Approval line</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r>
              <a:tr h="640080">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Research Administration</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rERP Q · RCMS</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“Check this research expense against the rules before I submit it.”</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Lookup · Draft · Rule check</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r>
            </a:tbl>
          </a:graphicData>
        </a:graphic>
      </p:graphicFrame>
      <p:sp>
        <p:nvSpPr>
          <p:cNvPr id="6" name="Text 3"/>
          <p:cNvSpPr txBox="1"/>
          <p:nvPr/>
        </p:nvSpPr>
        <p:spPr>
          <a:xfrm>
            <a:off x="411480" y="4297680"/>
            <a:ext cx="8321040" cy="320040"/>
          </a:xfrm>
          <a:prstGeom prst="rect">
            <a:avLst/>
          </a:prstGeom>
          <a:noFill/>
          <a:ln/>
        </p:spPr>
        <p:txBody>
          <a:bodyPr wrap="square" lIns="0" tIns="0" rIns="0" bIns="0" rtlCol="0" anchor="ctr"/>
          <a:lstStyle/>
          <a:p>
            <a:pPr indent="0" marL="0">
              <a:buNone/>
            </a:pPr>
            <a:r>
              <a:rPr lang="en-US" sz="850" i="1" dirty="0">
                <a:solidFill>
                  <a:srgbClr val="7A8593"/>
                </a:solidFill>
                <a:latin typeface="Calibri" pitchFamily="34" charset="0"/>
                <a:ea typeface="Calibri" pitchFamily="34" charset="-122"/>
                <a:cs typeface="Calibri" pitchFamily="34" charset="-120"/>
              </a:rPr>
              <a:t>The tier column is the control model applied per package: what customers may look up freely, what they confirm, and what stays inside approval lines.</a:t>
            </a:r>
            <a:endParaRPr lang="en-US" sz="850" dirty="0"/>
          </a:p>
        </p:txBody>
      </p:sp>
      <p:sp>
        <p:nvSpPr>
          <p:cNvPr id="7" name="Text 4"/>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8" name="Text 5"/>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PROPOSED SCOPE</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Proposed scope: three circles of connection</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One registry and one control model serve all three. Each circle adds use cases without adding a new kind of integration.</a:t>
            </a:r>
            <a:endParaRPr lang="en-US" sz="1100" dirty="0"/>
          </a:p>
        </p:txBody>
      </p:sp>
      <p:sp>
        <p:nvSpPr>
          <p:cNvPr id="5" name="Shape 3"/>
          <p:cNvSpPr/>
          <p:nvPr/>
        </p:nvSpPr>
        <p:spPr>
          <a:xfrm>
            <a:off x="411480" y="1325880"/>
            <a:ext cx="2651760" cy="2331720"/>
          </a:xfrm>
          <a:prstGeom prst="roundRect">
            <a:avLst>
              <a:gd name="adj" fmla="val 2353"/>
            </a:avLst>
          </a:prstGeom>
          <a:solidFill>
            <a:srgbClr val="FFFFFF"/>
          </a:solidFill>
          <a:ln w="9525">
            <a:solidFill>
              <a:srgbClr val="D9E0EA"/>
            </a:solidFill>
            <a:prstDash val="solid"/>
          </a:ln>
        </p:spPr>
      </p:sp>
      <p:sp>
        <p:nvSpPr>
          <p:cNvPr id="6" name="Shape 4"/>
          <p:cNvSpPr/>
          <p:nvPr/>
        </p:nvSpPr>
        <p:spPr>
          <a:xfrm>
            <a:off x="594360" y="2761488"/>
            <a:ext cx="2286000" cy="9144"/>
          </a:xfrm>
          <a:prstGeom prst="rect">
            <a:avLst/>
          </a:prstGeom>
          <a:solidFill>
            <a:srgbClr val="D9E0EA"/>
          </a:solidFill>
          <a:ln w="12700">
            <a:solidFill>
              <a:srgbClr val="D9E0EA"/>
            </a:solidFill>
            <a:prstDash val="solid"/>
          </a:ln>
        </p:spPr>
      </p:sp>
      <p:sp>
        <p:nvSpPr>
          <p:cNvPr id="7" name="Text 5"/>
          <p:cNvSpPr txBox="1"/>
          <p:nvPr/>
        </p:nvSpPr>
        <p:spPr>
          <a:xfrm>
            <a:off x="594360" y="2834640"/>
            <a:ext cx="2286000" cy="164592"/>
          </a:xfrm>
          <a:prstGeom prst="rect">
            <a:avLst/>
          </a:prstGeom>
          <a:noFill/>
          <a:ln/>
        </p:spPr>
        <p:txBody>
          <a:bodyPr wrap="square" lIns="0" tIns="0" rIns="0" bIns="0" rtlCol="0" anchor="ctr"/>
          <a:lstStyle/>
          <a:p>
            <a:pPr indent="0" marL="0">
              <a:buNone/>
            </a:pPr>
            <a:r>
              <a:rPr lang="en-US" sz="700" b="1" spc="100" kern="0" dirty="0">
                <a:solidFill>
                  <a:srgbClr val="0F766E"/>
                </a:solidFill>
                <a:latin typeface="Calibri" pitchFamily="34" charset="0"/>
                <a:ea typeface="Calibri" pitchFamily="34" charset="-122"/>
                <a:cs typeface="Calibri" pitchFamily="34" charset="-120"/>
              </a:rPr>
              <a:t>PROPOSED USE CASE</a:t>
            </a:r>
            <a:endParaRPr lang="en-US" sz="700" dirty="0"/>
          </a:p>
        </p:txBody>
      </p:sp>
      <p:sp>
        <p:nvSpPr>
          <p:cNvPr id="8" name="Shape 6"/>
          <p:cNvSpPr/>
          <p:nvPr/>
        </p:nvSpPr>
        <p:spPr>
          <a:xfrm>
            <a:off x="594360" y="1508760"/>
            <a:ext cx="384048" cy="384048"/>
          </a:xfrm>
          <a:prstGeom prst="ellipse">
            <a:avLst/>
          </a:prstGeom>
          <a:solidFill>
            <a:srgbClr val="0F766E"/>
          </a:solidFill>
          <a:ln w="12700">
            <a:solidFill>
              <a:srgbClr val="0F766E"/>
            </a:solidFill>
            <a:prstDash val="solid"/>
          </a:ln>
        </p:spPr>
      </p:sp>
      <p:sp>
        <p:nvSpPr>
          <p:cNvPr id="9" name="Text 7"/>
          <p:cNvSpPr txBox="1"/>
          <p:nvPr/>
        </p:nvSpPr>
        <p:spPr>
          <a:xfrm>
            <a:off x="594360" y="1508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097280" y="1508760"/>
            <a:ext cx="1828800" cy="384048"/>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Group products</a:t>
            </a:r>
            <a:endParaRPr lang="en-US" sz="1300" dirty="0"/>
          </a:p>
        </p:txBody>
      </p:sp>
      <p:sp>
        <p:nvSpPr>
          <p:cNvPr id="11" name="Text 9"/>
          <p:cNvSpPr txBox="1"/>
          <p:nvPr/>
        </p:nvSpPr>
        <p:spPr>
          <a:xfrm>
            <a:off x="594360" y="2011680"/>
            <a:ext cx="2286000" cy="71323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Bizplay, COOCON, FLOW, Gyeongrinara, Branch Q, InhouseBank Q, rERP Q. Domain packages activated customer by customer.</a:t>
            </a:r>
            <a:endParaRPr lang="en-US" sz="850" dirty="0"/>
          </a:p>
        </p:txBody>
      </p:sp>
      <p:sp>
        <p:nvSpPr>
          <p:cNvPr id="12" name="Text 10"/>
          <p:cNvSpPr txBox="1"/>
          <p:nvPr/>
        </p:nvSpPr>
        <p:spPr>
          <a:xfrm>
            <a:off x="594360" y="3017520"/>
            <a:ext cx="2286000" cy="566928"/>
          </a:xfrm>
          <a:prstGeom prst="rect">
            <a:avLst/>
          </a:prstGeom>
          <a:noFill/>
          <a:ln/>
        </p:spPr>
        <p:txBody>
          <a:bodyPr wrap="square" lIns="0" tIns="0" rIns="0" bIns="0" rtlCol="0" anchor="ctr"/>
          <a:lstStyle/>
          <a:p>
            <a:pPr indent="0" marL="0">
              <a:buNone/>
            </a:pPr>
            <a:r>
              <a:rPr lang="en-US" sz="850" i="1" dirty="0">
                <a:solidFill>
                  <a:srgbClr val="1C2433"/>
                </a:solidFill>
                <a:latin typeface="Calibri" pitchFamily="34" charset="0"/>
                <a:ea typeface="Calibri" pitchFamily="34" charset="-122"/>
                <a:cs typeface="Calibri" pitchFamily="34" charset="-120"/>
              </a:rPr>
              <a:t>“Match this month's Bizplay card spending against the Gyeongrinara ledger and list what is not booked yet.”</a:t>
            </a:r>
            <a:endParaRPr lang="en-US" sz="850" dirty="0"/>
          </a:p>
        </p:txBody>
      </p:sp>
      <p:sp>
        <p:nvSpPr>
          <p:cNvPr id="13" name="Shape 11"/>
          <p:cNvSpPr/>
          <p:nvPr/>
        </p:nvSpPr>
        <p:spPr>
          <a:xfrm>
            <a:off x="3090672" y="2212848"/>
            <a:ext cx="128016" cy="219456"/>
          </a:xfrm>
          <a:prstGeom prst="rightArrow">
            <a:avLst/>
          </a:prstGeom>
          <a:solidFill>
            <a:srgbClr val="7A8593"/>
          </a:solidFill>
          <a:ln w="12700">
            <a:solidFill>
              <a:srgbClr val="7A8593"/>
            </a:solidFill>
            <a:prstDash val="solid"/>
          </a:ln>
        </p:spPr>
      </p:sp>
      <p:sp>
        <p:nvSpPr>
          <p:cNvPr id="14" name="Shape 12"/>
          <p:cNvSpPr/>
          <p:nvPr/>
        </p:nvSpPr>
        <p:spPr>
          <a:xfrm>
            <a:off x="3246120" y="1325880"/>
            <a:ext cx="2651760" cy="2331720"/>
          </a:xfrm>
          <a:prstGeom prst="roundRect">
            <a:avLst>
              <a:gd name="adj" fmla="val 2353"/>
            </a:avLst>
          </a:prstGeom>
          <a:solidFill>
            <a:srgbClr val="FFFFFF"/>
          </a:solidFill>
          <a:ln w="9525">
            <a:solidFill>
              <a:srgbClr val="D9E0EA"/>
            </a:solidFill>
            <a:prstDash val="solid"/>
          </a:ln>
        </p:spPr>
      </p:sp>
      <p:sp>
        <p:nvSpPr>
          <p:cNvPr id="15" name="Shape 13"/>
          <p:cNvSpPr/>
          <p:nvPr/>
        </p:nvSpPr>
        <p:spPr>
          <a:xfrm>
            <a:off x="3429000" y="2761488"/>
            <a:ext cx="2286000" cy="9144"/>
          </a:xfrm>
          <a:prstGeom prst="rect">
            <a:avLst/>
          </a:prstGeom>
          <a:solidFill>
            <a:srgbClr val="D9E0EA"/>
          </a:solidFill>
          <a:ln w="12700">
            <a:solidFill>
              <a:srgbClr val="D9E0EA"/>
            </a:solidFill>
            <a:prstDash val="solid"/>
          </a:ln>
        </p:spPr>
      </p:sp>
      <p:sp>
        <p:nvSpPr>
          <p:cNvPr id="16" name="Text 14"/>
          <p:cNvSpPr txBox="1"/>
          <p:nvPr/>
        </p:nvSpPr>
        <p:spPr>
          <a:xfrm>
            <a:off x="3429000" y="2834640"/>
            <a:ext cx="2286000" cy="164592"/>
          </a:xfrm>
          <a:prstGeom prst="rect">
            <a:avLst/>
          </a:prstGeom>
          <a:noFill/>
          <a:ln/>
        </p:spPr>
        <p:txBody>
          <a:bodyPr wrap="square" lIns="0" tIns="0" rIns="0" bIns="0" rtlCol="0" anchor="ctr"/>
          <a:lstStyle/>
          <a:p>
            <a:pPr indent="0" marL="0">
              <a:buNone/>
            </a:pPr>
            <a:r>
              <a:rPr lang="en-US" sz="700" b="1" spc="100" kern="0" dirty="0">
                <a:solidFill>
                  <a:srgbClr val="14213D"/>
                </a:solidFill>
                <a:latin typeface="Calibri" pitchFamily="34" charset="0"/>
                <a:ea typeface="Calibri" pitchFamily="34" charset="-122"/>
                <a:cs typeface="Calibri" pitchFamily="34" charset="-120"/>
              </a:rPr>
              <a:t>PROPOSED USE CASE</a:t>
            </a:r>
            <a:endParaRPr lang="en-US" sz="700" dirty="0"/>
          </a:p>
        </p:txBody>
      </p:sp>
      <p:sp>
        <p:nvSpPr>
          <p:cNvPr id="17" name="Shape 15"/>
          <p:cNvSpPr/>
          <p:nvPr/>
        </p:nvSpPr>
        <p:spPr>
          <a:xfrm>
            <a:off x="3429000" y="1508760"/>
            <a:ext cx="384048" cy="384048"/>
          </a:xfrm>
          <a:prstGeom prst="ellipse">
            <a:avLst/>
          </a:prstGeom>
          <a:solidFill>
            <a:srgbClr val="14213D"/>
          </a:solidFill>
          <a:ln w="12700">
            <a:solidFill>
              <a:srgbClr val="14213D"/>
            </a:solidFill>
            <a:prstDash val="solid"/>
          </a:ln>
        </p:spPr>
      </p:sp>
      <p:sp>
        <p:nvSpPr>
          <p:cNvPr id="18" name="Text 16"/>
          <p:cNvSpPr txBox="1"/>
          <p:nvPr/>
        </p:nvSpPr>
        <p:spPr>
          <a:xfrm>
            <a:off x="3429000" y="1508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txBox="1"/>
          <p:nvPr/>
        </p:nvSpPr>
        <p:spPr>
          <a:xfrm>
            <a:off x="3931920" y="1508760"/>
            <a:ext cx="1828800" cy="384048"/>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Partner SaaS</a:t>
            </a:r>
            <a:endParaRPr lang="en-US" sz="1300" dirty="0"/>
          </a:p>
        </p:txBody>
      </p:sp>
      <p:sp>
        <p:nvSpPr>
          <p:cNvPr id="20" name="Text 18"/>
          <p:cNvSpPr txBox="1"/>
          <p:nvPr/>
        </p:nvSpPr>
        <p:spPr>
          <a:xfrm>
            <a:off x="3429000" y="2011680"/>
            <a:ext cx="2286000" cy="71323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ERP, HR, groupware, tax. Registered in the same registry, governed by the same policy, so a customer's whole workflow completes in one place.</a:t>
            </a:r>
            <a:endParaRPr lang="en-US" sz="850" dirty="0"/>
          </a:p>
        </p:txBody>
      </p:sp>
      <p:sp>
        <p:nvSpPr>
          <p:cNvPr id="21" name="Text 19"/>
          <p:cNvSpPr txBox="1"/>
          <p:nvPr/>
        </p:nvSpPr>
        <p:spPr>
          <a:xfrm>
            <a:off x="3429000" y="3017520"/>
            <a:ext cx="2286000" cy="566928"/>
          </a:xfrm>
          <a:prstGeom prst="rect">
            <a:avLst/>
          </a:prstGeom>
          <a:noFill/>
          <a:ln/>
        </p:spPr>
        <p:txBody>
          <a:bodyPr wrap="square" lIns="0" tIns="0" rIns="0" bIns="0" rtlCol="0" anchor="ctr"/>
          <a:lstStyle/>
          <a:p>
            <a:pPr indent="0" marL="0">
              <a:buNone/>
            </a:pPr>
            <a:r>
              <a:rPr lang="en-US" sz="850" i="1" dirty="0">
                <a:solidFill>
                  <a:srgbClr val="1C2433"/>
                </a:solidFill>
                <a:latin typeface="Calibri" pitchFamily="34" charset="0"/>
                <a:ea typeface="Calibri" pitchFamily="34" charset="-122"/>
                <a:cs typeface="Calibri" pitchFamily="34" charset="-120"/>
              </a:rPr>
              <a:t>“Close the month: pull payroll from the HR system, match it to the bank records, and draft the tax filing.”</a:t>
            </a:r>
            <a:endParaRPr lang="en-US" sz="850" dirty="0"/>
          </a:p>
        </p:txBody>
      </p:sp>
      <p:sp>
        <p:nvSpPr>
          <p:cNvPr id="22" name="Shape 20"/>
          <p:cNvSpPr/>
          <p:nvPr/>
        </p:nvSpPr>
        <p:spPr>
          <a:xfrm>
            <a:off x="5925312" y="2212848"/>
            <a:ext cx="128016" cy="219456"/>
          </a:xfrm>
          <a:prstGeom prst="rightArrow">
            <a:avLst/>
          </a:prstGeom>
          <a:solidFill>
            <a:srgbClr val="7A8593"/>
          </a:solidFill>
          <a:ln w="12700">
            <a:solidFill>
              <a:srgbClr val="7A8593"/>
            </a:solidFill>
            <a:prstDash val="solid"/>
          </a:ln>
        </p:spPr>
      </p:sp>
      <p:sp>
        <p:nvSpPr>
          <p:cNvPr id="23" name="Shape 21"/>
          <p:cNvSpPr/>
          <p:nvPr/>
        </p:nvSpPr>
        <p:spPr>
          <a:xfrm>
            <a:off x="6080760" y="1325880"/>
            <a:ext cx="2651760" cy="2331720"/>
          </a:xfrm>
          <a:prstGeom prst="roundRect">
            <a:avLst>
              <a:gd name="adj" fmla="val 2353"/>
            </a:avLst>
          </a:prstGeom>
          <a:solidFill>
            <a:srgbClr val="FFFFFF"/>
          </a:solidFill>
          <a:ln w="9525">
            <a:solidFill>
              <a:srgbClr val="D9E0EA"/>
            </a:solidFill>
            <a:prstDash val="solid"/>
          </a:ln>
        </p:spPr>
      </p:sp>
      <p:sp>
        <p:nvSpPr>
          <p:cNvPr id="24" name="Shape 22"/>
          <p:cNvSpPr/>
          <p:nvPr/>
        </p:nvSpPr>
        <p:spPr>
          <a:xfrm>
            <a:off x="6263640" y="2761488"/>
            <a:ext cx="2286000" cy="9144"/>
          </a:xfrm>
          <a:prstGeom prst="rect">
            <a:avLst/>
          </a:prstGeom>
          <a:solidFill>
            <a:srgbClr val="D9E0EA"/>
          </a:solidFill>
          <a:ln w="12700">
            <a:solidFill>
              <a:srgbClr val="D9E0EA"/>
            </a:solidFill>
            <a:prstDash val="solid"/>
          </a:ln>
        </p:spPr>
      </p:sp>
      <p:sp>
        <p:nvSpPr>
          <p:cNvPr id="25" name="Text 23"/>
          <p:cNvSpPr txBox="1"/>
          <p:nvPr/>
        </p:nvSpPr>
        <p:spPr>
          <a:xfrm>
            <a:off x="6263640" y="2834640"/>
            <a:ext cx="2286000" cy="164592"/>
          </a:xfrm>
          <a:prstGeom prst="rect">
            <a:avLst/>
          </a:prstGeom>
          <a:noFill/>
          <a:ln/>
        </p:spPr>
        <p:txBody>
          <a:bodyPr wrap="square" lIns="0" tIns="0" rIns="0" bIns="0" rtlCol="0" anchor="ctr"/>
          <a:lstStyle/>
          <a:p>
            <a:pPr indent="0" marL="0">
              <a:buNone/>
            </a:pPr>
            <a:r>
              <a:rPr lang="en-US" sz="700" b="1" spc="100" kern="0" dirty="0">
                <a:solidFill>
                  <a:srgbClr val="B45309"/>
                </a:solidFill>
                <a:latin typeface="Calibri" pitchFamily="34" charset="0"/>
                <a:ea typeface="Calibri" pitchFamily="34" charset="-122"/>
                <a:cs typeface="Calibri" pitchFamily="34" charset="-120"/>
              </a:rPr>
              <a:t>PROPOSED USE CASE</a:t>
            </a:r>
            <a:endParaRPr lang="en-US" sz="700" dirty="0"/>
          </a:p>
        </p:txBody>
      </p:sp>
      <p:sp>
        <p:nvSpPr>
          <p:cNvPr id="26" name="Shape 24"/>
          <p:cNvSpPr/>
          <p:nvPr/>
        </p:nvSpPr>
        <p:spPr>
          <a:xfrm>
            <a:off x="6263640" y="1508760"/>
            <a:ext cx="384048" cy="384048"/>
          </a:xfrm>
          <a:prstGeom prst="ellipse">
            <a:avLst/>
          </a:prstGeom>
          <a:solidFill>
            <a:srgbClr val="B45309"/>
          </a:solidFill>
          <a:ln w="12700">
            <a:solidFill>
              <a:srgbClr val="B45309"/>
            </a:solidFill>
            <a:prstDash val="solid"/>
          </a:ln>
        </p:spPr>
      </p:sp>
      <p:sp>
        <p:nvSpPr>
          <p:cNvPr id="27" name="Text 25"/>
          <p:cNvSpPr txBox="1"/>
          <p:nvPr/>
        </p:nvSpPr>
        <p:spPr>
          <a:xfrm>
            <a:off x="6263640" y="1508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6"/>
          <p:cNvSpPr txBox="1"/>
          <p:nvPr/>
        </p:nvSpPr>
        <p:spPr>
          <a:xfrm>
            <a:off x="6766560" y="1508760"/>
            <a:ext cx="1828800" cy="384048"/>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Customers' own APIs</a:t>
            </a:r>
            <a:endParaRPr lang="en-US" sz="1300" dirty="0"/>
          </a:p>
        </p:txBody>
      </p:sp>
      <p:sp>
        <p:nvSpPr>
          <p:cNvPr id="29" name="Text 27"/>
          <p:cNvSpPr txBox="1"/>
          <p:nvPr/>
        </p:nvSpPr>
        <p:spPr>
          <a:xfrm>
            <a:off x="6263640" y="2011680"/>
            <a:ext cx="2286000" cy="71323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A customer's in-house systems sit beside the group's products. The gateway becomes the customer's AI integration layer.</a:t>
            </a:r>
            <a:endParaRPr lang="en-US" sz="850" dirty="0"/>
          </a:p>
        </p:txBody>
      </p:sp>
      <p:sp>
        <p:nvSpPr>
          <p:cNvPr id="30" name="Text 28"/>
          <p:cNvSpPr txBox="1"/>
          <p:nvPr/>
        </p:nvSpPr>
        <p:spPr>
          <a:xfrm>
            <a:off x="6263640" y="3017520"/>
            <a:ext cx="2286000" cy="566928"/>
          </a:xfrm>
          <a:prstGeom prst="rect">
            <a:avLst/>
          </a:prstGeom>
          <a:noFill/>
          <a:ln/>
        </p:spPr>
        <p:txBody>
          <a:bodyPr wrap="square" lIns="0" tIns="0" rIns="0" bIns="0" rtlCol="0" anchor="ctr"/>
          <a:lstStyle/>
          <a:p>
            <a:pPr indent="0" marL="0">
              <a:buNone/>
            </a:pPr>
            <a:r>
              <a:rPr lang="en-US" sz="850" i="1" dirty="0">
                <a:solidFill>
                  <a:srgbClr val="1C2433"/>
                </a:solidFill>
                <a:latin typeface="Calibri" pitchFamily="34" charset="0"/>
                <a:ea typeface="Calibri" pitchFamily="34" charset="-122"/>
                <a:cs typeface="Calibri" pitchFamily="34" charset="-120"/>
              </a:rPr>
              <a:t>“Compare our own order system with the settlements received this week and list what is unpaid.”</a:t>
            </a:r>
            <a:endParaRPr lang="en-US" sz="850" dirty="0"/>
          </a:p>
        </p:txBody>
      </p:sp>
      <p:sp>
        <p:nvSpPr>
          <p:cNvPr id="31" name="Shape 29"/>
          <p:cNvSpPr/>
          <p:nvPr/>
        </p:nvSpPr>
        <p:spPr>
          <a:xfrm>
            <a:off x="411480" y="3794760"/>
            <a:ext cx="8321040" cy="868680"/>
          </a:xfrm>
          <a:prstGeom prst="roundRect">
            <a:avLst>
              <a:gd name="adj" fmla="val 6316"/>
            </a:avLst>
          </a:prstGeom>
          <a:solidFill>
            <a:srgbClr val="F5F7FA"/>
          </a:solidFill>
          <a:ln w="9525">
            <a:solidFill>
              <a:srgbClr val="D9E0EA"/>
            </a:solidFill>
            <a:prstDash val="solid"/>
          </a:ln>
        </p:spPr>
      </p:sp>
      <p:sp>
        <p:nvSpPr>
          <p:cNvPr id="32" name="Text 30"/>
          <p:cNvSpPr txBox="1"/>
          <p:nvPr/>
        </p:nvSpPr>
        <p:spPr>
          <a:xfrm>
            <a:off x="594360" y="3867912"/>
            <a:ext cx="27432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ECOSYSTEM CONDITION</a:t>
            </a:r>
            <a:endParaRPr lang="en-US" sz="800" dirty="0"/>
          </a:p>
        </p:txBody>
      </p:sp>
      <p:sp>
        <p:nvSpPr>
          <p:cNvPr id="33" name="Text 31"/>
          <p:cNvSpPr txBox="1"/>
          <p:nvPr/>
        </p:nvSpPr>
        <p:spPr>
          <a:xfrm>
            <a:off x="594360" y="4069080"/>
            <a:ext cx="7955280" cy="54864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The registry is open to third parties: a partner adds value by registering a product, a customer by registering its own systems. An ecosystem forms when others build on the control layer, not when Webcash connects everything itself. The group's asset is the control layer: identity, policy and audit that every connection inherits.</a:t>
            </a:r>
            <a:endParaRPr lang="en-US" sz="850" dirty="0"/>
          </a:p>
        </p:txBody>
      </p:sp>
      <p:sp>
        <p:nvSpPr>
          <p:cNvPr id="34" name="Text 32"/>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35" name="Text 33"/>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FEASIBILITY</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Why the proposed approach is feasible</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Three design choices keep the cost and the risk of the proposal low.</a:t>
            </a:r>
            <a:endParaRPr lang="en-US" sz="1100" dirty="0"/>
          </a:p>
        </p:txBody>
      </p:sp>
      <p:sp>
        <p:nvSpPr>
          <p:cNvPr id="5" name="Shape 3"/>
          <p:cNvSpPr/>
          <p:nvPr/>
        </p:nvSpPr>
        <p:spPr>
          <a:xfrm>
            <a:off x="411480" y="1325880"/>
            <a:ext cx="2651760" cy="2377440"/>
          </a:xfrm>
          <a:prstGeom prst="roundRect">
            <a:avLst>
              <a:gd name="adj" fmla="val 2308"/>
            </a:avLst>
          </a:prstGeom>
          <a:solidFill>
            <a:srgbClr val="FFFFFF"/>
          </a:solidFill>
          <a:ln w="9525">
            <a:solidFill>
              <a:srgbClr val="D9E0EA"/>
            </a:solidFill>
            <a:prstDash val="solid"/>
          </a:ln>
        </p:spPr>
      </p:sp>
      <p:sp>
        <p:nvSpPr>
          <p:cNvPr id="6" name="Shape 4"/>
          <p:cNvSpPr/>
          <p:nvPr/>
        </p:nvSpPr>
        <p:spPr>
          <a:xfrm>
            <a:off x="594360" y="1508760"/>
            <a:ext cx="402336" cy="402336"/>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694944" y="1609344"/>
            <a:ext cx="201168" cy="201168"/>
          </a:xfrm>
          <a:prstGeom prst="rect">
            <a:avLst/>
          </a:prstGeom>
        </p:spPr>
      </p:pic>
      <p:sp>
        <p:nvSpPr>
          <p:cNvPr id="8" name="Text 5"/>
          <p:cNvSpPr txBox="1"/>
          <p:nvPr/>
        </p:nvSpPr>
        <p:spPr>
          <a:xfrm>
            <a:off x="1124712" y="1508760"/>
            <a:ext cx="1828800" cy="402336"/>
          </a:xfrm>
          <a:prstGeom prst="rect">
            <a:avLst/>
          </a:prstGeom>
          <a:noFill/>
          <a:ln/>
        </p:spPr>
        <p:txBody>
          <a:bodyPr wrap="square" lIns="0" tIns="0" rIns="0" bIns="0" rtlCol="0" anchor="ctr"/>
          <a:lstStyle/>
          <a:p>
            <a:pPr indent="0" marL="0">
              <a:buNone/>
            </a:pPr>
            <a:r>
              <a:rPr lang="en-US" sz="1200" b="1" dirty="0">
                <a:solidFill>
                  <a:srgbClr val="1C2433"/>
                </a:solidFill>
                <a:latin typeface="Calibri" pitchFamily="34" charset="0"/>
                <a:ea typeface="Calibri" pitchFamily="34" charset="-122"/>
                <a:cs typeface="Calibri" pitchFamily="34" charset="-120"/>
              </a:rPr>
              <a:t>Products are not modified</a:t>
            </a:r>
            <a:endParaRPr lang="en-US" sz="1200" dirty="0"/>
          </a:p>
        </p:txBody>
      </p:sp>
      <p:sp>
        <p:nvSpPr>
          <p:cNvPr id="9" name="Text 6"/>
          <p:cNvSpPr txBox="1"/>
          <p:nvPr/>
        </p:nvSpPr>
        <p:spPr>
          <a:xfrm>
            <a:off x="594360" y="2057400"/>
            <a:ext cx="2286000" cy="1097280"/>
          </a:xfrm>
          <a:prstGeom prst="rect">
            <a:avLst/>
          </a:prstGeom>
          <a:noFill/>
          <a:ln/>
        </p:spPr>
        <p:txBody>
          <a:bodyPr wrap="square" lIns="0" tIns="0" rIns="0" bIns="0" rtlCol="0" anchor="t"/>
          <a:lstStyle/>
          <a:p>
            <a:pPr indent="0" marL="0">
              <a:buNone/>
            </a:pPr>
            <a:r>
              <a:rPr lang="en-US" sz="850" dirty="0">
                <a:solidFill>
                  <a:srgbClr val="4A5568"/>
                </a:solidFill>
                <a:latin typeface="Calibri" pitchFamily="34" charset="0"/>
                <a:ea typeface="Calibri" pitchFamily="34" charset="-122"/>
                <a:cs typeface="Calibri" pitchFamily="34" charset="-120"/>
              </a:rPr>
              <a:t>A product joins by registering the API description it already has. There is no development inside Bizplay, COOCON, FLOW or any other product team, so packages can be added one by one without a roadmap negotiation.</a:t>
            </a:r>
            <a:endParaRPr lang="en-US" sz="850" dirty="0"/>
          </a:p>
        </p:txBody>
      </p:sp>
      <p:sp>
        <p:nvSpPr>
          <p:cNvPr id="10" name="Shape 7"/>
          <p:cNvSpPr/>
          <p:nvPr/>
        </p:nvSpPr>
        <p:spPr>
          <a:xfrm>
            <a:off x="594360" y="3218688"/>
            <a:ext cx="2286000" cy="9144"/>
          </a:xfrm>
          <a:prstGeom prst="rect">
            <a:avLst/>
          </a:prstGeom>
          <a:solidFill>
            <a:srgbClr val="D9E0EA"/>
          </a:solidFill>
          <a:ln w="12700">
            <a:solidFill>
              <a:srgbClr val="D9E0EA"/>
            </a:solidFill>
            <a:prstDash val="solid"/>
          </a:ln>
        </p:spPr>
      </p:sp>
      <p:sp>
        <p:nvSpPr>
          <p:cNvPr id="11" name="Text 8"/>
          <p:cNvSpPr txBox="1"/>
          <p:nvPr/>
        </p:nvSpPr>
        <p:spPr>
          <a:xfrm>
            <a:off x="594360" y="3273552"/>
            <a:ext cx="2286000" cy="365760"/>
          </a:xfrm>
          <a:prstGeom prst="rect">
            <a:avLst/>
          </a:prstGeom>
          <a:noFill/>
          <a:ln/>
        </p:spPr>
        <p:txBody>
          <a:bodyPr wrap="square" lIns="0" tIns="0" rIns="0" bIns="0" rtlCol="0" anchor="ctr"/>
          <a:lstStyle/>
          <a:p>
            <a:pPr indent="0" marL="0">
              <a:buNone/>
            </a:pPr>
            <a:r>
              <a:rPr lang="en-US" sz="850" b="1" dirty="0">
                <a:solidFill>
                  <a:srgbClr val="0F766E"/>
                </a:solidFill>
                <a:latin typeface="Calibri" pitchFamily="34" charset="0"/>
                <a:ea typeface="Calibri" pitchFamily="34" charset="-122"/>
                <a:cs typeface="Calibri" pitchFamily="34" charset="-120"/>
              </a:rPr>
              <a:t>Effort per product: a registration and a policy review</a:t>
            </a:r>
            <a:endParaRPr lang="en-US" sz="850" dirty="0"/>
          </a:p>
        </p:txBody>
      </p:sp>
      <p:sp>
        <p:nvSpPr>
          <p:cNvPr id="12" name="Shape 9"/>
          <p:cNvSpPr/>
          <p:nvPr/>
        </p:nvSpPr>
        <p:spPr>
          <a:xfrm>
            <a:off x="3246120" y="1325880"/>
            <a:ext cx="2651760" cy="2377440"/>
          </a:xfrm>
          <a:prstGeom prst="roundRect">
            <a:avLst>
              <a:gd name="adj" fmla="val 2308"/>
            </a:avLst>
          </a:prstGeom>
          <a:solidFill>
            <a:srgbClr val="FFFFFF"/>
          </a:solidFill>
          <a:ln w="9525">
            <a:solidFill>
              <a:srgbClr val="D9E0EA"/>
            </a:solidFill>
            <a:prstDash val="solid"/>
          </a:ln>
        </p:spPr>
      </p:sp>
      <p:sp>
        <p:nvSpPr>
          <p:cNvPr id="13" name="Shape 10"/>
          <p:cNvSpPr/>
          <p:nvPr/>
        </p:nvSpPr>
        <p:spPr>
          <a:xfrm>
            <a:off x="3429000" y="1508760"/>
            <a:ext cx="402336" cy="402336"/>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3529584" y="1609344"/>
            <a:ext cx="201168" cy="201168"/>
          </a:xfrm>
          <a:prstGeom prst="rect">
            <a:avLst/>
          </a:prstGeom>
        </p:spPr>
      </p:pic>
      <p:sp>
        <p:nvSpPr>
          <p:cNvPr id="15" name="Text 11"/>
          <p:cNvSpPr txBox="1"/>
          <p:nvPr/>
        </p:nvSpPr>
        <p:spPr>
          <a:xfrm>
            <a:off x="3959352" y="1508760"/>
            <a:ext cx="1828800" cy="402336"/>
          </a:xfrm>
          <a:prstGeom prst="rect">
            <a:avLst/>
          </a:prstGeom>
          <a:noFill/>
          <a:ln/>
        </p:spPr>
        <p:txBody>
          <a:bodyPr wrap="square" lIns="0" tIns="0" rIns="0" bIns="0" rtlCol="0" anchor="ctr"/>
          <a:lstStyle/>
          <a:p>
            <a:pPr indent="0" marL="0">
              <a:buNone/>
            </a:pPr>
            <a:r>
              <a:rPr lang="en-US" sz="1200" b="1" dirty="0">
                <a:solidFill>
                  <a:srgbClr val="1C2433"/>
                </a:solidFill>
                <a:latin typeface="Calibri" pitchFamily="34" charset="0"/>
                <a:ea typeface="Calibri" pitchFamily="34" charset="-122"/>
                <a:cs typeface="Calibri" pitchFamily="34" charset="-120"/>
              </a:rPr>
              <a:t>Built on open standards</a:t>
            </a:r>
            <a:endParaRPr lang="en-US" sz="1200" dirty="0"/>
          </a:p>
        </p:txBody>
      </p:sp>
      <p:sp>
        <p:nvSpPr>
          <p:cNvPr id="16" name="Text 12"/>
          <p:cNvSpPr txBox="1"/>
          <p:nvPr/>
        </p:nvSpPr>
        <p:spPr>
          <a:xfrm>
            <a:off x="3429000" y="2057400"/>
            <a:ext cx="2286000" cy="1097280"/>
          </a:xfrm>
          <a:prstGeom prst="rect">
            <a:avLst/>
          </a:prstGeom>
          <a:noFill/>
          <a:ln/>
        </p:spPr>
        <p:txBody>
          <a:bodyPr wrap="square" lIns="0" tIns="0" rIns="0" bIns="0" rtlCol="0" anchor="t"/>
          <a:lstStyle/>
          <a:p>
            <a:pPr indent="0" marL="0">
              <a:buNone/>
            </a:pPr>
            <a:r>
              <a:rPr lang="en-US" sz="850" dirty="0">
                <a:solidFill>
                  <a:srgbClr val="4A5568"/>
                </a:solidFill>
                <a:latin typeface="Calibri" pitchFamily="34" charset="0"/>
                <a:ea typeface="Calibri" pitchFamily="34" charset="-122"/>
                <a:cs typeface="Calibri" pitchFamily="34" charset="-120"/>
              </a:rPr>
              <a:t>Tools are exposed through the Model Context Protocol and sign-in through OAuth 2.1. Claude, ChatGPT and Copilot already support both, so the group is not tied to one AI vendor and needs no custom client.</a:t>
            </a:r>
            <a:endParaRPr lang="en-US" sz="850" dirty="0"/>
          </a:p>
        </p:txBody>
      </p:sp>
      <p:sp>
        <p:nvSpPr>
          <p:cNvPr id="17" name="Shape 13"/>
          <p:cNvSpPr/>
          <p:nvPr/>
        </p:nvSpPr>
        <p:spPr>
          <a:xfrm>
            <a:off x="3429000" y="3218688"/>
            <a:ext cx="2286000" cy="9144"/>
          </a:xfrm>
          <a:prstGeom prst="rect">
            <a:avLst/>
          </a:prstGeom>
          <a:solidFill>
            <a:srgbClr val="D9E0EA"/>
          </a:solidFill>
          <a:ln w="12700">
            <a:solidFill>
              <a:srgbClr val="D9E0EA"/>
            </a:solidFill>
            <a:prstDash val="solid"/>
          </a:ln>
        </p:spPr>
      </p:sp>
      <p:sp>
        <p:nvSpPr>
          <p:cNvPr id="18" name="Text 14"/>
          <p:cNvSpPr txBox="1"/>
          <p:nvPr/>
        </p:nvSpPr>
        <p:spPr>
          <a:xfrm>
            <a:off x="3429000" y="3273552"/>
            <a:ext cx="2286000" cy="365760"/>
          </a:xfrm>
          <a:prstGeom prst="rect">
            <a:avLst/>
          </a:prstGeom>
          <a:noFill/>
          <a:ln/>
        </p:spPr>
        <p:txBody>
          <a:bodyPr wrap="square" lIns="0" tIns="0" rIns="0" bIns="0" rtlCol="0" anchor="ctr"/>
          <a:lstStyle/>
          <a:p>
            <a:pPr indent="0" marL="0">
              <a:buNone/>
            </a:pPr>
            <a:r>
              <a:rPr lang="en-US" sz="850" b="1" dirty="0">
                <a:solidFill>
                  <a:srgbClr val="14213D"/>
                </a:solidFill>
                <a:latin typeface="Calibri" pitchFamily="34" charset="0"/>
                <a:ea typeface="Calibri" pitchFamily="34" charset="-122"/>
                <a:cs typeface="Calibri" pitchFamily="34" charset="-120"/>
              </a:rPr>
              <a:t>One integration serves every assistant</a:t>
            </a:r>
            <a:endParaRPr lang="en-US" sz="850" dirty="0"/>
          </a:p>
        </p:txBody>
      </p:sp>
      <p:sp>
        <p:nvSpPr>
          <p:cNvPr id="19" name="Shape 15"/>
          <p:cNvSpPr/>
          <p:nvPr/>
        </p:nvSpPr>
        <p:spPr>
          <a:xfrm>
            <a:off x="6080760" y="1325880"/>
            <a:ext cx="2651760" cy="2377440"/>
          </a:xfrm>
          <a:prstGeom prst="roundRect">
            <a:avLst>
              <a:gd name="adj" fmla="val 2308"/>
            </a:avLst>
          </a:prstGeom>
          <a:solidFill>
            <a:srgbClr val="FFFFFF"/>
          </a:solidFill>
          <a:ln w="9525">
            <a:solidFill>
              <a:srgbClr val="D9E0EA"/>
            </a:solidFill>
            <a:prstDash val="solid"/>
          </a:ln>
        </p:spPr>
      </p:sp>
      <p:sp>
        <p:nvSpPr>
          <p:cNvPr id="20" name="Shape 16"/>
          <p:cNvSpPr/>
          <p:nvPr/>
        </p:nvSpPr>
        <p:spPr>
          <a:xfrm>
            <a:off x="6263640" y="1508760"/>
            <a:ext cx="402336" cy="402336"/>
          </a:xfrm>
          <a:prstGeom prst="ellipse">
            <a:avLst/>
          </a:prstGeom>
          <a:solidFill>
            <a:srgbClr val="B45309"/>
          </a:solidFill>
          <a:ln w="12700">
            <a:solidFill>
              <a:srgbClr val="B45309"/>
            </a:solidFill>
            <a:prstDash val="solid"/>
          </a:ln>
        </p:spPr>
      </p:sp>
      <p:pic>
        <p:nvPicPr>
          <p:cNvPr id="21" name="Image 2" descr="preencoded.png">    </p:cNvPr>
          <p:cNvPicPr>
            <a:picLocks noChangeAspect="1"/>
          </p:cNvPicPr>
          <p:nvPr/>
        </p:nvPicPr>
        <p:blipFill>
          <a:blip r:embed="rId3"/>
          <a:stretch>
            <a:fillRect/>
          </a:stretch>
        </p:blipFill>
        <p:spPr>
          <a:xfrm>
            <a:off x="6364224" y="1609344"/>
            <a:ext cx="201168" cy="201168"/>
          </a:xfrm>
          <a:prstGeom prst="rect">
            <a:avLst/>
          </a:prstGeom>
        </p:spPr>
      </p:pic>
      <p:sp>
        <p:nvSpPr>
          <p:cNvPr id="22" name="Text 17"/>
          <p:cNvSpPr txBox="1"/>
          <p:nvPr/>
        </p:nvSpPr>
        <p:spPr>
          <a:xfrm>
            <a:off x="6793992" y="1508760"/>
            <a:ext cx="1828800" cy="402336"/>
          </a:xfrm>
          <a:prstGeom prst="rect">
            <a:avLst/>
          </a:prstGeom>
          <a:noFill/>
          <a:ln/>
        </p:spPr>
        <p:txBody>
          <a:bodyPr wrap="square" lIns="0" tIns="0" rIns="0" bIns="0" rtlCol="0" anchor="ctr"/>
          <a:lstStyle/>
          <a:p>
            <a:pPr indent="0" marL="0">
              <a:buNone/>
            </a:pPr>
            <a:r>
              <a:rPr lang="en-US" sz="1200" b="1" dirty="0">
                <a:solidFill>
                  <a:srgbClr val="1C2433"/>
                </a:solidFill>
                <a:latin typeface="Calibri" pitchFamily="34" charset="0"/>
                <a:ea typeface="Calibri" pitchFamily="34" charset="-122"/>
                <a:cs typeface="Calibri" pitchFamily="34" charset="-120"/>
              </a:rPr>
              <a:t>Existing controls are reused</a:t>
            </a:r>
            <a:endParaRPr lang="en-US" sz="1200" dirty="0"/>
          </a:p>
        </p:txBody>
      </p:sp>
      <p:sp>
        <p:nvSpPr>
          <p:cNvPr id="23" name="Text 18"/>
          <p:cNvSpPr txBox="1"/>
          <p:nvPr/>
        </p:nvSpPr>
        <p:spPr>
          <a:xfrm>
            <a:off x="6263640" y="2057400"/>
            <a:ext cx="2286000" cy="1097280"/>
          </a:xfrm>
          <a:prstGeom prst="rect">
            <a:avLst/>
          </a:prstGeom>
          <a:noFill/>
          <a:ln/>
        </p:spPr>
        <p:txBody>
          <a:bodyPr wrap="square" lIns="0" tIns="0" rIns="0" bIns="0" rtlCol="0" anchor="t"/>
          <a:lstStyle/>
          <a:p>
            <a:pPr indent="0" marL="0">
              <a:buNone/>
            </a:pPr>
            <a:r>
              <a:rPr lang="en-US" sz="850" dirty="0">
                <a:solidFill>
                  <a:srgbClr val="4A5568"/>
                </a:solidFill>
                <a:latin typeface="Calibri" pitchFamily="34" charset="0"/>
                <a:ea typeface="Calibri" pitchFamily="34" charset="-122"/>
                <a:cs typeface="Calibri" pitchFamily="34" charset="-120"/>
              </a:rPr>
              <a:t>Product permissions, credentials and approval lines stay where they are. The gateway adds what is missing on top: who is asking, what they may do, and a record of it. Payments never bypass approval.</a:t>
            </a:r>
            <a:endParaRPr lang="en-US" sz="850" dirty="0"/>
          </a:p>
        </p:txBody>
      </p:sp>
      <p:sp>
        <p:nvSpPr>
          <p:cNvPr id="24" name="Shape 19"/>
          <p:cNvSpPr/>
          <p:nvPr/>
        </p:nvSpPr>
        <p:spPr>
          <a:xfrm>
            <a:off x="6263640" y="3218688"/>
            <a:ext cx="2286000" cy="9144"/>
          </a:xfrm>
          <a:prstGeom prst="rect">
            <a:avLst/>
          </a:prstGeom>
          <a:solidFill>
            <a:srgbClr val="D9E0EA"/>
          </a:solidFill>
          <a:ln w="12700">
            <a:solidFill>
              <a:srgbClr val="D9E0EA"/>
            </a:solidFill>
            <a:prstDash val="solid"/>
          </a:ln>
        </p:spPr>
      </p:sp>
      <p:sp>
        <p:nvSpPr>
          <p:cNvPr id="25" name="Text 20"/>
          <p:cNvSpPr txBox="1"/>
          <p:nvPr/>
        </p:nvSpPr>
        <p:spPr>
          <a:xfrm>
            <a:off x="6263640" y="3273552"/>
            <a:ext cx="2286000" cy="365760"/>
          </a:xfrm>
          <a:prstGeom prst="rect">
            <a:avLst/>
          </a:prstGeom>
          <a:noFill/>
          <a:ln/>
        </p:spPr>
        <p:txBody>
          <a:bodyPr wrap="square" lIns="0" tIns="0" rIns="0" bIns="0" rtlCol="0" anchor="ctr"/>
          <a:lstStyle/>
          <a:p>
            <a:pPr indent="0" marL="0">
              <a:buNone/>
            </a:pPr>
            <a:r>
              <a:rPr lang="en-US" sz="850" b="1" dirty="0">
                <a:solidFill>
                  <a:srgbClr val="B45309"/>
                </a:solidFill>
                <a:latin typeface="Calibri" pitchFamily="34" charset="0"/>
                <a:ea typeface="Calibri" pitchFamily="34" charset="-122"/>
                <a:cs typeface="Calibri" pitchFamily="34" charset="-120"/>
              </a:rPr>
              <a:t>No new path around today's controls</a:t>
            </a:r>
            <a:endParaRPr lang="en-US" sz="850" dirty="0"/>
          </a:p>
        </p:txBody>
      </p:sp>
      <p:sp>
        <p:nvSpPr>
          <p:cNvPr id="26" name="Shape 21"/>
          <p:cNvSpPr/>
          <p:nvPr/>
        </p:nvSpPr>
        <p:spPr>
          <a:xfrm>
            <a:off x="411480" y="3858768"/>
            <a:ext cx="8321040" cy="804672"/>
          </a:xfrm>
          <a:prstGeom prst="roundRect">
            <a:avLst>
              <a:gd name="adj" fmla="val 6818"/>
            </a:avLst>
          </a:prstGeom>
          <a:solidFill>
            <a:srgbClr val="F5F7FA"/>
          </a:solidFill>
          <a:ln w="9525">
            <a:solidFill>
              <a:srgbClr val="D9E0EA"/>
            </a:solidFill>
            <a:prstDash val="solid"/>
          </a:ln>
        </p:spPr>
      </p:sp>
      <p:sp>
        <p:nvSpPr>
          <p:cNvPr id="27" name="Text 22"/>
          <p:cNvSpPr txBox="1"/>
          <p:nvPr/>
        </p:nvSpPr>
        <p:spPr>
          <a:xfrm>
            <a:off x="594360" y="3931920"/>
            <a:ext cx="36576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CHECKED IN A LAB PROTOTYPE</a:t>
            </a:r>
            <a:endParaRPr lang="en-US" sz="800" dirty="0"/>
          </a:p>
        </p:txBody>
      </p:sp>
      <p:sp>
        <p:nvSpPr>
          <p:cNvPr id="28" name="Text 23"/>
          <p:cNvSpPr txBox="1"/>
          <p:nvPr/>
        </p:nvSpPr>
        <p:spPr>
          <a:xfrm>
            <a:off x="594360" y="4114800"/>
            <a:ext cx="7955280" cy="50292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A prototype built with the AI Convergence Lab confirmed all three choices with four products and two assistants. The open risks are group single sign-on, approval-line integration, production scale and validation with real customer departments. The proposed work on the next slide addresses them.</a:t>
            </a:r>
            <a:endParaRPr lang="en-US" sz="850" dirty="0"/>
          </a:p>
        </p:txBody>
      </p:sp>
      <p:sp>
        <p:nvSpPr>
          <p:cNvPr id="29" name="Text 24"/>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30" name="Text 25"/>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9DC3BC"/>
                </a:solidFill>
                <a:latin typeface="Calibri" pitchFamily="34" charset="0"/>
                <a:ea typeface="Calibri" pitchFamily="34" charset="-122"/>
                <a:cs typeface="Calibri" pitchFamily="34" charset="-120"/>
              </a:rPr>
              <a:t>PROPOSED WORK</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Proposed work: three tracks</a:t>
            </a:r>
            <a:endParaRPr lang="en-US" sz="2400" dirty="0"/>
          </a:p>
        </p:txBody>
      </p:sp>
      <p:sp>
        <p:nvSpPr>
          <p:cNvPr id="4" name="Text 2"/>
          <p:cNvSpPr txBox="1"/>
          <p:nvPr/>
        </p:nvSpPr>
        <p:spPr>
          <a:xfrm>
            <a:off x="411480" y="804672"/>
            <a:ext cx="8321040" cy="274320"/>
          </a:xfrm>
          <a:prstGeom prst="rect">
            <a:avLst/>
          </a:prstGeom>
          <a:noFill/>
          <a:ln/>
        </p:spPr>
        <p:txBody>
          <a:bodyPr wrap="square" lIns="0" tIns="0" rIns="0" bIns="0" rtlCol="0" anchor="ctr"/>
          <a:lstStyle/>
          <a:p>
            <a:pPr indent="0" marL="0">
              <a:buNone/>
            </a:pPr>
            <a:r>
              <a:rPr lang="en-US" sz="1100" dirty="0">
                <a:solidFill>
                  <a:srgbClr val="CDE7E2"/>
                </a:solidFill>
                <a:latin typeface="Calibri" pitchFamily="34" charset="0"/>
                <a:ea typeface="Calibri" pitchFamily="34" charset="-122"/>
                <a:cs typeface="Calibri" pitchFamily="34" charset="-120"/>
              </a:rPr>
              <a:t>Platform, packages and research run in parallel, each with something measurable at the end.</a:t>
            </a:r>
            <a:endParaRPr lang="en-US" sz="1100" dirty="0"/>
          </a:p>
        </p:txBody>
      </p:sp>
      <p:sp>
        <p:nvSpPr>
          <p:cNvPr id="5" name="Shape 3"/>
          <p:cNvSpPr/>
          <p:nvPr/>
        </p:nvSpPr>
        <p:spPr>
          <a:xfrm>
            <a:off x="411480" y="1280160"/>
            <a:ext cx="2651760" cy="3246120"/>
          </a:xfrm>
          <a:prstGeom prst="roundRect">
            <a:avLst>
              <a:gd name="adj" fmla="val 2069"/>
            </a:avLst>
          </a:prstGeom>
          <a:solidFill>
            <a:srgbClr val="1F2F55"/>
          </a:solidFill>
          <a:ln w="9525">
            <a:solidFill>
              <a:srgbClr val="2F4A80"/>
            </a:solidFill>
            <a:prstDash val="solid"/>
          </a:ln>
        </p:spPr>
      </p:sp>
      <p:sp>
        <p:nvSpPr>
          <p:cNvPr id="6" name="Shape 4"/>
          <p:cNvSpPr/>
          <p:nvPr/>
        </p:nvSpPr>
        <p:spPr>
          <a:xfrm>
            <a:off x="594360" y="1463040"/>
            <a:ext cx="384048" cy="384048"/>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690372" y="1559052"/>
            <a:ext cx="192024" cy="192024"/>
          </a:xfrm>
          <a:prstGeom prst="rect">
            <a:avLst/>
          </a:prstGeom>
        </p:spPr>
      </p:pic>
      <p:sp>
        <p:nvSpPr>
          <p:cNvPr id="8" name="Text 5"/>
          <p:cNvSpPr txBox="1"/>
          <p:nvPr/>
        </p:nvSpPr>
        <p:spPr>
          <a:xfrm>
            <a:off x="1097280" y="1463040"/>
            <a:ext cx="18288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Platform</a:t>
            </a:r>
            <a:endParaRPr lang="en-US" sz="1300" dirty="0"/>
          </a:p>
        </p:txBody>
      </p:sp>
      <p:sp>
        <p:nvSpPr>
          <p:cNvPr id="9" name="Text 6"/>
          <p:cNvSpPr txBox="1"/>
          <p:nvPr/>
        </p:nvSpPr>
        <p:spPr>
          <a:xfrm>
            <a:off x="594360" y="1965960"/>
            <a:ext cx="2286000" cy="2468880"/>
          </a:xfrm>
          <a:prstGeom prst="rect">
            <a:avLst/>
          </a:prstGeom>
          <a:noFill/>
          <a:ln/>
        </p:spPr>
        <p:txBody>
          <a:bodyPr wrap="square" lIns="0" tIns="0" rIns="0" bIns="0" rtlCol="0" anchor="t"/>
          <a:lstStyle/>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Sign-in federated to group SSO (OIDC)</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Secrets in a vault, state in a database</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Per-product isolation and quotas</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Rate limits per customer and product</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Operations dashboard and alerting</a:t>
            </a:r>
            <a:endParaRPr lang="en-US" sz="850" dirty="0"/>
          </a:p>
        </p:txBody>
      </p:sp>
      <p:sp>
        <p:nvSpPr>
          <p:cNvPr id="10" name="Shape 7"/>
          <p:cNvSpPr/>
          <p:nvPr/>
        </p:nvSpPr>
        <p:spPr>
          <a:xfrm>
            <a:off x="3246120" y="1280160"/>
            <a:ext cx="2651760" cy="3246120"/>
          </a:xfrm>
          <a:prstGeom prst="roundRect">
            <a:avLst>
              <a:gd name="adj" fmla="val 2069"/>
            </a:avLst>
          </a:prstGeom>
          <a:solidFill>
            <a:srgbClr val="1F2F55"/>
          </a:solidFill>
          <a:ln w="9525">
            <a:solidFill>
              <a:srgbClr val="2F4A80"/>
            </a:solidFill>
            <a:prstDash val="solid"/>
          </a:ln>
        </p:spPr>
      </p:sp>
      <p:sp>
        <p:nvSpPr>
          <p:cNvPr id="11" name="Shape 8"/>
          <p:cNvSpPr/>
          <p:nvPr/>
        </p:nvSpPr>
        <p:spPr>
          <a:xfrm>
            <a:off x="3429000" y="1463040"/>
            <a:ext cx="384048" cy="384048"/>
          </a:xfrm>
          <a:prstGeom prst="ellipse">
            <a:avLst/>
          </a:prstGeom>
          <a:solidFill>
            <a:srgbClr val="0F766E"/>
          </a:solidFill>
          <a:ln w="12700">
            <a:solidFill>
              <a:srgbClr val="0F766E"/>
            </a:solidFill>
            <a:prstDash val="solid"/>
          </a:ln>
        </p:spPr>
      </p:sp>
      <p:pic>
        <p:nvPicPr>
          <p:cNvPr id="12" name="Image 1" descr="preencoded.png">    </p:cNvPr>
          <p:cNvPicPr>
            <a:picLocks noChangeAspect="1"/>
          </p:cNvPicPr>
          <p:nvPr/>
        </p:nvPicPr>
        <p:blipFill>
          <a:blip r:embed="rId2"/>
          <a:stretch>
            <a:fillRect/>
          </a:stretch>
        </p:blipFill>
        <p:spPr>
          <a:xfrm>
            <a:off x="3525012" y="1559052"/>
            <a:ext cx="192024" cy="192024"/>
          </a:xfrm>
          <a:prstGeom prst="rect">
            <a:avLst/>
          </a:prstGeom>
        </p:spPr>
      </p:pic>
      <p:sp>
        <p:nvSpPr>
          <p:cNvPr id="13" name="Text 9"/>
          <p:cNvSpPr txBox="1"/>
          <p:nvPr/>
        </p:nvSpPr>
        <p:spPr>
          <a:xfrm>
            <a:off x="3931920" y="1463040"/>
            <a:ext cx="18288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Packages</a:t>
            </a:r>
            <a:endParaRPr lang="en-US" sz="1300" dirty="0"/>
          </a:p>
        </p:txBody>
      </p:sp>
      <p:sp>
        <p:nvSpPr>
          <p:cNvPr id="14" name="Text 10"/>
          <p:cNvSpPr txBox="1"/>
          <p:nvPr/>
        </p:nvSpPr>
        <p:spPr>
          <a:xfrm>
            <a:off x="3429000" y="1965960"/>
            <a:ext cx="2286000" cy="2468880"/>
          </a:xfrm>
          <a:prstGeom prst="rect">
            <a:avLst/>
          </a:prstGeom>
          <a:noFill/>
          <a:ln/>
        </p:spPr>
        <p:txBody>
          <a:bodyPr wrap="square" lIns="0" tIns="0" rIns="0" bIns="0" rtlCol="0" anchor="t"/>
          <a:lstStyle/>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SME Management: Gyeongrinara, COOCON</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Corporate Treasury: Branch Q, InhouseBank Q, Dashboard, with approval-line integration</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Research Administration: rERP Q, RCMS, rule-based control</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First partner SaaS in the registry</a:t>
            </a:r>
            <a:endParaRPr lang="en-US" sz="850" dirty="0"/>
          </a:p>
        </p:txBody>
      </p:sp>
      <p:sp>
        <p:nvSpPr>
          <p:cNvPr id="15" name="Shape 11"/>
          <p:cNvSpPr/>
          <p:nvPr/>
        </p:nvSpPr>
        <p:spPr>
          <a:xfrm>
            <a:off x="6080760" y="1280160"/>
            <a:ext cx="2651760" cy="3246120"/>
          </a:xfrm>
          <a:prstGeom prst="roundRect">
            <a:avLst>
              <a:gd name="adj" fmla="val 2069"/>
            </a:avLst>
          </a:prstGeom>
          <a:solidFill>
            <a:srgbClr val="1F2F55"/>
          </a:solidFill>
          <a:ln w="9525">
            <a:solidFill>
              <a:srgbClr val="2F4A80"/>
            </a:solidFill>
            <a:prstDash val="solid"/>
          </a:ln>
        </p:spPr>
      </p:sp>
      <p:sp>
        <p:nvSpPr>
          <p:cNvPr id="16" name="Shape 12"/>
          <p:cNvSpPr/>
          <p:nvPr/>
        </p:nvSpPr>
        <p:spPr>
          <a:xfrm>
            <a:off x="6263640" y="1463040"/>
            <a:ext cx="384048" cy="384048"/>
          </a:xfrm>
          <a:prstGeom prst="ellipse">
            <a:avLst/>
          </a:prstGeom>
          <a:solidFill>
            <a:srgbClr val="0F766E"/>
          </a:solidFill>
          <a:ln w="12700">
            <a:solidFill>
              <a:srgbClr val="0F766E"/>
            </a:solidFill>
            <a:prstDash val="solid"/>
          </a:ln>
        </p:spPr>
      </p:sp>
      <p:pic>
        <p:nvPicPr>
          <p:cNvPr id="17" name="Image 2" descr="preencoded.png">    </p:cNvPr>
          <p:cNvPicPr>
            <a:picLocks noChangeAspect="1"/>
          </p:cNvPicPr>
          <p:nvPr/>
        </p:nvPicPr>
        <p:blipFill>
          <a:blip r:embed="rId3"/>
          <a:stretch>
            <a:fillRect/>
          </a:stretch>
        </p:blipFill>
        <p:spPr>
          <a:xfrm>
            <a:off x="6359652" y="1559052"/>
            <a:ext cx="192024" cy="192024"/>
          </a:xfrm>
          <a:prstGeom prst="rect">
            <a:avLst/>
          </a:prstGeom>
        </p:spPr>
      </p:pic>
      <p:sp>
        <p:nvSpPr>
          <p:cNvPr id="18" name="Text 13"/>
          <p:cNvSpPr txBox="1"/>
          <p:nvPr/>
        </p:nvSpPr>
        <p:spPr>
          <a:xfrm>
            <a:off x="6766560" y="1463040"/>
            <a:ext cx="18288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Research &amp; evaluation</a:t>
            </a:r>
            <a:endParaRPr lang="en-US" sz="1300" dirty="0"/>
          </a:p>
        </p:txBody>
      </p:sp>
      <p:sp>
        <p:nvSpPr>
          <p:cNvPr id="19" name="Text 14"/>
          <p:cNvSpPr txBox="1"/>
          <p:nvPr/>
        </p:nvSpPr>
        <p:spPr>
          <a:xfrm>
            <a:off x="6263640" y="1965960"/>
            <a:ext cx="2286000" cy="2468880"/>
          </a:xfrm>
          <a:prstGeom prst="rect">
            <a:avLst/>
          </a:prstGeom>
          <a:noFill/>
          <a:ln/>
        </p:spPr>
        <p:txBody>
          <a:bodyPr wrap="square" lIns="0" tIns="0" rIns="0" bIns="0" rtlCol="0" anchor="t"/>
          <a:lstStyle/>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Tool selection accuracy as the catalog passes 100 tools: curated descriptions versus retrieval</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Policy that can be verified, not only enforced</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Cost and latency of multi-product chains</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Pilot with one customer department: time saved per task, refusal and error rates</a:t>
            </a:r>
            <a:endParaRPr lang="en-US" sz="850" dirty="0"/>
          </a:p>
        </p:txBody>
      </p:sp>
      <p:sp>
        <p:nvSpPr>
          <p:cNvPr id="20" name="Text 15"/>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9DC3BC"/>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21" name="Text 16"/>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9DC3BC"/>
                </a:solidFill>
                <a:latin typeface="Calibri" pitchFamily="34" charset="0"/>
                <a:ea typeface="Calibri" pitchFamily="34" charset="-122"/>
                <a:cs typeface="Calibri" pitchFamily="34" charset="-120"/>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1371600" y="2926080"/>
            <a:ext cx="3840480" cy="3840480"/>
          </a:xfrm>
          <a:prstGeom prst="ellipse">
            <a:avLst/>
          </a:prstGeom>
          <a:solidFill>
            <a:srgbClr val="0F766E">
              <a:alpha val="14000"/>
            </a:srgbClr>
          </a:solidFill>
          <a:ln w="12700">
            <a:solidFill>
              <a:srgbClr val="0F766E">
                <a:alpha val="14000"/>
              </a:srgbClr>
            </a:solidFill>
            <a:prstDash val="solid"/>
          </a:ln>
        </p:spPr>
      </p:sp>
      <p:sp>
        <p:nvSpPr>
          <p:cNvPr id="3" name="Text 1"/>
          <p:cNvSpPr txBox="1"/>
          <p:nvPr/>
        </p:nvSpPr>
        <p:spPr>
          <a:xfrm>
            <a:off x="548640" y="1280160"/>
            <a:ext cx="7772400" cy="1737360"/>
          </a:xfrm>
          <a:prstGeom prst="rect">
            <a:avLst/>
          </a:prstGeom>
          <a:noFill/>
          <a:ln/>
        </p:spPr>
        <p:txBody>
          <a:bodyPr wrap="square" lIns="0" tIns="0" rIns="0" bIns="0" rtlCol="0" anchor="ctr"/>
          <a:lstStyle/>
          <a:p>
            <a:pPr indent="0" marL="0">
              <a:lnSpc>
                <a:spcPct val="115000"/>
              </a:lnSpc>
              <a:buNone/>
            </a:pPr>
            <a:r>
              <a:rPr lang="en-US" sz="2600" b="1" dirty="0">
                <a:solidFill>
                  <a:srgbClr val="FFFFFF"/>
                </a:solidFill>
                <a:latin typeface="Calibri" pitchFamily="34" charset="0"/>
                <a:ea typeface="Calibri" pitchFamily="34" charset="-122"/>
                <a:cs typeface="Calibri" pitchFamily="34" charset="-120"/>
              </a:rPr>
              <a:t>Customers keep their assistant.</a:t>
            </a:r>
            <a:endParaRPr lang="en-US" sz="2600" dirty="0"/>
          </a:p>
          <a:p>
            <a:pPr indent="0" marL="0">
              <a:lnSpc>
                <a:spcPct val="115000"/>
              </a:lnSpc>
              <a:buNone/>
            </a:pPr>
            <a:r>
              <a:rPr lang="en-US" sz="2600" b="1" dirty="0">
                <a:solidFill>
                  <a:srgbClr val="FFFFFF"/>
                </a:solidFill>
                <a:latin typeface="Calibri" pitchFamily="34" charset="0"/>
                <a:ea typeface="Calibri" pitchFamily="34" charset="-122"/>
                <a:cs typeface="Calibri" pitchFamily="34" charset="-120"/>
              </a:rPr>
              <a:t>Products keep their APIs.</a:t>
            </a:r>
            <a:endParaRPr lang="en-US" sz="2600" dirty="0"/>
          </a:p>
          <a:p>
            <a:pPr indent="0" marL="0">
              <a:lnSpc>
                <a:spcPct val="115000"/>
              </a:lnSpc>
              <a:buNone/>
            </a:pPr>
            <a:r>
              <a:rPr lang="en-US" sz="2600" b="1" dirty="0">
                <a:solidFill>
                  <a:srgbClr val="FFFFFF"/>
                </a:solidFill>
                <a:latin typeface="Calibri" pitchFamily="34" charset="0"/>
                <a:ea typeface="Calibri" pitchFamily="34" charset="-122"/>
                <a:cs typeface="Calibri" pitchFamily="34" charset="-120"/>
              </a:rPr>
              <a:t>The group keeps control.</a:t>
            </a:r>
            <a:endParaRPr lang="en-US" sz="2600" dirty="0"/>
          </a:p>
        </p:txBody>
      </p:sp>
      <p:sp>
        <p:nvSpPr>
          <p:cNvPr id="4" name="Text 2"/>
          <p:cNvSpPr txBox="1"/>
          <p:nvPr/>
        </p:nvSpPr>
        <p:spPr>
          <a:xfrm>
            <a:off x="548640" y="3154680"/>
            <a:ext cx="7315200" cy="548640"/>
          </a:xfrm>
          <a:prstGeom prst="rect">
            <a:avLst/>
          </a:prstGeom>
          <a:noFill/>
          <a:ln/>
        </p:spPr>
        <p:txBody>
          <a:bodyPr wrap="square" lIns="0" tIns="0" rIns="0" bIns="0" rtlCol="0" anchor="ctr"/>
          <a:lstStyle/>
          <a:p>
            <a:pPr indent="0" marL="0">
              <a:buNone/>
            </a:pPr>
            <a:r>
              <a:rPr lang="en-US" sz="1300" dirty="0">
                <a:solidFill>
                  <a:srgbClr val="CDE7E2"/>
                </a:solidFill>
                <a:latin typeface="Calibri" pitchFamily="34" charset="0"/>
                <a:ea typeface="Calibri" pitchFamily="34" charset="-122"/>
                <a:cs typeface="Calibri" pitchFamily="34" charset="-120"/>
              </a:rPr>
              <a:t>One registry, one sign-in, one audit trail, across every Webcash Group product and, later, its partners and customers.</a:t>
            </a:r>
            <a:endParaRPr lang="en-US" sz="1300" dirty="0"/>
          </a:p>
        </p:txBody>
      </p:sp>
      <p:sp>
        <p:nvSpPr>
          <p:cNvPr id="5" name="Text 3"/>
          <p:cNvSpPr txBox="1"/>
          <p:nvPr/>
        </p:nvSpPr>
        <p:spPr>
          <a:xfrm>
            <a:off x="548640" y="4206240"/>
            <a:ext cx="7772400" cy="274320"/>
          </a:xfrm>
          <a:prstGeom prst="rect">
            <a:avLst/>
          </a:prstGeom>
          <a:noFill/>
          <a:ln/>
        </p:spPr>
        <p:txBody>
          <a:bodyPr wrap="square" lIns="0" tIns="0" rIns="0" bIns="0" rtlCol="0" anchor="ctr"/>
          <a:lstStyle/>
          <a:p>
            <a:pPr indent="0" marL="0">
              <a:buNone/>
            </a:pPr>
            <a:r>
              <a:rPr lang="en-US" sz="900" dirty="0">
                <a:solidFill>
                  <a:srgbClr val="9DC3BC"/>
                </a:solidFill>
                <a:latin typeface="Calibri" pitchFamily="34" charset="0"/>
                <a:ea typeface="Calibri" pitchFamily="34" charset="-122"/>
                <a:cs typeface="Calibri" pitchFamily="34" charset="-120"/>
              </a:rPr>
              <a:t>Prototype: mcp-portal.aiconvergencelab.com   ·   Code: github.com/Chansokheang/MCP_Server_Portal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MCP-based AI Gateway</dc:title>
  <dc:subject>PptxGenJS Presentation</dc:subject>
  <dc:creator>Webcash Group × AI Convergence Lab, CBNU</dc:creator>
  <cp:lastModifiedBy>Webcash Group × AI Convergence Lab, CBNU</cp:lastModifiedBy>
  <cp:revision>1</cp:revision>
  <dcterms:created xsi:type="dcterms:W3CDTF">2026-09-17T05:37:28Z</dcterms:created>
  <dcterms:modified xsi:type="dcterms:W3CDTF">2026-09-17T05:37:28Z</dcterms:modified>
</cp:coreProperties>
</file>