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오른쪽 화면은 목업이 아니라 실제로 동작하는 포털입니다. 이 자료의 내용은 실제 동작하는 것과 제안하는 것을 구분해 표시했습니다.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문제를 그룹 차원에서 제시합니다. 제품별, 벤더별로 따로 만든 연동에는 공통된 신원 확인과 감사가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아이디어를 한 장에 담았습니다.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고객의 온보딩은 이것이 전부입니다. 스크린샷은 Claude 커넥터가 실제로 여는 페이지입니다.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재무팀이 매월 하는 업무 하나로 아이디어를 설명합니다. 지급 단계는 의도적으로 바꾸지 않았다는 점을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스크린샷은 실제 등록 화면입니다. 프로토타입에서 쿠콘은 명세 등록부터 MCP 서버 동작까지 1분이 걸리지 않았습니다.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포털의 쿠콘 제품 페이지입니다. 제공되는 네 개의 주소를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4단계를 강조한 이유는 이것이 차별점이기 때문입니다. 제품은 사용자별로 중개된 제품 고유의 인증 정보를 받습니다.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엔지니어를 위한 기술 슬라이드입니다.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 쪽은 게이트웨이에 대한 OAuth 로그인 한 번입니다. 제품 쪽은 게이트웨이가 접근하는 네 가지 방식 중 제품마다 하나를 고릅니다.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포털의 WC_Group 게이트웨이 페이지입니다.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AI가 자금을 옮길 수 있습니까? 아닙니다. AI는 조회하고 준비하며, 실행은 지금과 같은 결재선을 거칩니다.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화면 두 개: 사용자 디렉터리와 감사 로그입니다.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패키지 단위의 유스케이스입니다.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그룹 제품, 파트너, 고객 자체 시스템의 순서로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프로토타입 소개가 아니라 제안의 실현 가능성을 설명하는 장입니다. 프로토타입은 세 가지 설계 선택을 확인한 근거로 한 번만 언급합니다.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제안의 핵심입니다. 플랫폼 과제, 패키지 확대, 그리고 시범 운영으로 측정할 수 있게 되는 연구 질문입니다.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줄 요약으로 마무리합니다.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기반 AI 게이트웨이</a:t>
            </a:r>
            <a:endParaRPr lang="ko-KR" alt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574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400" dirty="0">
                <a:solidFill>
                  <a:srgbClr val="CDE7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이미 쓰고 있는 AI 어시스턴트 안에서 만나는 웹케시그룹 제품</a:t>
            </a:r>
            <a:endParaRPr lang="ko-KR" alt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050" dirty="0">
                <a:solidFill>
                  <a:srgbClr val="9DC3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개념, 아키텍처, 통제 모델, 그리고 제안 과제</a:t>
            </a:r>
            <a:endParaRPr lang="ko-KR" alt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000" dirty="0">
                <a:solidFill>
                  <a:srgbClr val="CDE7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웹케시그룹  ×  충북대학교 AI융합연구실</a:t>
            </a:r>
            <a:endParaRPr lang="ko-KR" altLang="en-US" sz="1000" dirty="0"/>
          </a:p>
          <a:p>
            <a:pPr latinLnBrk="0" indent="0" marL="0">
              <a:buNone/>
            </a:pPr>
            <a:r>
              <a:rPr lang="ko-KR" altLang="en-US" sz="1000" dirty="0">
                <a:solidFill>
                  <a:srgbClr val="CDE7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9월</a:t>
            </a:r>
            <a:endParaRPr lang="ko-KR" alt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37176" y="1349756"/>
            <a:ext cx="4133088" cy="2512568"/>
          </a:xfrm>
          <a:prstGeom prst="roundRect">
            <a:avLst>
              <a:gd name="adj" fmla="val 2184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  <a:effectLst>
            <a:outerShdw sx="100000" sy="100000" kx="0" ky="0" algn="bl" rotWithShape="0" blurRad="101600" dist="38100" dir="5400000">
              <a:srgbClr val="14213D">
                <a:alpha val="18000"/>
              </a:srgbClr>
            </a:outerShdw>
          </a:effectLst>
        </p:spPr>
      </p:sp>
      <p:pic>
        <p:nvPicPr>
          <p:cNvPr id="7" name="Image 0" descr="C:\Users\user\AppData\Local\Temp\deckcrops-ko\overview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404620"/>
            <a:ext cx="4023360" cy="2402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지금인가</a:t>
            </a:r>
            <a:endParaRPr lang="ko-KR" alt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657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4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고객은 이미 AI 어시스턴트 안에서 일하고 있습니다</a:t>
            </a:r>
            <a:endParaRPr lang="ko-KR" alt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046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1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웹케시 제품이 Claude나 ChatGPT에서 쓰일지가 문제가 아닙니다. 그룹의 통제 안에서 쓰일지, 통제 밖에서 쓰일지가 문제입니다.</a:t>
            </a:r>
            <a:endParaRPr lang="ko-KR" alt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2651760" cy="292608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71450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4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난립하는 연동</a:t>
            </a:r>
            <a:endParaRPr lang="ko-KR" alt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5603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제품마다, AI 벤더마다 연동을 따로 만들어야 합니다. 제품과 어시스턴트의 조합 하나하나가 별도 프로젝트가 되고, 인증 방식도 제각각이며 시간이 갈수록 서로 어긋납니다.</a:t>
            </a:r>
            <a:endParaRPr lang="ko-KR" alt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46120" y="1371600"/>
            <a:ext cx="2651760" cy="292608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4720" y="1600200"/>
            <a:ext cx="457200" cy="4572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71450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7472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4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신원도 범위도 없음</a:t>
            </a:r>
            <a:endParaRPr lang="ko-KR" alt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25603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어시스턴트는 누가 요청하는지, 어느 조직 소속인지, 무엇을 볼 수 있는지 알지 못합니다. 지금의 임시방편은 채팅 설정에 토큰을 붙여 넣는 것입니다.</a:t>
            </a:r>
            <a:endParaRPr lang="ko-KR" alt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80760" y="1371600"/>
            <a:ext cx="2651760" cy="292608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09360" y="160020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71450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0936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4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통제도 기록도 없음</a:t>
            </a:r>
            <a:endParaRPr lang="ko-KR" alt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309360" y="25603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9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어시스턴트가 어떤 작업을 해도 되는지, 변경에 확인이 필요한지 판단하는 장치가 없습니다. 재무 감사에서 인정될 기록도 남지 않습니다.</a:t>
            </a:r>
            <a:endParaRPr lang="ko-KR" alt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411480" y="44348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차원의 해법: 모든 어시스턴트와 모든 제품 사이에 하나의 통제 계층을 둡니다.</a:t>
            </a:r>
            <a:endParaRPr lang="ko-KR" alt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41148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기반 AI 게이트웨이  ·  웹케시그룹 × 충북대학교 AI융합연구실</a:t>
            </a:r>
            <a:endParaRPr lang="ko-KR" altLang="en-US" sz="750" dirty="0"/>
          </a:p>
        </p:txBody>
      </p:sp>
      <p:sp>
        <p:nvSpPr>
          <p:cNvPr id="22" name="Text 17"/>
          <p:cNvSpPr txBox="1"/>
          <p:nvPr/>
        </p:nvSpPr>
        <p:spPr>
          <a:xfrm>
            <a:off x="8321040" y="4800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r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ko-KR" alt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657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4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아이디어: 어시스턴트와 제품 사이의 단일 통제 계층</a:t>
            </a:r>
            <a:endParaRPr lang="ko-KR" alt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046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1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웹케시그룹의 모든 제품이 어시스턴트 안의 도구가 됩니다. 누가 무엇을 할 수 있는지는 그룹이 정하고 기록합니다.</a:t>
            </a:r>
            <a:endParaRPr lang="ko-KR" alt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011680" cy="2697480"/>
          </a:xfrm>
          <a:prstGeom prst="roundRect">
            <a:avLst>
              <a:gd name="adj" fmla="val 2727"/>
            </a:avLst>
          </a:prstGeom>
          <a:solidFill>
            <a:srgbClr val="F5F7FA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630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접점</a:t>
            </a:r>
            <a:endParaRPr lang="ko-KR" alt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733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1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일하는 곳</a:t>
            </a:r>
            <a:endParaRPr lang="ko-KR" alt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039112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03911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900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· ChatGPT</a:t>
            </a:r>
            <a:endParaRPr lang="ko-KR" alt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2450592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4505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900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Copilot · Agentforce</a:t>
            </a:r>
            <a:endParaRPr lang="ko-KR" alt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2862072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86207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900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또는 로컬 LLM</a:t>
            </a:r>
            <a:endParaRPr lang="ko-KR" alt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3273552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27355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900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지원 클라이언트</a:t>
            </a:r>
            <a:endParaRPr lang="ko-KR" alt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7033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고객은 일상 언어로 요청합니다. 설치할 것도, 붙여 넣을 것도 없습니다.</a:t>
            </a:r>
            <a:endParaRPr lang="ko-KR" alt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0" y="1325880"/>
            <a:ext cx="3657600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26080" y="146304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통제 계층</a:t>
            </a:r>
            <a:endParaRPr lang="ko-KR" alt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2926080" y="16733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2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레지스트리 + AI 게이트웨이</a:t>
            </a:r>
            <a:endParaRPr lang="ko-KR" alt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26080" y="2039112"/>
            <a:ext cx="3291840" cy="420624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17520" y="203911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9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레지스트리</a:t>
            </a:r>
            <a:endParaRPr lang="ko-KR" alt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069080" y="203911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2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API를 한 번 등록하면 명세에서 도구가 생성됩니다. 설명, 위험 등급, 고객별 활성화를 관리합니다.</a:t>
            </a:r>
            <a:endParaRPr lang="ko-KR" alt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926080" y="2523744"/>
            <a:ext cx="3291840" cy="420624"/>
          </a:xfrm>
          <a:prstGeom prst="rect">
            <a:avLst/>
          </a:prstGeom>
          <a:solidFill>
            <a:srgbClr val="E6F4F1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017520" y="252374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9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신원</a:t>
            </a:r>
            <a:endParaRPr lang="ko-KR" alt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069080" y="252374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2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고객은 게이트웨이에서 한 번만 로그인합니다. 모든 호출에 사용자와 소속 조직이 함께 전달됩니다.</a:t>
            </a:r>
            <a:endParaRPr lang="ko-KR" alt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2926080" y="3008376"/>
            <a:ext cx="3291840" cy="420624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17520" y="300837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9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</a:t>
            </a:r>
            <a:endParaRPr lang="ko-KR" alt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069080" y="300837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2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도구를 누구에게 어떤 위험 등급으로 제공할지 정합니다. 조회는 기본 제공, 변경은 확인 후, 지급은 기존 결재선 안에서만 합니다.</a:t>
            </a:r>
            <a:endParaRPr lang="ko-KR" alt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2926080" y="3493008"/>
            <a:ext cx="3291840" cy="420624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017520" y="349300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9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정보 · 감사</a:t>
            </a:r>
            <a:endParaRPr lang="ko-KR" alt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4069080" y="349300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2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고객별 제품 인증 정보는 게이트웨이가 보관합니다. 모든 호출과 거부가 기록됩니다.</a:t>
            </a:r>
            <a:endParaRPr lang="ko-KR" alt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6720840" y="1325880"/>
            <a:ext cx="2011680" cy="2697480"/>
          </a:xfrm>
          <a:prstGeom prst="roundRect">
            <a:avLst>
              <a:gd name="adj" fmla="val 2727"/>
            </a:avLst>
          </a:prstGeom>
          <a:solidFill>
            <a:srgbClr val="F5F7FA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03720" y="14630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제품 API</a:t>
            </a:r>
            <a:endParaRPr lang="ko-KR" alt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16733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1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패키지</a:t>
            </a:r>
            <a:endParaRPr lang="ko-KR" alt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903720" y="2039112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76872" y="205740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경비 · 협업</a:t>
            </a:r>
            <a:endParaRPr lang="ko-KR" alt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6976872" y="222199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68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비즈플레이 · 쿠콘 · 플로우</a:t>
            </a:r>
            <a:endParaRPr lang="ko-KR" alt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6903720" y="2450592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76872" y="246888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중소기업 경영관리</a:t>
            </a:r>
            <a:endParaRPr lang="ko-KR" alt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6976872" y="263347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68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경리나라 · 쿠콘</a:t>
            </a:r>
            <a:endParaRPr lang="ko-KR" alt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6903720" y="2862072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976872" y="288036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자금관리</a:t>
            </a:r>
            <a:endParaRPr lang="ko-KR" alt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6976872" y="304495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68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브랜치Q · 인하우스뱅크Q · 대시보드</a:t>
            </a:r>
            <a:endParaRPr lang="ko-KR" alt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6903720" y="3273552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976872" y="329184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연구비 관리</a:t>
            </a:r>
            <a:endParaRPr lang="ko-KR" alt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6976872" y="345643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68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rERP Q · RCMS</a:t>
            </a:r>
            <a:endParaRPr lang="ko-KR" altLang="en-US" sz="680" dirty="0"/>
          </a:p>
        </p:txBody>
      </p:sp>
      <p:sp>
        <p:nvSpPr>
          <p:cNvPr id="47" name="Text 45"/>
          <p:cNvSpPr txBox="1"/>
          <p:nvPr/>
        </p:nvSpPr>
        <p:spPr>
          <a:xfrm>
            <a:off x="6903720" y="37033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제품은 수정하지 않습니다. 등록한 명세가 연동의 전부입니다.</a:t>
            </a:r>
            <a:endParaRPr lang="ko-KR" alt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450592" y="2542032"/>
            <a:ext cx="292608" cy="237744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28232" y="2542032"/>
            <a:ext cx="292608" cy="237744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1480" y="4160520"/>
            <a:ext cx="83210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6928" y="4334256"/>
            <a:ext cx="155448" cy="1554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13816" y="4206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9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곳은 하나</a:t>
            </a:r>
            <a:endParaRPr lang="ko-KR" alt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1938528" y="4206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제품에 걸친 업무를 한곳에서 완료</a:t>
            </a:r>
            <a:endParaRPr lang="ko-KR" alt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328416" y="4334256"/>
            <a:ext cx="155448" cy="1554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575304" y="4206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9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통제하는 곳도 하나</a:t>
            </a:r>
            <a:endParaRPr lang="ko-KR" alt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4700016" y="4206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공통의 정책과 감사</a:t>
            </a:r>
            <a:endParaRPr lang="ko-KR" alt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089904" y="4334256"/>
            <a:ext cx="155448" cy="15544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336792" y="4206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9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낮은 추가 비용</a:t>
            </a:r>
            <a:endParaRPr lang="ko-KR" alt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7461504" y="4206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제품·파트너 추가는 등록 한 번으로 완료</a:t>
            </a:r>
            <a:endParaRPr lang="ko-KR" altLang="en-US" sz="700" dirty="0"/>
          </a:p>
        </p:txBody>
      </p:sp>
      <p:sp>
        <p:nvSpPr>
          <p:cNvPr id="60" name="Text 58"/>
          <p:cNvSpPr txBox="1"/>
          <p:nvPr/>
        </p:nvSpPr>
        <p:spPr>
          <a:xfrm>
            <a:off x="41148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기반 AI 게이트웨이  ·  웹케시그룹 × 충북대학교 AI융합연구실</a:t>
            </a:r>
            <a:endParaRPr lang="ko-KR" altLang="en-US" sz="750" dirty="0"/>
          </a:p>
        </p:txBody>
      </p:sp>
      <p:sp>
        <p:nvSpPr>
          <p:cNvPr id="61" name="Text 59"/>
          <p:cNvSpPr txBox="1"/>
          <p:nvPr/>
        </p:nvSpPr>
        <p:spPr>
          <a:xfrm>
            <a:off x="8321040" y="4800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r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관점</a:t>
            </a:r>
            <a:endParaRPr lang="ko-KR" alt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657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4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보는 것: 로그인 한 번, 그 밖에 새로운 것은 없음</a:t>
            </a:r>
            <a:endParaRPr lang="ko-KR" alt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046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1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게이트웨이가 고객에게 보여 주는 화면은 이것 하나뿐입니다. 그 뒤로 모든 제품은 어시스턴트 안의 도구입니다.</a:t>
            </a:r>
            <a:endParaRPr lang="ko-KR" alt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157526" y="1225296"/>
            <a:ext cx="3172349" cy="3493008"/>
          </a:xfrm>
          <a:prstGeom prst="roundRect">
            <a:avLst>
              <a:gd name="adj" fmla="val 1729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  <a:effectLst>
            <a:outerShdw sx="100000" sy="100000" kx="0" ky="0" algn="bl" rotWithShape="0" blurRad="101600" dist="38100" dir="5400000">
              <a:srgbClr val="14213D">
                <a:alpha val="18000"/>
              </a:srgbClr>
            </a:outerShdw>
          </a:effectLst>
        </p:spPr>
      </p:sp>
      <p:pic>
        <p:nvPicPr>
          <p:cNvPr id="6" name="Image 0" descr="C:\Users\user\AppData\Local\Temp\deckcrops-ko\authoriz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390" y="1280160"/>
            <a:ext cx="3062621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32588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14400" y="1307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05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어시스턴트에 게이트웨이를 추가합니다</a:t>
            </a:r>
            <a:endParaRPr lang="ko-KR" alt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15819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claude.ai나 ChatGPT에 주소 하나만 붙여 넣습니다. 로그인 방식은 어시스턴트가 스스로 찾아내므로 클라이언트 ID도 토큰도 필요 없습니다.</a:t>
            </a:r>
            <a:endParaRPr lang="ko-KR" alt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411480" y="2148840"/>
            <a:ext cx="365760" cy="3657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40280"/>
            <a:ext cx="182880" cy="1828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14400" y="21305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05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그룹의 로그인 페이지가 열립니다</a:t>
            </a:r>
            <a:endParaRPr lang="ko-KR" alt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914400" y="24048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어시스턴트가 어떤 게이트웨이를 요청하는지 표시됩니다. 고객은 회사 계정으로 로그인하며, 관리자 계정은 거부됩니다.</a:t>
            </a:r>
            <a:endParaRPr lang="ko-KR" alt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411480" y="297180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63240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14400" y="2953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05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어시스턴트는 그 사람에게 묶인 토큰을 사용합니다</a:t>
            </a:r>
            <a:endParaRPr lang="ko-KR" alt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914400" y="32278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수명이 짧고 자동으로 갱신되며 한 화면에서 폐기할 수 있습니다. 모든 호출은 고객의 조직 범위로 제한되고 기록됩니다.</a:t>
            </a:r>
            <a:endParaRPr lang="ko-KR" alt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411480" y="379476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86200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14400" y="3776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05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밖에 설치할 것은 없습니다</a:t>
            </a:r>
            <a:endParaRPr lang="ko-KR" altLang="en-US" sz="1050" dirty="0"/>
          </a:p>
        </p:txBody>
      </p:sp>
      <p:sp>
        <p:nvSpPr>
          <p:cNvPr id="22" name="Text 15"/>
          <p:cNvSpPr txBox="1"/>
          <p:nvPr/>
        </p:nvSpPr>
        <p:spPr>
          <a:xfrm>
            <a:off x="914400" y="40507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업무는 각 제품의 화면을 그대로 씁니다. 어시스턴트는 일을 처리하는 창구가 하나 더 생기는 것입니다.</a:t>
            </a:r>
            <a:endParaRPr lang="ko-KR" altLang="en-US" sz="800" dirty="0"/>
          </a:p>
        </p:txBody>
      </p:sp>
      <p:sp>
        <p:nvSpPr>
          <p:cNvPr id="23" name="Text 16"/>
          <p:cNvSpPr txBox="1"/>
          <p:nvPr/>
        </p:nvSpPr>
        <p:spPr>
          <a:xfrm>
            <a:off x="5212390" y="4736592"/>
            <a:ext cx="30626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게이트웨이의 실제 로그인 페이지</a:t>
            </a:r>
            <a:endParaRPr lang="ko-KR" altLang="en-US" sz="750" dirty="0"/>
          </a:p>
        </p:txBody>
      </p:sp>
      <p:sp>
        <p:nvSpPr>
          <p:cNvPr id="24" name="Text 17"/>
          <p:cNvSpPr txBox="1"/>
          <p:nvPr/>
        </p:nvSpPr>
        <p:spPr>
          <a:xfrm>
            <a:off x="41148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기반 AI 게이트웨이  ·  웹케시그룹 × 충북대학교 AI융합연구실</a:t>
            </a:r>
            <a:endParaRPr lang="ko-KR" altLang="en-US" sz="750" dirty="0"/>
          </a:p>
        </p:txBody>
      </p:sp>
      <p:sp>
        <p:nvSpPr>
          <p:cNvPr id="25" name="Text 18"/>
          <p:cNvSpPr txBox="1"/>
          <p:nvPr/>
        </p:nvSpPr>
        <p:spPr>
          <a:xfrm>
            <a:off x="8321040" y="4800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r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관점</a:t>
            </a:r>
            <a:endParaRPr lang="ko-KR" alt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657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4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매월 하는 같은 업무, 도입 전과 후</a:t>
            </a:r>
            <a:endParaRPr lang="ko-KR" alt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046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1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자체는 아무것도 바뀌지 않습니다.</a:t>
            </a:r>
            <a:endParaRPr lang="ko-KR" alt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1325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전</a:t>
            </a:r>
            <a:endParaRPr lang="ko-KR" alt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40680" y="1325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 도입 후</a:t>
            </a:r>
            <a:endParaRPr lang="ko-KR" alt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8321040" cy="49377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60020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파악하기</a:t>
            </a:r>
            <a:endParaRPr lang="ko-KR" alt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1600200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비즈플레이, 쿠콘, 플로우를 차례로 열고 화면 사이에 숫자를 옮겨 적음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600200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번만 물으면 어시스턴트가 세 제품을 모두 읽고 근거와 함께 답함</a:t>
            </a:r>
            <a:endParaRPr lang="ko-KR" alt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2167128"/>
            <a:ext cx="8321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167128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ko-KR" alt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2167128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제품마다 로그인, 연동마다 토큰, 채팅 설정에 저장된 인증 정보</a:t>
            </a:r>
            <a:endParaRPr lang="ko-KR" alt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2167128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계정으로 한 번 로그인. 제품에 공용 키가 전달되지 않음</a:t>
            </a:r>
            <a:endParaRPr lang="ko-KR" alt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2734056"/>
            <a:ext cx="8321040" cy="49377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734056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조치하기</a:t>
            </a:r>
            <a:endParaRPr lang="ko-KR" alt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103120" y="2734056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후 플로우에 조치 요청을 직접 등록</a:t>
            </a:r>
            <a:endParaRPr lang="ko-KR" alt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2734056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어시스턴트가 초안을 만들고 고객이 확인하면 등록됨</a:t>
            </a:r>
            <a:endParaRPr lang="ko-KR" alt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" y="3300984"/>
            <a:ext cx="8321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300984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지급하기</a:t>
            </a:r>
            <a:endParaRPr lang="ko-KR" alt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103120" y="3300984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지금과 같은 결재선</a:t>
            </a:r>
            <a:endParaRPr lang="ko-KR" alt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3300984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지금과 같은 결재선. 어시스턴트는 준비와 보고만 하고 실행하지 않음</a:t>
            </a:r>
            <a:endParaRPr lang="ko-KR" alt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" y="3867912"/>
            <a:ext cx="8321040" cy="49377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867912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 추적</a:t>
            </a:r>
            <a:endParaRPr lang="ko-KR" alt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2103120" y="3867912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무엇을 조회했는지 기록되지 않음</a:t>
            </a:r>
            <a:endParaRPr lang="ko-KR" alt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3867912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호출, 거부, 로그인이 사유와 함께 기록됨</a:t>
            </a:r>
            <a:endParaRPr lang="ko-KR" alt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41148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기반 AI 게이트웨이  ·  웹케시그룹 × 충북대학교 AI융합연구실</a:t>
            </a:r>
            <a:endParaRPr lang="ko-KR" alt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4800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r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alt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방식 · 등록</a:t>
            </a:r>
            <a:endParaRPr lang="ko-KR" alt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657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4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등록은 프로젝트가 아니라 양식 작성입니다</a:t>
            </a:r>
            <a:endParaRPr lang="ko-KR" alt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046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1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레지스트리가 API 명세를 도구로 바꿉니다. 제품을 위한 코드를 새로 작성하지 않으며 제품도 수정하지 않습니다.</a:t>
            </a:r>
            <a:endParaRPr lang="ko-KR" alt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91209" y="1225296"/>
            <a:ext cx="2972461" cy="3310128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  <a:effectLst>
            <a:outerShdw sx="100000" sy="100000" kx="0" ky="0" algn="bl" rotWithShape="0" blurRad="101600" dist="38100" dir="5400000">
              <a:srgbClr val="14213D">
                <a:alpha val="18000"/>
              </a:srgbClr>
            </a:outerShdw>
          </a:effectLst>
        </p:spPr>
      </p:sp>
      <p:pic>
        <p:nvPicPr>
          <p:cNvPr id="6" name="Image 0" descr="C:\Users\user\AppData\Local\Temp\deckcrops-ko\register-dialog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073" y="1280160"/>
            <a:ext cx="2862733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1389888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63440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47488" y="1371600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05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명세를 붙여 넣거나 MCP 서버를 지정</a:t>
            </a:r>
            <a:endParaRPr lang="ko-KR" alt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047488" y="1618488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API의 OpenAPI 문서, 또는 이미 MCP를 지원하는 제품의 주소를 입력합니다.</a:t>
            </a:r>
            <a:endParaRPr lang="ko-KR" alt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663440" y="2103120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6344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047488" y="2084832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05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제품의 보호 방식을 선택</a:t>
            </a:r>
            <a:endParaRPr lang="ko-KR" alt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047488" y="233172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사용자별 OAuth, 아이디와 비밀번호 로그인 엔드포인트, 서비스 토큰, 인증 없음 중에서 고릅니다. 나머지는 호출 시점에 게이트웨이가 처리합니다.</a:t>
            </a:r>
            <a:endParaRPr lang="ko-KR" alt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663440" y="2816352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63440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047488" y="279806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05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즉시 생성됨</a:t>
            </a:r>
            <a:endParaRPr lang="ko-KR" alt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047488" y="3044952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작업 하나가 도구 하나가 됩니다. 조회는 켜진 상태로, 데이터를 바꾸는 작업은 관리자가 켜기 전까지 꺼진 상태로 시작합니다.</a:t>
            </a:r>
            <a:endParaRPr lang="ko-KR" alt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663440" y="3529584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663440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047488" y="3511296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05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설명, 분류, 활성화</a:t>
            </a:r>
            <a:endParaRPr lang="ko-KR" alt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047488" y="3758184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읽는 도구 설명을 다듬고, 위험 등급을 표시하고, 어떤 고객과 역할에 보일지 정합니다. 다음 요청부터 바로 적용됩니다.</a:t>
            </a:r>
            <a:endParaRPr lang="ko-KR" alt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946073" y="4553712"/>
            <a:ext cx="28627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포털의 등록 화면 (로그인 엔드포인트 방식)</a:t>
            </a:r>
            <a:endParaRPr lang="ko-KR" altLang="en-US" sz="750" dirty="0"/>
          </a:p>
        </p:txBody>
      </p:sp>
      <p:sp>
        <p:nvSpPr>
          <p:cNvPr id="24" name="Text 21"/>
          <p:cNvSpPr txBox="1"/>
          <p:nvPr/>
        </p:nvSpPr>
        <p:spPr>
          <a:xfrm>
            <a:off x="41148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기반 AI 게이트웨이  ·  웹케시그룹 × 충북대학교 AI융합연구실</a:t>
            </a:r>
            <a:endParaRPr lang="ko-KR" altLang="en-US" sz="750" dirty="0"/>
          </a:p>
        </p:txBody>
      </p:sp>
      <p:sp>
        <p:nvSpPr>
          <p:cNvPr id="25" name="Text 22"/>
          <p:cNvSpPr txBox="1"/>
          <p:nvPr/>
        </p:nvSpPr>
        <p:spPr>
          <a:xfrm>
            <a:off x="8321040" y="4800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r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ko-KR" alt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방식 · 관리</a:t>
            </a:r>
            <a:endParaRPr lang="ko-KR" alt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657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4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등록된 제품을 그룹이 보는 화면</a:t>
            </a:r>
            <a:endParaRPr lang="ko-KR" alt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046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1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제품마다 한 페이지에서 연결 방식, 켜진 도구, 제공 주소, 연결한 사용자를 확인합니다.</a:t>
            </a:r>
            <a:endParaRPr lang="ko-KR" alt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07880" y="1225296"/>
            <a:ext cx="5127839" cy="3493008"/>
          </a:xfrm>
          <a:prstGeom prst="roundRect">
            <a:avLst>
              <a:gd name="adj" fmla="val 1571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  <a:effectLst>
            <a:outerShdw sx="100000" sy="100000" kx="0" ky="0" algn="bl" rotWithShape="0" blurRad="101600" dist="38100" dir="5400000">
              <a:srgbClr val="14213D">
                <a:alpha val="18000"/>
              </a:srgbClr>
            </a:outerShdw>
          </a:effectLst>
        </p:spPr>
      </p:sp>
      <p:pic>
        <p:nvPicPr>
          <p:cNvPr id="6" name="Image 0" descr="C:\Users\user\AppData\Local\Temp\deckcrops-ko\provider-coocon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744" y="1280160"/>
            <a:ext cx="5018111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072162" y="1956816"/>
            <a:ext cx="274320" cy="274320"/>
          </a:xfrm>
          <a:prstGeom prst="ellipse">
            <a:avLst/>
          </a:prstGeom>
          <a:solidFill>
            <a:srgbClr val="0F76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072162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78320" y="1956816"/>
            <a:ext cx="274320" cy="274320"/>
          </a:xfrm>
          <a:prstGeom prst="ellipse">
            <a:avLst/>
          </a:prstGeom>
          <a:solidFill>
            <a:srgbClr val="0F76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78320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13650" y="3310128"/>
            <a:ext cx="274320" cy="274320"/>
          </a:xfrm>
          <a:prstGeom prst="ellipse">
            <a:avLst/>
          </a:prstGeom>
          <a:solidFill>
            <a:srgbClr val="0F76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65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78320" y="4392778"/>
            <a:ext cx="274320" cy="274320"/>
          </a:xfrm>
          <a:prstGeom prst="ellipse">
            <a:avLst/>
          </a:prstGeom>
          <a:solidFill>
            <a:srgbClr val="0F76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78320" y="43927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1389888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0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144768" y="1371600"/>
            <a:ext cx="2587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05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생성된 도구 중 활성화된 도구</a:t>
            </a:r>
            <a:endParaRPr lang="ko-KR" alt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144768" y="161848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10개 중 8개. 쓰기 작업 2개는 확인 절차와 함께 켜기 전까지 꺼져 있습니다.</a:t>
            </a:r>
            <a:endParaRPr lang="ko-KR" alt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760720" y="2103120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76072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144768" y="2084832"/>
            <a:ext cx="2587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05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개의 주소에서 동시에 제공</a:t>
            </a:r>
            <a:endParaRPr lang="ko-KR" alt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144768" y="233172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제품을 하나의 프로세스에서 네 가지 방식으로 제공합니다.</a:t>
            </a:r>
            <a:endParaRPr lang="ko-KR" alt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760720" y="2816352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760720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144768" y="2798064"/>
            <a:ext cx="2587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05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주소마다 제공 방식이 다름</a:t>
            </a:r>
            <a:endParaRPr lang="ko-KR" alt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6144768" y="304495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공용 카탈로그, 고객 패키지 두 개, 제품 단독 MCP 서버입니다. 어느 주소에 공개하든 배포가 아니라 라우팅 변경입니다.</a:t>
            </a:r>
            <a:endParaRPr lang="ko-KR" alt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760720" y="3529584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760720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144768" y="3511296"/>
            <a:ext cx="2587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05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게이트웨이가 대신하는 로그인</a:t>
            </a:r>
            <a:endParaRPr lang="ko-KR" alt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6144768" y="375818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제품은 아이디와 비밀번호로 로그인합니다. 게이트웨이가 고객별로 로그인해 토큰을 보관하고 만료되면 다시 로그인합니다.</a:t>
            </a:r>
            <a:endParaRPr lang="ko-KR" alt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41148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기반 AI 게이트웨이  ·  웹케시그룹 × 충북대학교 AI융합연구실</a:t>
            </a:r>
            <a:endParaRPr lang="ko-KR" alt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321040" y="4800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r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ko-KR" alt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방식 · 호출 처리</a:t>
            </a:r>
            <a:endParaRPr lang="ko-KR" alt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657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4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한 번마다 일어나는 일</a:t>
            </a:r>
            <a:endParaRPr lang="ko-KR" alt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046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1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요청은 어시스턴트와 제품 사이에서 아래 여섯 단계를 순서대로 거칩니다.</a:t>
            </a:r>
            <a:endParaRPr lang="ko-KR" alt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307592" cy="228600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00200"/>
            <a:ext cx="402336" cy="40233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700784"/>
            <a:ext cx="201168" cy="2011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2103120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0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신원 확인</a:t>
            </a:r>
            <a:endParaRPr lang="ko-KR" alt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21208" y="2423160"/>
            <a:ext cx="10881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73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호출에는 고객의 로그인 정보가 담깁니다. 없거나 만료되었으면 어시스턴트에 로그인 위치를 알려 줍니다.</a:t>
            </a:r>
            <a:endParaRPr lang="ko-KR" altLang="en-US" sz="730" dirty="0"/>
          </a:p>
        </p:txBody>
      </p:sp>
      <p:sp>
        <p:nvSpPr>
          <p:cNvPr id="10" name="Shape 7"/>
          <p:cNvSpPr/>
          <p:nvPr/>
        </p:nvSpPr>
        <p:spPr>
          <a:xfrm>
            <a:off x="1719072" y="2514600"/>
            <a:ext cx="91440" cy="164592"/>
          </a:xfrm>
          <a:prstGeom prst="rightArrow">
            <a:avLst/>
          </a:prstGeom>
          <a:solidFill>
            <a:srgbClr val="7A8593"/>
          </a:solidFill>
          <a:ln w="12700">
            <a:solidFill>
              <a:srgbClr val="7A859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10512" y="1417320"/>
            <a:ext cx="1307592" cy="228600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67712" y="1600200"/>
            <a:ext cx="402336" cy="40233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296" y="1700784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901952" y="2103120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0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권한 확인</a:t>
            </a:r>
            <a:endParaRPr lang="ko-KR" alt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920240" y="2423160"/>
            <a:ext cx="10881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73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게이트웨이, 이 제품, 이 도구를 쓸 수 있는지 확인합니다. 아니면 사유와 함께 거부합니다.</a:t>
            </a:r>
            <a:endParaRPr lang="ko-KR" altLang="en-US" sz="730" dirty="0"/>
          </a:p>
        </p:txBody>
      </p:sp>
      <p:sp>
        <p:nvSpPr>
          <p:cNvPr id="16" name="Shape 12"/>
          <p:cNvSpPr/>
          <p:nvPr/>
        </p:nvSpPr>
        <p:spPr>
          <a:xfrm>
            <a:off x="3118104" y="2514600"/>
            <a:ext cx="91440" cy="164592"/>
          </a:xfrm>
          <a:prstGeom prst="rightArrow">
            <a:avLst/>
          </a:prstGeom>
          <a:solidFill>
            <a:srgbClr val="7A8593"/>
          </a:solidFill>
          <a:ln w="12700">
            <a:solidFill>
              <a:srgbClr val="7A859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209544" y="1417320"/>
            <a:ext cx="1307592" cy="228600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666744" y="1600200"/>
            <a:ext cx="402336" cy="40233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1700784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300984" y="2103120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0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범위 제한</a:t>
            </a:r>
            <a:endParaRPr lang="ko-KR" alt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3319272" y="2423160"/>
            <a:ext cx="10881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73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조직을 지정한 요청은 거부합니다. 조직은 프롬프트가 아니라 토큰에서 가져옵니다.</a:t>
            </a:r>
            <a:endParaRPr lang="ko-KR" altLang="en-US" sz="730" dirty="0"/>
          </a:p>
        </p:txBody>
      </p:sp>
      <p:sp>
        <p:nvSpPr>
          <p:cNvPr id="22" name="Shape 17"/>
          <p:cNvSpPr/>
          <p:nvPr/>
        </p:nvSpPr>
        <p:spPr>
          <a:xfrm>
            <a:off x="4517136" y="2514600"/>
            <a:ext cx="91440" cy="164592"/>
          </a:xfrm>
          <a:prstGeom prst="rightArrow">
            <a:avLst/>
          </a:prstGeom>
          <a:solidFill>
            <a:srgbClr val="7A8593"/>
          </a:solidFill>
          <a:ln w="12700">
            <a:solidFill>
              <a:srgbClr val="7A859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608576" y="1417320"/>
            <a:ext cx="1307592" cy="2286000"/>
          </a:xfrm>
          <a:prstGeom prst="roundRect">
            <a:avLst>
              <a:gd name="adj" fmla="val 4196"/>
            </a:avLst>
          </a:prstGeom>
          <a:solidFill>
            <a:srgbClr val="E6F4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065776" y="1600200"/>
            <a:ext cx="402336" cy="40233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1700784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700016" y="2103120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0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인증 중개</a:t>
            </a:r>
            <a:endParaRPr lang="ko-KR" alt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4718304" y="2423160"/>
            <a:ext cx="10881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73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제품에는 그 고객의 제품용 인증 정보가 전달됩니다. 어시스턴트의 토큰은 제품에 닿지 않습니다.</a:t>
            </a:r>
            <a:endParaRPr lang="ko-KR" altLang="en-US" sz="730" dirty="0"/>
          </a:p>
        </p:txBody>
      </p:sp>
      <p:sp>
        <p:nvSpPr>
          <p:cNvPr id="28" name="Shape 22"/>
          <p:cNvSpPr/>
          <p:nvPr/>
        </p:nvSpPr>
        <p:spPr>
          <a:xfrm>
            <a:off x="5916168" y="2514600"/>
            <a:ext cx="91440" cy="164592"/>
          </a:xfrm>
          <a:prstGeom prst="rightArrow">
            <a:avLst/>
          </a:prstGeom>
          <a:solidFill>
            <a:srgbClr val="7A8593"/>
          </a:solidFill>
          <a:ln w="12700">
            <a:solidFill>
              <a:srgbClr val="7A8593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007608" y="1417320"/>
            <a:ext cx="1307592" cy="228600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464808" y="1600200"/>
            <a:ext cx="402336" cy="40233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1700784"/>
            <a:ext cx="201168" cy="201168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099048" y="2103120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0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호출 · 필터링</a:t>
            </a:r>
            <a:endParaRPr lang="ko-KR" alt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6117336" y="2423160"/>
            <a:ext cx="10881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73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제품이 응답합니다. 다른 조직의 데이터는 어시스턴트에 전달되기 전에 제거됩니다.</a:t>
            </a:r>
            <a:endParaRPr lang="ko-KR" altLang="en-US" sz="730" dirty="0"/>
          </a:p>
        </p:txBody>
      </p:sp>
      <p:sp>
        <p:nvSpPr>
          <p:cNvPr id="34" name="Shape 27"/>
          <p:cNvSpPr/>
          <p:nvPr/>
        </p:nvSpPr>
        <p:spPr>
          <a:xfrm>
            <a:off x="7315200" y="2514600"/>
            <a:ext cx="91440" cy="164592"/>
          </a:xfrm>
          <a:prstGeom prst="rightArrow">
            <a:avLst/>
          </a:prstGeom>
          <a:solidFill>
            <a:srgbClr val="7A8593"/>
          </a:solidFill>
          <a:ln w="12700">
            <a:solidFill>
              <a:srgbClr val="7A8593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7406640" y="1417320"/>
            <a:ext cx="1307592" cy="228600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7863840" y="1600200"/>
            <a:ext cx="402336" cy="40233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424" y="1700784"/>
            <a:ext cx="201168" cy="201168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7498080" y="2103120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0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기록</a:t>
            </a:r>
            <a:endParaRPr lang="ko-KR" alt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7516368" y="2423160"/>
            <a:ext cx="10881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73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누가, 어떤 도구를, 어떤 인자로 호출했고 결과와 사유는 무엇인지 남깁니다. 거부도 기록합니다.</a:t>
            </a:r>
            <a:endParaRPr lang="ko-KR" altLang="en-US" sz="730" dirty="0"/>
          </a:p>
        </p:txBody>
      </p:sp>
      <p:sp>
        <p:nvSpPr>
          <p:cNvPr id="40" name="Shape 32"/>
          <p:cNvSpPr/>
          <p:nvPr/>
        </p:nvSpPr>
        <p:spPr>
          <a:xfrm>
            <a:off x="411480" y="3886200"/>
            <a:ext cx="8321040" cy="73152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594360" y="3950208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9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프로토타입에서 확인한 사례: “도구가 비활성화됨” 사유로 거부된 쓰기 작업, 게이트웨이를 벗어나기 전에 거부된 타 조직 조회, 하나의 대화에서 네 개 제품을 이어서 쓴 작업. 각각 감사 로그에 한 줄씩 남습니다.</a:t>
            </a:r>
            <a:endParaRPr lang="ko-KR" altLang="en-US" sz="900" dirty="0"/>
          </a:p>
        </p:txBody>
      </p:sp>
      <p:sp>
        <p:nvSpPr>
          <p:cNvPr id="42" name="Text 34"/>
          <p:cNvSpPr txBox="1"/>
          <p:nvPr/>
        </p:nvSpPr>
        <p:spPr>
          <a:xfrm>
            <a:off x="41148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기반 AI 게이트웨이  ·  웹케시그룹 × 충북대학교 AI융합연구실</a:t>
            </a:r>
            <a:endParaRPr lang="ko-KR" altLang="en-US" sz="750" dirty="0"/>
          </a:p>
        </p:txBody>
      </p:sp>
      <p:sp>
        <p:nvSpPr>
          <p:cNvPr id="43" name="Text 35"/>
          <p:cNvSpPr txBox="1"/>
          <p:nvPr/>
        </p:nvSpPr>
        <p:spPr>
          <a:xfrm>
            <a:off x="8321040" y="4800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r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ko-KR" alt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관점</a:t>
            </a:r>
            <a:endParaRPr lang="ko-KR" alt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657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4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</a:t>
            </a:r>
            <a:endParaRPr lang="ko-KR" alt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046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1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게이트웨이 프로세스가 모든 주소를 처리합니다. 제품에는 각 제품의 프로토콜과 인증 정보로 접근합니다.</a:t>
            </a:r>
            <a:endParaRPr lang="ko-KR" alt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1600200" cy="3063240"/>
          </a:xfrm>
          <a:prstGeom prst="roundRect">
            <a:avLst>
              <a:gd name="adj" fmla="val 3429"/>
            </a:avLst>
          </a:prstGeom>
          <a:solidFill>
            <a:srgbClr val="F5F7FA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356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</a:t>
            </a:r>
            <a:endParaRPr lang="ko-KR" alt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709928"/>
            <a:ext cx="13258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70992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800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endParaRPr lang="ko-KR" alt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13258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2128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800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</a:t>
            </a:r>
            <a:endParaRPr lang="ko-KR" alt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13258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7157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800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Copilot / Agentforce</a:t>
            </a:r>
            <a:endParaRPr lang="ko-KR" alt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3218688"/>
            <a:ext cx="13258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1868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800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Desktop, Code</a:t>
            </a:r>
            <a:endParaRPr lang="ko-KR" alt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8640" y="3721608"/>
            <a:ext cx="13258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7216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800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LLM 앱</a:t>
            </a:r>
            <a:endParaRPr lang="ko-KR" alt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286000" y="1325880"/>
            <a:ext cx="457200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23160" y="143560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 + 포털  ·  단일 프로세스</a:t>
            </a:r>
            <a:endParaRPr lang="ko-KR" alt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423160" y="1691640"/>
            <a:ext cx="4297680" cy="3931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96312" y="1691640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엔드포인트</a:t>
            </a:r>
            <a:endParaRPr lang="ko-KR" alt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611880" y="1691640"/>
            <a:ext cx="3063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66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/mcp 공용 · /mcp/&lt;group&gt; 고객 그룹 또는 제품군별 · /mcp/&lt;product&gt; 단일 제품을 독립 MCP 서버로 제공</a:t>
            </a:r>
            <a:endParaRPr lang="ko-KR" altLang="en-US" sz="660" dirty="0"/>
          </a:p>
        </p:txBody>
      </p:sp>
      <p:sp>
        <p:nvSpPr>
          <p:cNvPr id="22" name="Shape 20"/>
          <p:cNvSpPr/>
          <p:nvPr/>
        </p:nvSpPr>
        <p:spPr>
          <a:xfrm>
            <a:off x="2423160" y="2139696"/>
            <a:ext cx="4297680" cy="3931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496312" y="2139696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ko-KR" alt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3611880" y="2139696"/>
            <a:ext cx="3063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66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OAuth 2.1 인가 서버: 디스커버리, 클라이언트 자동 등록, PKCE, 토큰 갱신. 사용자와 조직에 묶인 토큰 발급</a:t>
            </a:r>
            <a:endParaRPr lang="ko-KR" altLang="en-US" sz="660" dirty="0"/>
          </a:p>
        </p:txBody>
      </p:sp>
      <p:sp>
        <p:nvSpPr>
          <p:cNvPr id="25" name="Shape 23"/>
          <p:cNvSpPr/>
          <p:nvPr/>
        </p:nvSpPr>
        <p:spPr>
          <a:xfrm>
            <a:off x="2423160" y="2587752"/>
            <a:ext cx="4297680" cy="393192"/>
          </a:xfrm>
          <a:prstGeom prst="rect">
            <a:avLst/>
          </a:prstGeom>
          <a:solidFill>
            <a:srgbClr val="E6F4F1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496312" y="2587752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</a:t>
            </a:r>
            <a:endParaRPr lang="ko-KR" alt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3611880" y="2587752"/>
            <a:ext cx="3063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66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게이트웨이·제품·도구 단위로 그룹 또는 조직별 권한 부여 · 쓰기는 기본 차단 · 확인 절차 · 요청과 응답 모두 조직 범위 제한</a:t>
            </a:r>
            <a:endParaRPr lang="ko-KR" altLang="en-US" sz="660" dirty="0"/>
          </a:p>
        </p:txBody>
      </p:sp>
      <p:sp>
        <p:nvSpPr>
          <p:cNvPr id="28" name="Shape 26"/>
          <p:cNvSpPr/>
          <p:nvPr/>
        </p:nvSpPr>
        <p:spPr>
          <a:xfrm>
            <a:off x="2423160" y="3035808"/>
            <a:ext cx="4297680" cy="3931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496312" y="3035808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중개</a:t>
            </a:r>
            <a:endParaRPr lang="ko-KR" alt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3611880" y="3035808"/>
            <a:ext cx="3063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66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사용자별 OAuth 연결과 갱신 · 로그인 엔드포인트 로그인과 JWT 캐시 · 서비스 토큰 · 호출자의 토큰은 제품에 전달하지 않음</a:t>
            </a:r>
            <a:endParaRPr lang="ko-KR" alt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423160" y="3483864"/>
            <a:ext cx="4297680" cy="3931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96312" y="3483864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API를 도구로</a:t>
            </a:r>
            <a:endParaRPr lang="ko-KR" alt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3611880" y="3483864"/>
            <a:ext cx="3063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66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OpenAPI 명세에서 API 작업마다 도구 하나 생성 · 기존 MCP 서버는 그대로 중계 · 설명과 위험 등급은 관리자가 편집</a:t>
            </a:r>
            <a:endParaRPr lang="ko-KR" altLang="en-US" sz="660" dirty="0"/>
          </a:p>
        </p:txBody>
      </p:sp>
      <p:sp>
        <p:nvSpPr>
          <p:cNvPr id="34" name="Shape 32"/>
          <p:cNvSpPr/>
          <p:nvPr/>
        </p:nvSpPr>
        <p:spPr>
          <a:xfrm>
            <a:off x="2423160" y="3931920"/>
            <a:ext cx="4297680" cy="39319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496312" y="3931920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· 상태</a:t>
            </a:r>
            <a:endParaRPr lang="ko-KR" alt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3611880" y="3931920"/>
            <a:ext cx="3063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66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호출, 거부, 로그인 단계를 기록 · 레지스트리, 사용자, 토큰, 정책을 하나의 저장소에 보관</a:t>
            </a:r>
            <a:endParaRPr lang="ko-KR" altLang="en-US" sz="660" dirty="0"/>
          </a:p>
        </p:txBody>
      </p:sp>
      <p:sp>
        <p:nvSpPr>
          <p:cNvPr id="37" name="Shape 35"/>
          <p:cNvSpPr/>
          <p:nvPr/>
        </p:nvSpPr>
        <p:spPr>
          <a:xfrm>
            <a:off x="7132320" y="1325880"/>
            <a:ext cx="1600200" cy="3063240"/>
          </a:xfrm>
          <a:prstGeom prst="roundRect">
            <a:avLst>
              <a:gd name="adj" fmla="val 3429"/>
            </a:avLst>
          </a:prstGeom>
          <a:solidFill>
            <a:srgbClr val="F5F7FA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269480" y="14356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</a:t>
            </a:r>
            <a:endParaRPr lang="ko-KR" alt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269480" y="1709928"/>
            <a:ext cx="13258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342632" y="17647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</a:t>
            </a:r>
            <a:endParaRPr lang="ko-KR" alt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7342632" y="19659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68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OpenAPI 명세, 인증 방식 무관</a:t>
            </a:r>
            <a:endParaRPr lang="ko-KR" alt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7269480" y="2350008"/>
            <a:ext cx="13258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342632" y="24048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서버</a:t>
            </a:r>
            <a:endParaRPr lang="ko-KR" alt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7342632" y="26060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68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중계, 사용자별 OAuth</a:t>
            </a:r>
            <a:endParaRPr lang="ko-KR" alt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7269480" y="2990088"/>
            <a:ext cx="13258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342632" y="30449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 SaaS</a:t>
            </a:r>
            <a:endParaRPr lang="ko-KR" alt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7342632" y="32461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68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레지스트리</a:t>
            </a:r>
            <a:endParaRPr lang="ko-KR" alt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7269480" y="3630168"/>
            <a:ext cx="13258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342632" y="36850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자체 시스템</a:t>
            </a:r>
            <a:endParaRPr lang="ko-KR" alt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7342632" y="38862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68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레지스트리</a:t>
            </a:r>
            <a:endParaRPr lang="ko-KR" alt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2039112" y="2743200"/>
            <a:ext cx="219456" cy="201168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85432" y="2743200"/>
            <a:ext cx="219456" cy="201168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11480" y="44622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 뒤에서 컨테이너 이미지 하나로 실행됩니다. 제품의 배포와 공개는 릴리스가 아니라 라우팅 변경입니다. 제품별 격리는 제안 과제에 포함됩니다.</a:t>
            </a:r>
            <a:endParaRPr lang="ko-KR" alt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41148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기반 AI 게이트웨이  ·  웹케시그룹 × 충북대학교 AI융합연구실</a:t>
            </a:r>
            <a:endParaRPr lang="ko-KR" altLang="en-US" sz="750" dirty="0"/>
          </a:p>
        </p:txBody>
      </p:sp>
      <p:sp>
        <p:nvSpPr>
          <p:cNvPr id="55" name="Text 53"/>
          <p:cNvSpPr txBox="1"/>
          <p:nvPr/>
        </p:nvSpPr>
        <p:spPr>
          <a:xfrm>
            <a:off x="8321040" y="4800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r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ko-KR" alt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신원</a:t>
            </a:r>
            <a:endParaRPr lang="ko-KR" alt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657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4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신원: 로그인은 한 번, 제품마다 맞는 열쇠</a:t>
            </a:r>
            <a:endParaRPr lang="ko-KR" alt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046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1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어시스턴트는 제품의 인증 정보를 갖지 않습니다. 게이트웨이가 사용자별로 보관합니다.</a:t>
            </a:r>
            <a:endParaRPr lang="ko-KR" alt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402336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08760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604772"/>
            <a:ext cx="192024" cy="1920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15087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3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쪽</a:t>
            </a:r>
            <a:endParaRPr lang="ko-KR" alt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01168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88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디렉터리에 각 사용자의 조직, 역할, 접근 그룹을 등록합니다. 토큰이 이 값을 그대로 가져가므로 한 번만 설정하면 됩니다.</a:t>
            </a:r>
            <a:endParaRPr lang="ko-KR" altLang="en-US" sz="880" dirty="0"/>
          </a:p>
          <a:p>
            <a:pPr latinLnBrk="0"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88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어시스턴트는 고정 키를 가질 수 없으므로 게이트웨이가 직접 OAuth 2.1 서버 역할을 합니다. 어시스턴트가 이를 찾아 등록하고 그룹의 로그인 페이지를 엽니다.</a:t>
            </a:r>
            <a:endParaRPr lang="ko-KR" altLang="en-US" sz="880" dirty="0"/>
          </a:p>
          <a:p>
            <a:pPr latinLnBrk="0"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88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어시스턴트가 받는 토큰은 그 사용자에게 묶여 있습니다. 수명이 짧고 자동으로 갱신되며 한 화면에서 폐기할 수 있습니다.</a:t>
            </a:r>
            <a:endParaRPr lang="ko-KR" altLang="en-US" sz="880" dirty="0"/>
          </a:p>
          <a:p>
            <a:pPr latinLnBrk="0"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88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로그인 페이지를 그룹의 통합 로그인(SSO)과 연동하는 것은 제안 과제입니다.</a:t>
            </a:r>
            <a:endParaRPr lang="ko-KR" alt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4709160" y="1325880"/>
            <a:ext cx="402336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92040" y="150876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052" y="1604772"/>
            <a:ext cx="192024" cy="19202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94960" y="15087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3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쪽</a:t>
            </a:r>
            <a:endParaRPr lang="ko-KR" alt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892040" y="2011680"/>
            <a:ext cx="365760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983480" y="2011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9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사용자별 OAuth</a:t>
            </a:r>
            <a:endParaRPr lang="ko-KR" alt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011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3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자기 계정을 한 번 연결하면 게이트웨이가 갱신합니다. 제품은 실제 사용자를 식별합니다.</a:t>
            </a:r>
            <a:endParaRPr lang="ko-KR" altLang="en-US" sz="730" dirty="0"/>
          </a:p>
        </p:txBody>
      </p:sp>
      <p:sp>
        <p:nvSpPr>
          <p:cNvPr id="17" name="Shape 13"/>
          <p:cNvSpPr/>
          <p:nvPr/>
        </p:nvSpPr>
        <p:spPr>
          <a:xfrm>
            <a:off x="4892040" y="2633472"/>
            <a:ext cx="365760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983480" y="263347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9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엔드포인트</a:t>
            </a:r>
            <a:endParaRPr lang="ko-KR" alt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6172200" y="263347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3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아이디와 비밀번호로 로그인하는 API를 가진 제품용입니다. 게이트웨이가 로그인해 토큰을 보관하고 만료되면 다시 로그인합니다. 사용자별 또는 서비스 계정 방식.</a:t>
            </a:r>
            <a:endParaRPr lang="ko-KR" altLang="en-US" sz="730" dirty="0"/>
          </a:p>
        </p:txBody>
      </p:sp>
      <p:sp>
        <p:nvSpPr>
          <p:cNvPr id="20" name="Shape 16"/>
          <p:cNvSpPr/>
          <p:nvPr/>
        </p:nvSpPr>
        <p:spPr>
          <a:xfrm>
            <a:off x="4892040" y="3255264"/>
            <a:ext cx="365760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983480" y="325526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9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토큰</a:t>
            </a:r>
            <a:endParaRPr lang="ko-KR" alt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6172200" y="325526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3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게이트웨이가 전송하고 교체하는 단일 인증 정보입니다. 사용자별 신원이 없는 제품에 씁니다.</a:t>
            </a:r>
            <a:endParaRPr lang="ko-KR" altLang="en-US" sz="730" dirty="0"/>
          </a:p>
        </p:txBody>
      </p:sp>
      <p:sp>
        <p:nvSpPr>
          <p:cNvPr id="23" name="Shape 19"/>
          <p:cNvSpPr/>
          <p:nvPr/>
        </p:nvSpPr>
        <p:spPr>
          <a:xfrm>
            <a:off x="4892040" y="3877056"/>
            <a:ext cx="365760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983480" y="387705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9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또는 망 분리</a:t>
            </a:r>
            <a:endParaRPr lang="ko-KR" alt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6172200" y="387705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3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통제를 게이트웨이가 맡습니다.</a:t>
            </a:r>
            <a:endParaRPr lang="ko-KR" altLang="en-US" sz="730" dirty="0"/>
          </a:p>
        </p:txBody>
      </p:sp>
      <p:sp>
        <p:nvSpPr>
          <p:cNvPr id="26" name="Text 22"/>
          <p:cNvSpPr txBox="1"/>
          <p:nvPr/>
        </p:nvSpPr>
        <p:spPr>
          <a:xfrm>
            <a:off x="41148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기반 AI 게이트웨이  ·  웹케시그룹 × 충북대학교 AI융합연구실</a:t>
            </a:r>
            <a:endParaRPr lang="ko-KR" altLang="en-US" sz="750" dirty="0"/>
          </a:p>
        </p:txBody>
      </p:sp>
      <p:sp>
        <p:nvSpPr>
          <p:cNvPr id="27" name="Text 23"/>
          <p:cNvSpPr txBox="1"/>
          <p:nvPr/>
        </p:nvSpPr>
        <p:spPr>
          <a:xfrm>
            <a:off x="8321040" y="4800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r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ko-KR" alt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패키징</a:t>
            </a:r>
            <a:endParaRPr lang="ko-KR" alt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657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4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레지스트리를 고객 그룹별 패키지로</a:t>
            </a:r>
            <a:endParaRPr lang="ko-KR" alt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046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1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있는 게이트웨이는 선택한 제품 묶음을 전용 주소로 제공하며, 로그인 규칙과 권한을 따로 가집니다. 아래 게이트웨이는 제품 4개와 도구 72개를 제공합니다.</a:t>
            </a:r>
            <a:endParaRPr lang="ko-KR" alt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11317" y="1271016"/>
            <a:ext cx="4720965" cy="3218688"/>
          </a:xfrm>
          <a:prstGeom prst="roundRect">
            <a:avLst>
              <a:gd name="adj" fmla="val 1705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  <a:effectLst>
            <a:outerShdw sx="100000" sy="100000" kx="0" ky="0" algn="bl" rotWithShape="0" blurRad="101600" dist="38100" dir="5400000">
              <a:srgbClr val="14213D">
                <a:alpha val="18000"/>
              </a:srgbClr>
            </a:outerShdw>
          </a:effectLst>
        </p:spPr>
      </p:sp>
      <p:pic>
        <p:nvPicPr>
          <p:cNvPr id="6" name="Image 0" descr="C:\Users\user\AppData\Local\Temp\deckcrops-ko\gateway-wc-group-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181" y="1325880"/>
            <a:ext cx="4611237" cy="3108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96743" y="2351837"/>
            <a:ext cx="274320" cy="274320"/>
          </a:xfrm>
          <a:prstGeom prst="ellipse">
            <a:avLst/>
          </a:prstGeom>
          <a:solidFill>
            <a:srgbClr val="0F76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6743" y="235183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31845" y="3253435"/>
            <a:ext cx="274320" cy="274320"/>
          </a:xfrm>
          <a:prstGeom prst="ellipse">
            <a:avLst/>
          </a:prstGeom>
          <a:solidFill>
            <a:srgbClr val="0F76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31845" y="325343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31845" y="3688690"/>
            <a:ext cx="274320" cy="274320"/>
          </a:xfrm>
          <a:prstGeom prst="ellipse">
            <a:avLst/>
          </a:prstGeom>
          <a:solidFill>
            <a:srgbClr val="0F76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31845" y="368869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326227" y="2631643"/>
            <a:ext cx="274320" cy="274320"/>
          </a:xfrm>
          <a:prstGeom prst="ellipse">
            <a:avLst/>
          </a:prstGeom>
          <a:solidFill>
            <a:srgbClr val="0F76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326227" y="263164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1389888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0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144768" y="1371600"/>
            <a:ext cx="2587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05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전용 주소 하나</a:t>
            </a:r>
            <a:endParaRPr lang="ko-KR" alt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144768" y="161848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어시스턴트에든 이 주소를 붙여 넣으면 됩니다. 도구 이름에 제품 접두어가 붙어 어시스턴트가 어느 제품의 도구인지 구분합니다.</a:t>
            </a:r>
            <a:endParaRPr lang="ko-KR" alt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760720" y="2103120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76072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144768" y="2084832"/>
            <a:ext cx="2587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05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필수</a:t>
            </a:r>
            <a:endParaRPr lang="ko-KR" alt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144768" y="233172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호출자는 게이트웨이에서 로그인해야 합니다. 로그인이 없으면 사용자별 규칙을 적용할 수 없습니다.</a:t>
            </a:r>
            <a:endParaRPr lang="ko-KR" alt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760720" y="2816352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760720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144768" y="2798064"/>
            <a:ext cx="2587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05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대상</a:t>
            </a:r>
            <a:endParaRPr lang="ko-KR" alt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6144768" y="304495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권한이 있는 모든 사용자, 지정한 접근 그룹, 지정한 조직 중에서 정합니다. 다른 어떤 검사보다 먼저 확인합니다.</a:t>
            </a:r>
            <a:endParaRPr lang="ko-KR" alt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760720" y="3529584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760720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144768" y="3511296"/>
            <a:ext cx="2587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05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제품과 도구의 규칙도 그대로 적용</a:t>
            </a:r>
            <a:endParaRPr lang="ko-KR" alt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6144768" y="375818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패키지는 범위를 좁힐 뿐입니다. 제품별 권한과 도구별 정책이 그 위에 추가로 적용됩니다.</a:t>
            </a:r>
            <a:endParaRPr lang="ko-KR" alt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411480" y="455371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레지스트리를 제공하는 세 가지 방식: 공용 카탈로그 /mcp · 패키지 /mcp/&lt;group&gt; · 단일 제품 /mcp/&lt;product&gt;. 모두 하나의 프로세스 안에서 이루어지는 라우팅 결정입니다.</a:t>
            </a:r>
            <a:endParaRPr lang="ko-KR" alt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41148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기반 AI 게이트웨이  ·  웹케시그룹 × 충북대학교 AI융합연구실</a:t>
            </a:r>
            <a:endParaRPr lang="ko-KR" altLang="en-US" sz="750" dirty="0"/>
          </a:p>
        </p:txBody>
      </p:sp>
      <p:sp>
        <p:nvSpPr>
          <p:cNvPr id="33" name="Text 30"/>
          <p:cNvSpPr txBox="1"/>
          <p:nvPr/>
        </p:nvSpPr>
        <p:spPr>
          <a:xfrm>
            <a:off x="8321040" y="4800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r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ko-KR" alt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 모델</a:t>
            </a:r>
            <a:endParaRPr lang="ko-KR" alt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657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4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작업의 위험이 클수록 통제도 강해집니다</a:t>
            </a:r>
            <a:endParaRPr lang="ko-KR" alt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046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1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게이트웨이가 조회는 자유롭게 제공하고, 자금 이동은 기존 결재선 안에 묶어 둡니다.</a:t>
            </a:r>
            <a:endParaRPr lang="ko-KR" alt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08760"/>
            <a:ext cx="45720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6459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ko-KR" alt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856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3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읽기와 요약</a:t>
            </a:r>
            <a:endParaRPr lang="ko-KR" alt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240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고객의 권한 범위 안에서 기본으로 제공합니다. 잔액, 영수증, 업무, 문서 등.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127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latinLnBrk="0" indent="0" marL="0">
              <a:buNone/>
            </a:pPr>
            <a:r>
              <a:rPr lang="ko-KR" altLang="en-US" sz="8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대부분의 요청이 여기에 해당합니다. 새로운 위험 없이 가치를 제공합니다.</a:t>
            </a:r>
            <a:endParaRPr lang="ko-KR" alt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219456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508760"/>
            <a:ext cx="45720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16459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· 등록</a:t>
            </a:r>
            <a:endParaRPr lang="ko-KR" alt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856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3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준비</a:t>
            </a:r>
            <a:endParaRPr lang="ko-KR" alt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240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어시스턴트가 준비하고, 기록되기 전에 고객이 확인합니다. 정산 초안, 업무 등록, 조치 요청 등.</a:t>
            </a:r>
            <a:endParaRPr lang="ko-KR" alt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3127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latinLnBrk="0" indent="0" marL="0">
              <a:buNone/>
            </a:pPr>
            <a:r>
              <a:rPr lang="ko-KR" altLang="en-US" sz="8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절차는 프롬프트가 아니라 게이트웨이가 강제합니다.</a:t>
            </a:r>
            <a:endParaRPr lang="ko-KR" alt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219456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1508760"/>
            <a:ext cx="457200" cy="7315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63640" y="16459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B9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지급 · 정산 · 실행</a:t>
            </a:r>
            <a:endParaRPr lang="ko-KR" alt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1856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3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자금 이동과 확정</a:t>
            </a:r>
            <a:endParaRPr lang="ko-KR" alt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240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어시스턴트가 단독으로 실행하지 않습니다. 요청은 제품의 결재선과 한도를 그대로 거치며, 어시스턴트는 결과를 보고합니다.</a:t>
            </a:r>
            <a:endParaRPr lang="ko-KR" alt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3127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latinLnBrk="0" indent="0" marL="0">
              <a:buNone/>
            </a:pPr>
            <a:r>
              <a:rPr lang="ko-KR" altLang="en-US" sz="80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결재선이 그대로 결정권을 가집니다.</a:t>
            </a:r>
            <a:endParaRPr lang="ko-KR" alt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" y="3703320"/>
            <a:ext cx="83210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7947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등급과 관계없이 항상 적용</a:t>
            </a:r>
            <a:endParaRPr lang="ko-KR" alt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40416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9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고객별 활성화</a:t>
            </a:r>
            <a:endParaRPr lang="ko-KR" alt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42428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고객에게 필요한 도구만 노출</a:t>
            </a:r>
            <a:endParaRPr lang="ko-KR" alt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2651760" y="40416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9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범위 제한</a:t>
            </a:r>
            <a:endParaRPr lang="ko-KR" alt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2651760" y="42428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호출을 고객 자신의 데이터로 제한</a:t>
            </a:r>
            <a:endParaRPr lang="ko-KR" alt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4709160" y="40416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9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신원</a:t>
            </a:r>
            <a:endParaRPr lang="ko-KR" alt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709160" y="42428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제품은 공용 키가 아닌 실제 사용자를 식별</a:t>
            </a:r>
            <a:endParaRPr lang="ko-KR" alt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40416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9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추적</a:t>
            </a:r>
            <a:endParaRPr lang="ko-KR" alt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42428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호출, 거부, 로그인을 사유와 함께 기록</a:t>
            </a:r>
            <a:endParaRPr lang="ko-KR" alt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41148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기반 AI 게이트웨이  ·  웹케시그룹 × 충북대학교 AI융합연구실</a:t>
            </a:r>
            <a:endParaRPr lang="ko-KR" alt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4800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r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ko-KR" alt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 모델 · 실제 화면</a:t>
            </a:r>
            <a:endParaRPr lang="ko-KR" alt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657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4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눈으로 확인하는 거버넌스</a:t>
            </a:r>
            <a:endParaRPr lang="ko-KR" alt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046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1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화면에는 사용자와 소속 조직, 그룹이 있고, 다른 화면에는 모든 호출과 로그인 단계가 있습니다.</a:t>
            </a:r>
            <a:endParaRPr lang="ko-KR" alt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8036" y="1316736"/>
            <a:ext cx="3635968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  <a:effectLst>
            <a:outerShdw sx="100000" sy="100000" kx="0" ky="0" algn="bl" rotWithShape="0" blurRad="101600" dist="38100" dir="5400000">
              <a:srgbClr val="14213D">
                <a:alpha val="18000"/>
              </a:srgbClr>
            </a:outerShdw>
          </a:effectLst>
        </p:spPr>
      </p:sp>
      <p:pic>
        <p:nvPicPr>
          <p:cNvPr id="6" name="Image 0" descr="C:\Users\user\AppData\Local\Temp\deckcrops-ko\users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900" y="1371600"/>
            <a:ext cx="3526240" cy="2377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79996" y="1316736"/>
            <a:ext cx="3635968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  <a:effectLst>
            <a:outerShdw sx="100000" sy="100000" kx="0" ky="0" algn="bl" rotWithShape="0" blurRad="101600" dist="38100" dir="5400000">
              <a:srgbClr val="14213D">
                <a:alpha val="18000"/>
              </a:srgbClr>
            </a:outerShdw>
          </a:effectLst>
        </p:spPr>
      </p:sp>
      <p:pic>
        <p:nvPicPr>
          <p:cNvPr id="8" name="Image 1" descr="C:\Users\user\AppData\Local\Temp\deckcrops-ko\audit-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860" y="1371600"/>
            <a:ext cx="3526240" cy="23774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2900" y="3822192"/>
            <a:ext cx="352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8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사용자: 조직, 역할, 접근 그룹을 사용자마다 한 번 설정하면 토큰이 그대로 이어받음</a:t>
            </a:r>
            <a:endParaRPr lang="ko-KR" alt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4934860" y="3822192"/>
            <a:ext cx="352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8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로그: 누가, 어떤 도구를, 어떤 인자로 호출했는지와 결과, 모든 거부의 사유</a:t>
            </a:r>
            <a:endParaRPr lang="ko-KR" alt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411480" y="4160520"/>
            <a:ext cx="8321040" cy="50292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94360" y="42062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페이지에는 어시스턴트가 접속하며 거친 모든 단계의 로그인 로그, 제품 인증 정보 교체, 그룹 정책 기준으로 점수를 매긴 점검표도 있습니다.</a:t>
            </a:r>
            <a:endParaRPr lang="ko-KR" altLang="en-US" sz="850" dirty="0"/>
          </a:p>
        </p:txBody>
      </p:sp>
      <p:sp>
        <p:nvSpPr>
          <p:cNvPr id="13" name="Text 9"/>
          <p:cNvSpPr txBox="1"/>
          <p:nvPr/>
        </p:nvSpPr>
        <p:spPr>
          <a:xfrm>
            <a:off x="41148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기반 AI 게이트웨이  ·  웹케시그룹 × 충북대학교 AI융합연구실</a:t>
            </a:r>
            <a:endParaRPr lang="ko-KR" alt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8321040" y="4800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r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ko-KR" alt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유스케이스</a:t>
            </a:r>
            <a:endParaRPr lang="ko-KR" alt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657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4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유스케이스: 도메인 패키지와 고객의 요청</a:t>
            </a:r>
            <a:endParaRPr lang="ko-KR" alt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046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1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패키지는 함께 활성화되는 제품 묶음이며, 모두 같은 레지스트리와 통제 모델로 제공됩니다.</a:t>
            </a:r>
            <a:endParaRPr lang="ko-KR" alt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83210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3474720"/>
                <a:gridCol w="1371600"/>
              </a:tblGrid>
              <a:tr h="292608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패키지</a:t>
                      </a:r>
                      <a:endParaRPr lang="ko-KR" alt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</a:t>
                      </a:r>
                      <a:endParaRPr lang="ko-KR" alt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고객의 요청</a:t>
                      </a:r>
                      <a:endParaRPr lang="ko-KR" alt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통제 등급</a:t>
                      </a:r>
                      <a:endParaRPr lang="ko-KR" alt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830" dirty="0">
                          <a:solidFill>
                            <a:srgbClr val="4A55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경비 · 협업</a:t>
                      </a:r>
                      <a:endParaRPr lang="ko-KR" alt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830" dirty="0">
                          <a:solidFill>
                            <a:srgbClr val="4A55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비즈플레이 · 쿠콘 · 플로우</a:t>
                      </a:r>
                      <a:endParaRPr lang="ko-KR" alt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830" dirty="0">
                          <a:solidFill>
                            <a:srgbClr val="4A55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“이번 달 영수증이 누락된 건을 찾아 지급처를 확인하고, 담당 팀에 조치를 요청해 줘.”</a:t>
                      </a:r>
                      <a:endParaRPr lang="ko-KR" alt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830" dirty="0">
                          <a:solidFill>
                            <a:srgbClr val="4A55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· 작성</a:t>
                      </a:r>
                      <a:endParaRPr lang="ko-KR" alt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830" dirty="0">
                          <a:solidFill>
                            <a:srgbClr val="4A55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중소기업 경영관리</a:t>
                      </a:r>
                      <a:endParaRPr lang="ko-KR" alt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830" dirty="0">
                          <a:solidFill>
                            <a:srgbClr val="4A55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경리나라 · 쿠콘</a:t>
                      </a:r>
                      <a:endParaRPr lang="ko-KR" alt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830" dirty="0">
                          <a:solidFill>
                            <a:srgbClr val="4A55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“이번 달 매출과 미수금, 이번 주에 만기가 되는 건을 요약해 줘.”</a:t>
                      </a:r>
                      <a:endParaRPr lang="ko-KR" alt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830" dirty="0">
                          <a:solidFill>
                            <a:srgbClr val="4A55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· 작성</a:t>
                      </a:r>
                      <a:endParaRPr lang="ko-KR" alt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830" dirty="0">
                          <a:solidFill>
                            <a:srgbClr val="4A55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기업 자금관리</a:t>
                      </a:r>
                      <a:endParaRPr lang="ko-KR" alt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830" dirty="0">
                          <a:solidFill>
                            <a:srgbClr val="4A55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브랜치Q · 인하우스뱅크Q · 대시보드</a:t>
                      </a:r>
                      <a:endParaRPr lang="ko-KR" alt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830" dirty="0">
                          <a:solidFill>
                            <a:srgbClr val="4A55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“오늘 아침 기준 전체 계좌의 자금 현황을 보여 주고, 결재가 필요한 이체 건을 준비해 줘.”</a:t>
                      </a:r>
                      <a:endParaRPr lang="ko-KR" alt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830" dirty="0">
                          <a:solidFill>
                            <a:srgbClr val="4A55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· 결재선</a:t>
                      </a:r>
                      <a:endParaRPr lang="ko-KR" alt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830" dirty="0">
                          <a:solidFill>
                            <a:srgbClr val="4A55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연구비 관리</a:t>
                      </a:r>
                      <a:endParaRPr lang="ko-KR" alt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830" dirty="0">
                          <a:solidFill>
                            <a:srgbClr val="4A55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rERP Q · RCMS</a:t>
                      </a:r>
                      <a:endParaRPr lang="ko-KR" alt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830" dirty="0">
                          <a:solidFill>
                            <a:srgbClr val="4A55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“이 연구비 집행 건을 제출하기 전에 규정에 맞는지 확인해 줘.”</a:t>
                      </a:r>
                      <a:endParaRPr lang="ko-KR" alt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 indent="0" marL="0">
                        <a:buNone/>
                      </a:pPr>
                      <a:r>
                        <a:rPr lang="ko-KR" altLang="en-US" sz="830" dirty="0">
                          <a:solidFill>
                            <a:srgbClr val="4A55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· 작성 · 규정 검사</a:t>
                      </a:r>
                      <a:endParaRPr lang="ko-KR" alt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11480" y="4297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 등급은 패키지마다 적용되는 통제 모델입니다. 고객이 자유롭게 조회하는 것, 확인 후 처리하는 것, 결재선 안에 남는 것을 구분합니다.</a:t>
            </a:r>
            <a:endParaRPr lang="ko-KR" alt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기반 AI 게이트웨이  ·  웹케시그룹 × 충북대학교 AI융합연구실</a:t>
            </a:r>
            <a:endParaRPr lang="ko-KR" alt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4800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r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ko-KR" alt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범위</a:t>
            </a:r>
            <a:endParaRPr lang="ko-KR" alt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657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4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범위: 세 단계의 연결 범위</a:t>
            </a:r>
            <a:endParaRPr lang="ko-KR" alt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046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1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레지스트리와 하나의 통제 모델이 세 범위를 모두 지원합니다. 범위가 넓어져도 새로운 방식의 연동은 필요 없고 유스케이스만 늘어납니다.</a:t>
            </a:r>
            <a:endParaRPr lang="ko-KR" alt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761488"/>
            <a:ext cx="2286000" cy="9144"/>
          </a:xfrm>
          <a:prstGeom prst="rect">
            <a:avLst/>
          </a:prstGeom>
          <a:solidFill>
            <a:srgbClr val="D9E0EA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8346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유스케이스</a:t>
            </a:r>
            <a:endParaRPr lang="ko-KR" alt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3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제품</a:t>
            </a:r>
            <a:endParaRPr lang="ko-KR" alt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01168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비즈플레이, 쿠콘, 플로우, 경리나라, 브랜치Q, 인하우스뱅크Q, rERP Q. 도메인 패키지를 고객별로 활성화합니다.</a:t>
            </a:r>
            <a:endParaRPr lang="ko-KR" alt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0175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“이번 달 비즈플레이 법인카드 사용 내역을 경리나라 장부와 대조해서 아직 전표 처리되지 않은 건을 정리해 줘.”</a:t>
            </a:r>
            <a:endParaRPr lang="ko-KR" alt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090672" y="2212848"/>
            <a:ext cx="128016" cy="219456"/>
          </a:xfrm>
          <a:prstGeom prst="rightArrow">
            <a:avLst/>
          </a:prstGeom>
          <a:solidFill>
            <a:srgbClr val="7A8593"/>
          </a:solidFill>
          <a:ln w="12700">
            <a:solidFill>
              <a:srgbClr val="7A85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325880"/>
            <a:ext cx="265176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2761488"/>
            <a:ext cx="2286000" cy="9144"/>
          </a:xfrm>
          <a:prstGeom prst="rect">
            <a:avLst/>
          </a:prstGeom>
          <a:solidFill>
            <a:srgbClr val="D9E0EA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28346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00" b="1" spc="100" kern="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유스케이스</a:t>
            </a:r>
            <a:endParaRPr lang="ko-KR" alt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429000" y="150876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2900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3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 SaaS</a:t>
            </a:r>
            <a:endParaRPr lang="ko-KR" alt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201168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ERP, 인사, 그룹웨어, 세무 등. 같은 레지스트리에 등록되고 같은 정책으로 통제되므로 고객의 업무 흐름 전체가 한곳에서 완결됩니다.</a:t>
            </a:r>
            <a:endParaRPr lang="ko-KR" alt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30175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“월 마감을 해 줘. 인사 시스템에서 급여를 가져와 은행 거래 내역과 대조하고 세무 신고 초안을 만들어 줘.”</a:t>
            </a:r>
            <a:endParaRPr lang="ko-KR" alt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925312" y="2212848"/>
            <a:ext cx="128016" cy="219456"/>
          </a:xfrm>
          <a:prstGeom prst="rightArrow">
            <a:avLst/>
          </a:prstGeom>
          <a:solidFill>
            <a:srgbClr val="7A8593"/>
          </a:solidFill>
          <a:ln w="12700">
            <a:solidFill>
              <a:srgbClr val="7A85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1325880"/>
            <a:ext cx="265176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2761488"/>
            <a:ext cx="2286000" cy="9144"/>
          </a:xfrm>
          <a:prstGeom prst="rect">
            <a:avLst/>
          </a:prstGeom>
          <a:solidFill>
            <a:srgbClr val="D9E0EA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3640" y="28346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00" b="1" spc="100" kern="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유스케이스</a:t>
            </a:r>
            <a:endParaRPr lang="ko-KR" alt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263640" y="1508760"/>
            <a:ext cx="384048" cy="38404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636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ctr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3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자체 API</a:t>
            </a:r>
            <a:endParaRPr lang="ko-KR" alt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263640" y="201168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고객의 사내 시스템이 그룹 제품과 나란히 등록됩니다. 게이트웨이가 고객의 AI 연동 계층이 됩니다.</a:t>
            </a:r>
            <a:endParaRPr lang="ko-KR" alt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30175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“우리 주문 시스템과 이번 주에 들어온 정산 내역을 비교해서 미입금 건을 정리해 줘.”</a:t>
            </a:r>
            <a:endParaRPr lang="ko-KR" alt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11480" y="3794760"/>
            <a:ext cx="8321040" cy="868680"/>
          </a:xfrm>
          <a:prstGeom prst="roundRect">
            <a:avLst>
              <a:gd name="adj" fmla="val 6316"/>
            </a:avLst>
          </a:prstGeom>
          <a:solidFill>
            <a:srgbClr val="F5F7FA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" y="38679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생태계의 조건</a:t>
            </a:r>
            <a:endParaRPr lang="ko-KR" alt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40690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레지스트리는 제3자에게 열려 있습니다. 파트너는 제품을 등록해서, 고객은 자체 시스템을 등록해서 가치를 더합니다. 생태계는 웹케시가 모든 것을 직접 연결할 때가 아니라 다른 참여자가 통제 계층 위에 쌓아 올릴 때 만들어집니다. 그룹의 자산은 모든 연결이 물려받는 신원, 정책, 감사의 통제 계층입니다.</a:t>
            </a:r>
            <a:endParaRPr lang="ko-KR" alt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41148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기반 AI 게이트웨이  ·  웹케시그룹 × 충북대학교 AI융합연구실</a:t>
            </a:r>
            <a:endParaRPr lang="ko-KR" alt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8321040" y="4800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r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ko-KR" alt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실현 가능성</a:t>
            </a:r>
            <a:endParaRPr lang="ko-KR" alt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657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4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제안한 접근이 실현 가능한 이유</a:t>
            </a:r>
            <a:endParaRPr lang="ko-KR" alt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046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1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설계 선택이 제안의 비용과 위험을 낮춥니다.</a:t>
            </a:r>
            <a:endParaRPr lang="ko-KR" alt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08760"/>
            <a:ext cx="402336" cy="40233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609344"/>
            <a:ext cx="201168" cy="2011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24712" y="15087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2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수정 없음</a:t>
            </a:r>
            <a:endParaRPr lang="ko-KR" alt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057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제품은 이미 가진 API 명세를 등록하는 것만으로 참여합니다. 비즈플레이, 쿠콘, 플로우 등 제품 팀의 개발이 필요 없으므로 로드맵 조율 없이 패키지를 하나씩 추가할 수 있습니다.</a:t>
            </a:r>
            <a:endParaRPr lang="ko-KR" alt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94360" y="3218688"/>
            <a:ext cx="2286000" cy="9144"/>
          </a:xfrm>
          <a:prstGeom prst="rect">
            <a:avLst/>
          </a:prstGeom>
          <a:solidFill>
            <a:srgbClr val="D9E0EA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32735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제품당 필요한 작업: 등록과 정책 검토</a:t>
            </a:r>
            <a:endParaRPr lang="ko-KR" alt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46120" y="1325880"/>
            <a:ext cx="265176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29000" y="1508760"/>
            <a:ext cx="402336" cy="402336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1609344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959352" y="15087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2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개방형 표준 기반</a:t>
            </a:r>
            <a:endParaRPr lang="ko-KR" alt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429000" y="2057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도구는 MCP(Model Context Protocol)로, 로그인은 OAuth 2.1로 제공합니다. Claude, ChatGPT, Copilot이 이미 둘 다 지원하므로 특정 AI 벤더에 종속되지 않고 전용 클라이언트도 필요 없습니다.</a:t>
            </a:r>
            <a:endParaRPr lang="ko-KR" alt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429000" y="3218688"/>
            <a:ext cx="2286000" cy="9144"/>
          </a:xfrm>
          <a:prstGeom prst="rect">
            <a:avLst/>
          </a:prstGeom>
          <a:solidFill>
            <a:srgbClr val="D9E0EA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429000" y="32735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연동으로 모든 어시스턴트 지원</a:t>
            </a:r>
            <a:endParaRPr lang="ko-KR" alt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6080760" y="1325880"/>
            <a:ext cx="265176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63640" y="1508760"/>
            <a:ext cx="402336" cy="40233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609344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793992" y="15087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200" b="1" dirty="0">
                <a:solidFill>
                  <a:srgbClr val="1C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통제 활용</a:t>
            </a:r>
            <a:endParaRPr lang="ko-KR" alt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263640" y="2057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indent="0" marL="0">
              <a:buNone/>
            </a:pPr>
            <a:r>
              <a:rPr lang="ko-KR" alt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제품의 권한, 인증 정보, 결재선은 그대로 유지됩니다. 게이트웨이는 그 위에 빠져 있던 것을 더합니다. 누가 요청하는지, 무엇을 할 수 있는지, 그리고 그 기록입니다. 지급은 결재를 우회하지 않습니다.</a:t>
            </a:r>
            <a:endParaRPr lang="ko-KR" alt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6263640" y="3218688"/>
            <a:ext cx="2286000" cy="9144"/>
          </a:xfrm>
          <a:prstGeom prst="rect">
            <a:avLst/>
          </a:prstGeom>
          <a:solidFill>
            <a:srgbClr val="D9E0EA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263640" y="32735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통제를 우회하는 새 경로 없음</a:t>
            </a:r>
            <a:endParaRPr lang="ko-KR" alt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411480" y="3858768"/>
            <a:ext cx="8321040" cy="804672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594360" y="3931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연구실 프로토타입으로 확인</a:t>
            </a:r>
            <a:endParaRPr lang="ko-KR" alt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AI융합연구실과 함께 만든 프로토타입에서 제품 4개와 어시스턴트 2개로 세 가지 선택을 모두 확인했습니다. 남은 위험은 그룹 통합 로그인(SSO), 결재선 연동, 운영 규모에서의 동작, 실제 고객 부서 검증입니다. 다음 장의 제안 과제가 이를 다룹니다.</a:t>
            </a:r>
            <a:endParaRPr lang="ko-KR" altLang="en-US" sz="850" dirty="0"/>
          </a:p>
        </p:txBody>
      </p:sp>
      <p:sp>
        <p:nvSpPr>
          <p:cNvPr id="29" name="Text 24"/>
          <p:cNvSpPr txBox="1"/>
          <p:nvPr/>
        </p:nvSpPr>
        <p:spPr>
          <a:xfrm>
            <a:off x="41148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기반 AI 게이트웨이  ·  웹케시그룹 × 충북대학교 AI융합연구실</a:t>
            </a:r>
            <a:endParaRPr lang="ko-KR" altLang="en-US" sz="750" dirty="0"/>
          </a:p>
        </p:txBody>
      </p:sp>
      <p:sp>
        <p:nvSpPr>
          <p:cNvPr id="30" name="Text 25"/>
          <p:cNvSpPr txBox="1"/>
          <p:nvPr/>
        </p:nvSpPr>
        <p:spPr>
          <a:xfrm>
            <a:off x="8321040" y="4800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r" indent="0" marL="0">
              <a:buNone/>
            </a:pPr>
            <a:r>
              <a:rPr lang="ko-KR" altLang="en-US" sz="750" dirty="0">
                <a:solidFill>
                  <a:srgbClr val="7A85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ko-KR" alt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9DC3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과제</a:t>
            </a:r>
            <a:endParaRPr lang="ko-KR" alt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657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과제: 세 개의 트랙</a:t>
            </a:r>
            <a:endParaRPr lang="ko-KR" alt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100" dirty="0">
                <a:solidFill>
                  <a:srgbClr val="CDE7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플랫폼, 패키지, 연구를 병행하며, 트랙마다 종료 시점에 측정 가능한 결과를 냅니다.</a:t>
            </a:r>
            <a:endParaRPr lang="ko-KR" alt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2651760" cy="2514600"/>
          </a:xfrm>
          <a:prstGeom prst="roundRect">
            <a:avLst>
              <a:gd name="adj" fmla="val 2182"/>
            </a:avLst>
          </a:prstGeom>
          <a:solidFill>
            <a:srgbClr val="1F2F55"/>
          </a:solidFill>
          <a:ln w="9525">
            <a:solidFill>
              <a:srgbClr val="2F4A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63040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559052"/>
            <a:ext cx="192024" cy="1920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1463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</a:t>
            </a:r>
            <a:endParaRPr lang="ko-KR" alt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96596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850" dirty="0">
                <a:solidFill>
                  <a:srgbClr val="DCE6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SSO(OIDC)와 로그인 연동</a:t>
            </a:r>
            <a:endParaRPr lang="ko-KR" altLang="en-US" sz="850" dirty="0"/>
          </a:p>
          <a:p>
            <a:pPr latinLnBrk="0"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850" dirty="0">
                <a:solidFill>
                  <a:srgbClr val="DCE6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 정보는 볼트에, 상태는 데이터베이스에 저장</a:t>
            </a:r>
            <a:endParaRPr lang="ko-KR" altLang="en-US" sz="850" dirty="0"/>
          </a:p>
          <a:p>
            <a:pPr latinLnBrk="0"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850" dirty="0">
                <a:solidFill>
                  <a:srgbClr val="DCE6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제품별 격리와 사용량 할당</a:t>
            </a:r>
            <a:endParaRPr lang="ko-KR" altLang="en-US" sz="850" dirty="0"/>
          </a:p>
          <a:p>
            <a:pPr latinLnBrk="0"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850" dirty="0">
                <a:solidFill>
                  <a:srgbClr val="DCE6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고객별·제품별 호출 제한</a:t>
            </a:r>
            <a:endParaRPr lang="ko-KR" altLang="en-US" sz="850" dirty="0"/>
          </a:p>
          <a:p>
            <a:pPr latinLnBrk="0"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850" dirty="0">
                <a:solidFill>
                  <a:srgbClr val="DCE6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대시보드와 알림</a:t>
            </a:r>
            <a:endParaRPr lang="ko-KR" alt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46120" y="1280160"/>
            <a:ext cx="2651760" cy="2514600"/>
          </a:xfrm>
          <a:prstGeom prst="roundRect">
            <a:avLst>
              <a:gd name="adj" fmla="val 2182"/>
            </a:avLst>
          </a:prstGeom>
          <a:solidFill>
            <a:srgbClr val="1F2F55"/>
          </a:solidFill>
          <a:ln w="9525">
            <a:solidFill>
              <a:srgbClr val="2F4A8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29000" y="1463040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012" y="1559052"/>
            <a:ext cx="192024" cy="19202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931920" y="1463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</a:t>
            </a:r>
            <a:endParaRPr lang="ko-KR" alt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196596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850" dirty="0">
                <a:solidFill>
                  <a:srgbClr val="DCE6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중소기업 경영관리: 경리나라, 쿠콘</a:t>
            </a:r>
            <a:endParaRPr lang="ko-KR" altLang="en-US" sz="850" dirty="0"/>
          </a:p>
          <a:p>
            <a:pPr latinLnBrk="0"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850" dirty="0">
                <a:solidFill>
                  <a:srgbClr val="DCE6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자금관리: 브랜치Q, 인하우스뱅크Q, 대시보드 (결재선 연동 포함)</a:t>
            </a:r>
            <a:endParaRPr lang="ko-KR" altLang="en-US" sz="850" dirty="0"/>
          </a:p>
          <a:p>
            <a:pPr latinLnBrk="0"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850" dirty="0">
                <a:solidFill>
                  <a:srgbClr val="DCE6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연구비 관리: rERP Q, RCMS (규정 기반 통제)</a:t>
            </a:r>
            <a:endParaRPr lang="ko-KR" altLang="en-US" sz="850" dirty="0"/>
          </a:p>
          <a:p>
            <a:pPr latinLnBrk="0"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850" dirty="0">
                <a:solidFill>
                  <a:srgbClr val="DCE6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 파트너 SaaS를 레지스트리에 등록</a:t>
            </a:r>
            <a:endParaRPr lang="ko-KR" alt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6080760" y="1280160"/>
            <a:ext cx="2651760" cy="2514600"/>
          </a:xfrm>
          <a:prstGeom prst="roundRect">
            <a:avLst>
              <a:gd name="adj" fmla="val 2182"/>
            </a:avLst>
          </a:prstGeom>
          <a:solidFill>
            <a:srgbClr val="1F2F55"/>
          </a:solidFill>
          <a:ln w="9525">
            <a:solidFill>
              <a:srgbClr val="2F4A8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63640" y="1463040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652" y="1559052"/>
            <a:ext cx="192024" cy="19202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766560" y="1463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· 평가</a:t>
            </a:r>
            <a:endParaRPr lang="ko-KR" alt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263640" y="196596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850" dirty="0">
                <a:solidFill>
                  <a:srgbClr val="DCE6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100개를 넘을 때의 도구 선택 정확도: 설명 정제 방식과 검색 방식 비교</a:t>
            </a:r>
            <a:endParaRPr lang="ko-KR" altLang="en-US" sz="850" dirty="0"/>
          </a:p>
          <a:p>
            <a:pPr latinLnBrk="0"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850" dirty="0">
                <a:solidFill>
                  <a:srgbClr val="DCE6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강제에 그치지 않고 검증할 수 있는 정책</a:t>
            </a:r>
            <a:endParaRPr lang="ko-KR" altLang="en-US" sz="850" dirty="0"/>
          </a:p>
          <a:p>
            <a:pPr latinLnBrk="0"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850" dirty="0">
                <a:solidFill>
                  <a:srgbClr val="DCE6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제품을 잇는 작업의 비용과 지연 시간</a:t>
            </a:r>
            <a:endParaRPr lang="ko-KR" altLang="en-US" sz="850" dirty="0"/>
          </a:p>
          <a:p>
            <a:pPr latinLnBrk="0"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850" dirty="0">
                <a:solidFill>
                  <a:srgbClr val="DCE6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부서 한 곳과 시범 운영: 업무당 절감 시간, 거부율과 오류율</a:t>
            </a:r>
            <a:endParaRPr lang="ko-KR" alt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411480" y="3977640"/>
            <a:ext cx="8321040" cy="6858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94360" y="405079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800" b="1" spc="100" kern="0" dirty="0">
                <a:solidFill>
                  <a:srgbClr val="CDE7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종료 시점의 측정 항목</a:t>
            </a:r>
            <a:endParaRPr lang="ko-KR" alt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594360" y="42336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중인 패키지</a:t>
            </a:r>
            <a:endParaRPr lang="ko-KR" altLang="en-US" sz="950" dirty="0"/>
          </a:p>
        </p:txBody>
      </p:sp>
      <p:sp>
        <p:nvSpPr>
          <p:cNvPr id="23" name="Text 18"/>
          <p:cNvSpPr txBox="1"/>
          <p:nvPr/>
        </p:nvSpPr>
        <p:spPr>
          <a:xfrm>
            <a:off x="594360" y="44256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50" dirty="0">
                <a:solidFill>
                  <a:srgbClr val="CDE7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도입한 고객 수 포함</a:t>
            </a:r>
            <a:endParaRPr lang="ko-KR" altLang="en-US" sz="750" dirty="0"/>
          </a:p>
        </p:txBody>
      </p:sp>
      <p:sp>
        <p:nvSpPr>
          <p:cNvPr id="24" name="Text 19"/>
          <p:cNvSpPr txBox="1"/>
          <p:nvPr/>
        </p:nvSpPr>
        <p:spPr>
          <a:xfrm>
            <a:off x="2651760" y="42336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절감 시간</a:t>
            </a:r>
            <a:endParaRPr lang="ko-KR" alt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2651760" y="44256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50" dirty="0">
                <a:solidFill>
                  <a:srgbClr val="CDE7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업무별, 부서별</a:t>
            </a:r>
            <a:endParaRPr lang="ko-KR" altLang="en-US" sz="750" dirty="0"/>
          </a:p>
        </p:txBody>
      </p:sp>
      <p:sp>
        <p:nvSpPr>
          <p:cNvPr id="26" name="Text 21"/>
          <p:cNvSpPr txBox="1"/>
          <p:nvPr/>
        </p:nvSpPr>
        <p:spPr>
          <a:xfrm>
            <a:off x="4709160" y="42336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거부와 오류</a:t>
            </a:r>
            <a:endParaRPr lang="ko-KR" altLang="en-US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4709160" y="44256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50" dirty="0">
                <a:solidFill>
                  <a:srgbClr val="CDE7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로그 기준 비율</a:t>
            </a:r>
            <a:endParaRPr lang="ko-KR" altLang="en-US" sz="750" dirty="0"/>
          </a:p>
        </p:txBody>
      </p:sp>
      <p:sp>
        <p:nvSpPr>
          <p:cNvPr id="28" name="Text 23"/>
          <p:cNvSpPr txBox="1"/>
          <p:nvPr/>
        </p:nvSpPr>
        <p:spPr>
          <a:xfrm>
            <a:off x="6766560" y="42336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선택</a:t>
            </a:r>
            <a:endParaRPr lang="ko-KR" altLang="en-US" sz="950" dirty="0"/>
          </a:p>
        </p:txBody>
      </p:sp>
      <p:sp>
        <p:nvSpPr>
          <p:cNvPr id="29" name="Text 24"/>
          <p:cNvSpPr txBox="1"/>
          <p:nvPr/>
        </p:nvSpPr>
        <p:spPr>
          <a:xfrm>
            <a:off x="6766560" y="44256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50" dirty="0">
                <a:solidFill>
                  <a:srgbClr val="CDE7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100개 이상에서의 정확도</a:t>
            </a:r>
            <a:endParaRPr lang="ko-KR" altLang="en-US" sz="750" dirty="0"/>
          </a:p>
        </p:txBody>
      </p:sp>
      <p:sp>
        <p:nvSpPr>
          <p:cNvPr id="30" name="Text 25"/>
          <p:cNvSpPr txBox="1"/>
          <p:nvPr/>
        </p:nvSpPr>
        <p:spPr>
          <a:xfrm>
            <a:off x="41148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750" dirty="0">
                <a:solidFill>
                  <a:srgbClr val="9DC3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기반 AI 게이트웨이  ·  웹케시그룹 × 충북대학교 AI융합연구실</a:t>
            </a:r>
            <a:endParaRPr lang="ko-KR" altLang="en-US" sz="750" dirty="0"/>
          </a:p>
        </p:txBody>
      </p:sp>
      <p:sp>
        <p:nvSpPr>
          <p:cNvPr id="31" name="Text 26"/>
          <p:cNvSpPr txBox="1"/>
          <p:nvPr/>
        </p:nvSpPr>
        <p:spPr>
          <a:xfrm>
            <a:off x="8321040" y="4800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algn="r" indent="0" marL="0">
              <a:buNone/>
            </a:pPr>
            <a:r>
              <a:rPr lang="ko-KR" altLang="en-US" sz="750" dirty="0">
                <a:solidFill>
                  <a:srgbClr val="9DC3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ko-KR" alt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lnSpc>
                <a:spcPct val="115000"/>
              </a:lnSpc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고객은 쓰던 어시스턴트를 그대로 씁니다.</a:t>
            </a:r>
            <a:endParaRPr lang="ko-KR" altLang="en-US" sz="2600" dirty="0"/>
          </a:p>
          <a:p>
            <a:pPr latinLnBrk="0" indent="0" marL="0">
              <a:lnSpc>
                <a:spcPct val="115000"/>
              </a:lnSpc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제품은 API를 그대로 유지합니다.</a:t>
            </a:r>
            <a:endParaRPr lang="ko-KR" altLang="en-US" sz="2600" dirty="0"/>
          </a:p>
          <a:p>
            <a:pPr latinLnBrk="0" indent="0" marL="0">
              <a:lnSpc>
                <a:spcPct val="115000"/>
              </a:lnSpc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통제는 그룹이 가집니다.</a:t>
            </a:r>
            <a:endParaRPr lang="ko-KR" alt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1300" dirty="0">
                <a:solidFill>
                  <a:srgbClr val="CDE7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레지스트리, 한 번의 로그인, 하나의 감사 기록으로 웹케시그룹의 모든 제품을, 나아가 파트너와 고객의 시스템까지 연결합니다.</a:t>
            </a:r>
            <a:endParaRPr lang="ko-KR" alt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 indent="0" marL="0">
              <a:buNone/>
            </a:pPr>
            <a:r>
              <a:rPr lang="ko-KR" altLang="en-US" sz="900" dirty="0">
                <a:solidFill>
                  <a:srgbClr val="9DC3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프로토타입: mcp-portal.aiconvergencelab.com   ·   코드: github.com/Chansokheang/MCP_Server_Portal</a:t>
            </a:r>
            <a:endParaRPr lang="ko-KR" alt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기반 AI 게이트웨이</dc:title>
  <dc:subject>PptxGenJS Presentation</dc:subject>
  <dc:creator>웹케시그룹 × 충북대학교 AI융합연구실</dc:creator>
  <cp:lastModifiedBy>웹케시그룹 × 충북대학교 AI융합연구실</cp:lastModifiedBy>
  <cp:revision>1</cp:revision>
  <dcterms:created xsi:type="dcterms:W3CDTF">2026-09-17T06:03:34Z</dcterms:created>
  <dcterms:modified xsi:type="dcterms:W3CDTF">2026-09-17T06:03:34Z</dcterms:modified>
</cp:coreProperties>
</file>