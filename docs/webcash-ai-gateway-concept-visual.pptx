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 on the right is the running portal, not a mock-up. Everything in this deck is either live or clearly marked as proposed.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level: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customer's entire onboarding. The screenshot is the real page a Claude connector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that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screenshot is the real registration dialog. In the pilot, COOCON went from spec to a working MCP server in under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page of COOCON in the live portal. Point at the four addresses it is served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is highlighted because it is the differentiator: the product receives its own credential, brokered per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side: one OAuth sign-in against the gateway. Product side: four ways the gateway gets in, chosen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WC_Group gateway page in the live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live pages: the user directory and the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Feasibility, not a product tour. Say what is shown and, just as plainly, what is not: that gap is the proposal.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proposed work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37176" y="1349756"/>
            <a:ext cx="4133088" cy="2512568"/>
          </a:xfrm>
          <a:prstGeom prst="roundRect">
            <a:avLst>
              <a:gd name="adj" fmla="val 2184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7" name="Image 0" descr="C:\Users\user\AppData\Local\Temp\deckcrops\over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404620"/>
            <a:ext cx="4023360" cy="2402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customer sees: one sign-in, then nothing new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screen the gateway ever shows a customer. After it, every product is just a tool inside their assistant.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157526" y="1225296"/>
            <a:ext cx="3172349" cy="3493008"/>
          </a:xfrm>
          <a:prstGeom prst="roundRect">
            <a:avLst>
              <a:gd name="adj" fmla="val 172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authoriz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390" y="1280160"/>
            <a:ext cx="306262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32588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0" y="1307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adds the gateway to their assistant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15819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claude.ai or ChatGPT: paste one address. The assistant discovers the gateway's sign-in on its own; no client ids, no tokens.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2148840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40280"/>
            <a:ext cx="182880" cy="182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440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sign-in page opens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24048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names the assistant and the gateway asking. The customer signs in with their company account. Admin accounts are refused: an assistant acts as a person.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411480" y="297180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0632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" y="2953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then on, the assistant carries a token bound to that person</a:t>
            </a:r>
            <a:endParaRPr lang="en-US" sz="1050" dirty="0"/>
          </a:p>
        </p:txBody>
      </p:sp>
      <p:sp>
        <p:nvSpPr>
          <p:cNvPr id="18" name="Text 12"/>
          <p:cNvSpPr txBox="1"/>
          <p:nvPr/>
        </p:nvSpPr>
        <p:spPr>
          <a:xfrm>
            <a:off x="914400" y="322783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Short-lived, refreshed automatically, revocable on one page. Every call it makes is limited to the customer's organization and recorded.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411480" y="379476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886200"/>
            <a:ext cx="182880" cy="1828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4400" y="3776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</a:t>
            </a:r>
            <a:endParaRPr lang="en-US" sz="1050" dirty="0"/>
          </a:p>
        </p:txBody>
      </p:sp>
      <p:sp>
        <p:nvSpPr>
          <p:cNvPr id="22" name="Text 15"/>
          <p:cNvSpPr txBox="1"/>
          <p:nvPr/>
        </p:nvSpPr>
        <p:spPr>
          <a:xfrm>
            <a:off x="914400" y="40507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own screens for everything else; the assistant becomes one more place to get work done.</a:t>
            </a:r>
            <a:endParaRPr lang="en-US" sz="800" dirty="0"/>
          </a:p>
        </p:txBody>
      </p:sp>
      <p:sp>
        <p:nvSpPr>
          <p:cNvPr id="23" name="Text 16"/>
          <p:cNvSpPr txBox="1"/>
          <p:nvPr/>
        </p:nvSpPr>
        <p:spPr>
          <a:xfrm>
            <a:off x="5212390" y="4736592"/>
            <a:ext cx="30626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sign-in page of the gateway</a:t>
            </a:r>
            <a:endParaRPr lang="en-US" sz="750" dirty="0"/>
          </a:p>
        </p:txBody>
      </p:sp>
      <p:sp>
        <p:nvSpPr>
          <p:cNvPr id="24" name="Text 17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18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REGISTER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Registering a product is a form, not a project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turns an API description into tools. No code is written for the product, and it is never modified.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1209" y="1225296"/>
            <a:ext cx="2972461" cy="3310128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register-dialog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073" y="1280160"/>
            <a:ext cx="2862733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47488" y="137160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spec, or point at an MCP server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47488" y="1618488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 API's OpenAPI document, or the address of a product that already speaks MCP.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6344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47488" y="2084832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how the product is protected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47488" y="233172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per user, a login endpoint with username and password, a service token, or open. The gateway does the rest at call time.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6344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6344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279806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 immediately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047488" y="3044952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operation. Lookups start on; anything that changes data starts off until an admin enables it.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66344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047488" y="351129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Describe, classify, activate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47488" y="3758184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tool, mark its risk, choose which customers and roles see it. Live on the next request.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946073" y="4553712"/>
            <a:ext cx="28627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dialog of the live portal, login-endpoint mode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MANAGE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product, as the group sees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per product: how it is reached, which tools are on, where it is served, who has connected.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07880" y="1225296"/>
            <a:ext cx="5127839" cy="3493008"/>
          </a:xfrm>
          <a:prstGeom prst="roundRect">
            <a:avLst>
              <a:gd name="adj" fmla="val 1571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provider-coocon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744" y="1280160"/>
            <a:ext cx="5018111" cy="3383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72162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72162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78320" y="1956816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78320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13650" y="331012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65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778320" y="4392778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78320" y="43927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on, out of tools generated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of 10: two write operations stay off until enabled with confirmation.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on four addresses at once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product, exposed four ways from one process.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address is a way to expose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catalogue, two customer packages, and the product's own MCP server. Publishing to one is a routing change, not a release.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the gateway performs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product has a username-and-password login; the gateway signs in per customer, caches the token and re-signs on expiry.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· SERVE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on every single call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checks between the assistant and the product, on every request, in this order.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70078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Identify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2120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30" dirty="0"/>
          </a:p>
        </p:txBody>
      </p:sp>
      <p:sp>
        <p:nvSpPr>
          <p:cNvPr id="10" name="Shape 7"/>
          <p:cNvSpPr/>
          <p:nvPr/>
        </p:nvSpPr>
        <p:spPr>
          <a:xfrm>
            <a:off x="1719072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10512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67712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296" y="1700784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901952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30" dirty="0"/>
          </a:p>
        </p:txBody>
      </p:sp>
      <p:sp>
        <p:nvSpPr>
          <p:cNvPr id="16" name="Shape 12"/>
          <p:cNvSpPr/>
          <p:nvPr/>
        </p:nvSpPr>
        <p:spPr>
          <a:xfrm>
            <a:off x="3118104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209544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666744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1700784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300984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Scope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3319272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refused. The organization comes from the token, not the prompt.</a:t>
            </a:r>
            <a:endParaRPr lang="en-US" sz="730" dirty="0"/>
          </a:p>
        </p:txBody>
      </p:sp>
      <p:sp>
        <p:nvSpPr>
          <p:cNvPr id="22" name="Shape 17"/>
          <p:cNvSpPr/>
          <p:nvPr/>
        </p:nvSpPr>
        <p:spPr>
          <a:xfrm>
            <a:off x="4517136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608576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065776" y="1600200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70078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700016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Broker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4718304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gets its own credential for this customer. The assistant's token never reaches it.</a:t>
            </a:r>
            <a:endParaRPr lang="en-US" sz="730" dirty="0"/>
          </a:p>
        </p:txBody>
      </p:sp>
      <p:sp>
        <p:nvSpPr>
          <p:cNvPr id="28" name="Shape 22"/>
          <p:cNvSpPr/>
          <p:nvPr/>
        </p:nvSpPr>
        <p:spPr>
          <a:xfrm>
            <a:off x="5916168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007608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464808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5392" y="1700784"/>
            <a:ext cx="201168" cy="20116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6099048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Call and filter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6117336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answers. Rows for other organizations are removed before the assistant sees them.</a:t>
            </a:r>
            <a:endParaRPr lang="en-US" sz="730" dirty="0"/>
          </a:p>
        </p:txBody>
      </p:sp>
      <p:sp>
        <p:nvSpPr>
          <p:cNvPr id="34" name="Shape 27"/>
          <p:cNvSpPr/>
          <p:nvPr/>
        </p:nvSpPr>
        <p:spPr>
          <a:xfrm>
            <a:off x="7315200" y="2514600"/>
            <a:ext cx="91440" cy="164592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7406640" y="1417320"/>
            <a:ext cx="1307592" cy="22860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7863840" y="1600200"/>
            <a:ext cx="402336" cy="40233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1700784"/>
            <a:ext cx="201168" cy="20116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7498080" y="2103120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Record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7516368" y="2423160"/>
            <a:ext cx="1088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30" dirty="0"/>
          </a:p>
        </p:txBody>
      </p:sp>
      <p:sp>
        <p:nvSpPr>
          <p:cNvPr id="40" name="Shape 32"/>
          <p:cNvSpPr/>
          <p:nvPr/>
        </p:nvSpPr>
        <p:spPr>
          <a:xfrm>
            <a:off x="411480" y="3886200"/>
            <a:ext cx="8321040" cy="73152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94360" y="3950208"/>
            <a:ext cx="7955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running system: a write refused with “tool is disabled”, a cross-organization lookup refused before it left the gateway, and a chain across four products in one chat. Each is one line in the audit log.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3" name="Text 3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 tools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API operation, generated from the OpenAPI spec · existing MCP servers passed through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person: short-lived, refreshed automatically,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packaged per customer group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gateway is a chosen set of products on its own address, with its own sign-in rule and entitlement. This one serves four products and 72 tools.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1317" y="1271016"/>
            <a:ext cx="4720965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gateway-wc-group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181" y="1325880"/>
            <a:ext cx="4611237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96743" y="2351837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743" y="23518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31845" y="3253435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31845" y="32534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31845" y="3688690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1845" y="36886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326227" y="2631643"/>
            <a:ext cx="274320" cy="274320"/>
          </a:xfrm>
          <a:prstGeom prst="ellipse">
            <a:avLst/>
          </a:prstGeom>
          <a:solidFill>
            <a:srgbClr val="0F76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26227" y="26316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38988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1371600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address for the package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16184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into any assistant. Tool names carry the product prefix so the assistant knows where each one goes.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760720" y="21031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6072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144768" y="208483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required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44768" y="2331720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must sign in through the gateway. Without it, no per-person rule can apply.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279806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use it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304495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with access, or only listed access groups, or only listed organizations. Checked before anything else.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760720" y="352958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76072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44768" y="3511296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and tool rules still apply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144768" y="37581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package narrows; each product's own entitlement and each tool's policy apply on top.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" y="455371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expose the same registry: shared catalogue /mcp · package /mcp/&lt;group&gt; · single product /mcp/&lt;product&gt;. All are routing decisions in one process.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 · IN PRACTICE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can see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their organization and groups on one page; every call and every sign-in step on another.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2803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6" name="Image 0" descr="C:\Users\user\AppData\Local\Temp\deckcrops\users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900" y="1371600"/>
            <a:ext cx="3526240" cy="2377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879996" y="1316736"/>
            <a:ext cx="3635968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8" name="Image 1" descr="C:\Users\user\AppData\Local\Temp\deckcrops\audit-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860" y="1371600"/>
            <a:ext cx="3526240" cy="2377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290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Users: organization, role and access groups set once per person; tokens inherit them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934860" y="3822192"/>
            <a:ext cx="352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log: who, which tool, arguments, outcome and the reason for every refusal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42062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the Security page: a sign-in log of every step an assistant took to get in, upstream credential rotation, and a checklist scored against the group's policy.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cases: 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These are the use cases we propose; each one is delivered through the same registry and control model.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scope: three circles of connection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 and one control model serve all three. Each circle adds use cases without adding a new kind of integration.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“Match this month's Bizplay card spending against the Gyeongrinara ledger and list what is not booked yet.”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“Close the month: pull payroll from the HR system, match it to the bank records, and draft the tax filing.”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 our own order system with the settlements received this week and list what is unpaid.”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11480" y="379476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8679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0690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Feasibility: the core mechanism is already demonstrated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prototype, built with the AI Convergence Lab, shows the control layer end to end with real products and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2588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3258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11480" y="1929384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92938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9293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with no product code changed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532888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53288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328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3136392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13639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13639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the products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962656" y="1610513"/>
            <a:ext cx="5824728" cy="1625294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  <a:effectLst>
            <a:outerShdw sx="100000" sy="100000" kx="0" ky="0" algn="bl" rotWithShape="0" blurRad="101600" dist="38100" dir="5400000">
              <a:srgbClr val="14213D">
                <a:alpha val="18000"/>
              </a:srgbClr>
            </a:outerShdw>
          </a:effectLst>
        </p:spPr>
      </p:sp>
      <p:pic>
        <p:nvPicPr>
          <p:cNvPr id="18" name="Image 0" descr="C:\Users\user\AppData\Local\Temp\deckcrops\overview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665377"/>
            <a:ext cx="5715000" cy="151556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3017520" y="3235807"/>
            <a:ext cx="5715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portal: assistant calls per day through the gateway, allowed, denied and failed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11480" y="384048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E6F4F1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6928" y="39044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PROTOTYPE SHOWS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409651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chat across FLOW, COOCON and Bizplay with three kinds of product authentication. Writes refused until enabled, cross-organization lookups refused at the gateway, every step recorded.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663440" y="384048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18888" y="39044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YET SHOW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818888" y="409651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single sign-on, approval-line integration for payments, operation at production scale, and results with real customer departments. These are the proposed work on the next slide.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4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work: three tracks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Platform, packages and research run in parallel,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2514600"/>
          </a:xfrm>
          <a:prstGeom prst="roundRect">
            <a:avLst>
              <a:gd name="adj" fmla="val 2182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11480" y="3977640"/>
            <a:ext cx="8321040" cy="6858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94360" y="40507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AT THE END OF THE PHASE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5943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live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5943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customers onboarded</a:t>
            </a:r>
            <a:endParaRPr lang="en-US" sz="750" dirty="0"/>
          </a:p>
        </p:txBody>
      </p:sp>
      <p:sp>
        <p:nvSpPr>
          <p:cNvPr id="24" name="Text 19"/>
          <p:cNvSpPr txBox="1"/>
          <p:nvPr/>
        </p:nvSpPr>
        <p:spPr>
          <a:xfrm>
            <a:off x="26517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26517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task, per department</a:t>
            </a:r>
            <a:endParaRPr lang="en-US" sz="750" dirty="0"/>
          </a:p>
        </p:txBody>
      </p:sp>
      <p:sp>
        <p:nvSpPr>
          <p:cNvPr id="26" name="Text 21"/>
          <p:cNvSpPr txBox="1"/>
          <p:nvPr/>
        </p:nvSpPr>
        <p:spPr>
          <a:xfrm>
            <a:off x="47091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 and errors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091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from the audit log</a:t>
            </a:r>
            <a:endParaRPr lang="en-US" sz="750" dirty="0"/>
          </a:p>
        </p:txBody>
      </p:sp>
      <p:sp>
        <p:nvSpPr>
          <p:cNvPr id="28" name="Text 23"/>
          <p:cNvSpPr txBox="1"/>
          <p:nvPr/>
        </p:nvSpPr>
        <p:spPr>
          <a:xfrm>
            <a:off x="6766560" y="423367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6766560" y="44256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at 100+ tools</a:t>
            </a:r>
            <a:endParaRPr lang="en-US" sz="750" dirty="0"/>
          </a:p>
        </p:txBody>
      </p:sp>
      <p:sp>
        <p:nvSpPr>
          <p:cNvPr id="30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1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2026-09-17T05:26:57Z</dcterms:created>
  <dcterms:modified xsi:type="dcterms:W3CDTF">2026-09-17T05:26:57Z</dcterms:modified>
</cp:coreProperties>
</file>